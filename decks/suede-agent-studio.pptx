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CEB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CEBFF"/>
                </a:solidFill>
                <a:latin typeface="Arial"/>
              </a:rPr>
              <a:t>Example per-call prices in the catalog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per call (USD)</c:v>
                </c:pt>
              </c:strCache>
            </c:strRef>
          </c:tx>
          <c:spPr>
            <a:solidFill>
              <a:srgbClr val="A5B4FC"/>
            </a:solidFill>
            <a:effectLst/>
          </c:spPr>
          <c:invertIfNegative val="0"/>
          <c:dLbls>
            <c:numFmt formatCode="$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CEB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Site Monitor</c:v>
                  </c:pt>
                  <c:pt idx="1">
                    <c:v>Review Responder</c:v>
                  </c:pt>
                  <c:pt idx="2">
                    <c:v>Lead Qualifier</c:v>
                  </c:pt>
                  <c:pt idx="3">
                    <c:v>Invoice Chaser</c:v>
                  </c:pt>
                  <c:pt idx="4">
                    <c:v>Research Agent</c:v>
                  </c:pt>
                  <c:pt idx="5">
                    <c:v>Contract Scan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0.002</c:v>
                </c:pt>
                <c:pt idx="1">
                  <c:v>0.004</c:v>
                </c:pt>
                <c:pt idx="2">
                  <c:v>0.005</c:v>
                </c:pt>
                <c:pt idx="3">
                  <c:v>0.008</c:v>
                </c:pt>
                <c:pt idx="4">
                  <c:v>0.01</c:v>
                </c:pt>
                <c:pt idx="5">
                  <c:v>0.012</c:v>
                </c:pt>
              </c:numCache>
            </c:numRef>
          </c:val>
        </c:ser>
        <c:dLbls>
          <c:numFmt formatCode="$0.000" sourceLinked="0"/>
          <c:txPr>
            <a:bodyPr/>
            <a:lstStyle/>
            <a:p>
              <a:pPr>
                <a:defRPr b="0" i="0" strike="noStrike" sz="900" u="none">
                  <a:solidFill>
                    <a:srgbClr val="ECEB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C9C8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16"/>
        </c:scaling>
        <c:delete val="0"/>
        <c:axPos val="b"/>
        <c:majorGridlines>
          <c:spPr>
            <a:ln w="6350" cap="flat">
              <a:solidFill>
                <a:srgbClr val="3F3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E8C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23A"/>
        </a:solidFill>
        <a:ln>
          <a:noFill/>
        </a:ln>
        <a:effectLst/>
      </c:spPr>
    </c:plotArea>
    <c:plotVisOnly val="1"/>
    <c:dispBlanksAs val="span"/>
  </c:chart>
  <c:spPr>
    <a:solidFill>
      <a:srgbClr val="1512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AGENTS.SUEDEAI.AI · VISUAL AGENT BUILDER · X402 LAUNCH PATH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9692640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agents that can earn while you sleep.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70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 AI agent on a canvas, publish it as a URL, and get paid in USDC every time someone calls it. Free to build. Free to test. Payments switch on when you say so.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3F3A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AGENTS.SUEDEAI.AI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94015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8229600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are easy to demo and hard to sell.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builder can wire a prompt to a tool. Almost nobody can turn that flow into something another person, or another agent, can find, trust, call and pay for without an account, a contract and a sales call.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484778" cy="2286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3410712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913632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packaging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305046"/>
            <a:ext cx="2972714" cy="93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flow is not a product. It has no versioned checkpoints, no typed contract, no public page, no receipt.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3458" y="3154680"/>
            <a:ext cx="3484778" cy="2286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9490" y="3410712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949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609490" y="3913632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payment rail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09490" y="4305046"/>
            <a:ext cx="2972714" cy="93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checkout assumes a human with a wallet of their own. Agents buying from agents need per-call settlement with no signup.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6837" y="3154680"/>
            <a:ext cx="3484778" cy="2286000"/>
          </a:xfrm>
          <a:prstGeom prst="roundRect">
            <a:avLst>
              <a:gd name="adj" fmla="val 4800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2869" y="3410712"/>
            <a:ext cx="347472" cy="34747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2869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22869" y="3913632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discipline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2869" y="4305046"/>
            <a:ext cx="2972714" cy="93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get deployed by accident, paid models run during tests, and nobody can say which version answered a call.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715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rule in Suede Agent Studio exists to close one of these three gaps.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IT IS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builder with a launch path that pays.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node-graph builder for any business workflow. Wire specialized agents on a canvas, package them with the Suede SDK and modern agent rails, and launch eligible flows through the pay-per-call x402 path. Music and IP rails are one built-in vertical; most of the catalog is ordinary business 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5486400" cy="2066544"/>
          </a:xfrm>
          <a:prstGeom prst="roundRect">
            <a:avLst>
              <a:gd name="adj" fmla="val 5310"/>
            </a:avLst>
          </a:prstGeom>
          <a:solidFill>
            <a:srgbClr val="0F0C2E"/>
          </a:solidFill>
          <a:ln w="9525">
            <a:solidFill>
              <a:srgbClr val="3530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432511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FLOW, THREE VIEWS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4663440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548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4754880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step-by-step creation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5138928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23036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9504" y="523036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node-graph canvas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5614416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705856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5705856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flow as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219456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56832" y="24505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761488"/>
            <a:ext cx="218541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on a canvas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3121914"/>
            <a:ext cx="2185416" cy="83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Gumloop-style node graph. Inputs, LLM steps, tools, gates, outputs. Predictable state and immutable checkpoints.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99448" y="2194560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555480" y="24505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761488"/>
            <a:ext cx="2185416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with the rails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354324"/>
            <a:ext cx="2185416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SDK, x402, ACP, A2A and on-chain identity, so the flow can be discovered and called by other agents.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4361688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56832" y="461772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4928616"/>
            <a:ext cx="2185416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public URL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656832" y="5521452"/>
            <a:ext cx="2185416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launched agent gets a public page and a typed endpoint. Eligible flows become sellable to other agents in USDC.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99448" y="4361688"/>
            <a:ext cx="2697480" cy="1965960"/>
          </a:xfrm>
          <a:prstGeom prst="roundRect">
            <a:avLst>
              <a:gd name="adj" fmla="val 5581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555480" y="461772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FOUNDRY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4928616"/>
            <a:ext cx="2185416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 Resource Pack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5521452"/>
            <a:ext cx="2185416" cy="60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Foundry turns owner-selected material into a reviewed, immutable pack for one narrow, typed job.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IT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Wire. Test. Version. Launch. Get paid.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368296"/>
            <a:ext cx="10362895" cy="0"/>
          </a:xfrm>
          <a:prstGeom prst="line">
            <a:avLst/>
          </a:prstGeom>
          <a:noFill/>
          <a:ln w="9525">
            <a:solidFill>
              <a:srgbClr val="DC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5234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19628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template or a blank canvas. Guided, Studio and Code edit the same flow row.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7251" y="214884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7251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77251" y="275234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77251" y="3154680"/>
            <a:ext cx="19628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scoped, ephemeral tests with no spend. Dry-run x402 by default; no USDC leaves the ledger.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14422" y="214884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4422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14422" y="275234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14422" y="3154680"/>
            <a:ext cx="19628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immutable checkpoints. Restore or promote a version. Saves never deploy or settle funds.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1593" y="214884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1593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51593" y="275234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51593" y="3154680"/>
            <a:ext cx="19628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a public page at /a/&lt;slug&gt; with a typed contract, OpenAPI, MCP and A2A surfaces.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88764" y="2148840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8764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88764" y="2752344"/>
            <a:ext cx="19628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paid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88764" y="3154680"/>
            <a:ext cx="19628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per-call USDC pricing through x402. Agents pay at the moment of use, no account required.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9525">
            <a:solidFill>
              <a:srgbClr val="DC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· /build/new · /build/new?template=lead-qualifier · /a/&lt;slug&gt; · /resources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runtime is replay-safe. Card top-ups run through Stripe Checkout with signed webhooks and a real ledger credit before any spend.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CATALOG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601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template is a tiny business.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19984" y="1874520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19984" y="1874520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Red-Flag Scan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99888" y="1874520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9888" y="1874520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51176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Responder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19984" y="2551176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19984" y="2551176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Monitor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99888" y="2551176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9888" y="2551176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27832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Competitor Scanner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19984" y="3227832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19984" y="3227832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Prep Brief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99888" y="3227832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9888" y="3227832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Decision Desk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04488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04488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JD Screener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19984" y="3904488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19984" y="3904488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Diff Digest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99888" y="3904488"/>
            <a:ext cx="2115312" cy="512064"/>
          </a:xfrm>
          <a:prstGeom prst="roundRect">
            <a:avLst>
              <a:gd name="adj" fmla="val 14286"/>
            </a:avLst>
          </a:prstGeom>
          <a:solidFill>
            <a:srgbClr val="221E4E"/>
          </a:solidFill>
          <a:ln w="9525">
            <a:solidFill>
              <a:srgbClr val="3F3A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9888" y="3904488"/>
            <a:ext cx="2115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Machine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7091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review, lead scoring, invoice chasing, support triage, research digests, engineering hygiene. Music and IP templates such as Release Machine, A&amp;R Analyst and Song Register &amp; Royalty sit alongside as one vertical.</a:t>
            </a:r>
            <a:endParaRPr lang="en-US" sz="11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589520" y="1828800"/>
          <a:ext cx="4023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Text 29"/>
          <p:cNvSpPr txBox="1"/>
          <p:nvPr/>
        </p:nvSpPr>
        <p:spPr>
          <a:xfrm>
            <a:off x="640080" y="5669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pricing also exists per unit: $0.05 / lead on the lead-qualifier rail.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RAILS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the rails agents already use.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56434" cy="2468880"/>
          </a:xfrm>
          <a:prstGeom prst="roundRect">
            <a:avLst>
              <a:gd name="adj" fmla="val 4444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13055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X402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41448"/>
            <a:ext cx="204437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Pay-per-call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17368"/>
            <a:ext cx="204437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HTTP-native payments. An agent hits the endpoint, pays USDC on Base, gets the result. No account, no invoice.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5114" y="1874520"/>
            <a:ext cx="2556434" cy="2468880"/>
          </a:xfrm>
          <a:prstGeom prst="roundRect">
            <a:avLst>
              <a:gd name="adj" fmla="val 4444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81146" y="213055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ACP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681146" y="244144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Virtuals commerce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1146" y="3065272"/>
            <a:ext cx="2044370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Commerce Protocol. Producer by Suede Labs is a hireable ACP agent for music, video and ACP/x402 consulting.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0148" y="1874520"/>
            <a:ext cx="2556434" cy="2468880"/>
          </a:xfrm>
          <a:prstGeom prst="roundRect">
            <a:avLst>
              <a:gd name="adj" fmla="val 4444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66180" y="213055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A2A · MCP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466180" y="244144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 surfaces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6180" y="3065272"/>
            <a:ext cx="2044370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agents expose A2A, MCP, OpenAPI and catalog projections from the same immutable live release.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5181" y="1874520"/>
            <a:ext cx="2556434" cy="2468880"/>
          </a:xfrm>
          <a:prstGeom prst="roundRect">
            <a:avLst>
              <a:gd name="adj" fmla="val 4444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51213" y="2130552"/>
            <a:ext cx="2044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ERC-8004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251213" y="2441448"/>
            <a:ext cx="2044370" cy="55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identity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51213" y="3065272"/>
            <a:ext cx="2044370" cy="107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reputation and validation contracts on Base mainnet. 23 on-chain agent identities registered.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86101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86101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32122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32122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8144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8144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AgentCash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24165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4165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AI SDK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70186" y="4617720"/>
            <a:ext cx="1681429" cy="566928"/>
          </a:xfrm>
          <a:prstGeom prst="roundRect">
            <a:avLst>
              <a:gd name="adj" fmla="val 12903"/>
            </a:avLst>
          </a:prstGeom>
          <a:solidFill>
            <a:srgbClr val="F5F6FA"/>
          </a:solidFill>
          <a:ln w="9525">
            <a:solidFill>
              <a:srgbClr val="DCDD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0186" y="4617720"/>
            <a:ext cx="16814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Next.js 15, React 19, TypeScript strict, @xyflow/react canvas, viem on Base, zod contracts, SQLite or Supabase.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RESOURCE FOUNDRY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pack other agents pay to query.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start with manual text, JSON rows or a bounded public site import. They define the typed schema, taxonomy, filters, return fields and a Job Contract, test the exact pack, and publish it through the same agent, API, MCP, A2A, OpenAPI, catalog and x402 rails.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831336"/>
            <a:ext cx="5303520" cy="0"/>
          </a:xfrm>
          <a:prstGeom prst="line">
            <a:avLst/>
          </a:prstGeom>
          <a:noFill/>
          <a:ln w="9525">
            <a:solidFill>
              <a:srgbClr val="3F3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611880"/>
            <a:ext cx="438912" cy="438912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15384"/>
            <a:ext cx="125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17720"/>
            <a:ext cx="1257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Owner-chosen material only. No raw dumps.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71700" y="3611880"/>
            <a:ext cx="438912" cy="438912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7170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171700" y="4215384"/>
            <a:ext cx="125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71700" y="4617720"/>
            <a:ext cx="1257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taxonomy, filters, return fields, Job Contract.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3611880"/>
            <a:ext cx="438912" cy="438912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332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215384"/>
            <a:ext cx="125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617720"/>
            <a:ext cx="1257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without supplying provenance; test the exact pack.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34940" y="3611880"/>
            <a:ext cx="438912" cy="438912"/>
          </a:xfrm>
          <a:prstGeom prst="ellipse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4940" y="3611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34940" y="4215384"/>
            <a:ext cx="1257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34940" y="4617720"/>
            <a:ext cx="1257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immutable active Live release feeds every projection.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1828800"/>
            <a:ext cx="4709160" cy="3200400"/>
          </a:xfrm>
          <a:prstGeom prst="roundRect">
            <a:avLst>
              <a:gd name="adj" fmla="val 3429"/>
            </a:avLst>
          </a:prstGeom>
          <a:solidFill>
            <a:srgbClr val="0F0C2E"/>
          </a:solidFill>
          <a:ln w="9525">
            <a:solidFill>
              <a:srgbClr val="3530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132320" y="19933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BOUNDARY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0" y="2331720"/>
            <a:ext cx="41605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2423160"/>
            <a:ext cx="2654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8263" y="2423160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public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843784"/>
            <a:ext cx="41605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2935224"/>
            <a:ext cx="2654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records, credentials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878263" y="2935224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public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3355848"/>
            <a:ext cx="41605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3447288"/>
            <a:ext cx="2654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examples, provenance notes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8263" y="3447288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public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3867912"/>
            <a:ext cx="41605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0" y="3959352"/>
            <a:ext cx="2654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projections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878263" y="3959352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release only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4379976"/>
            <a:ext cx="41605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0" y="4471416"/>
            <a:ext cx="26545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registration before payment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8263" y="4471416"/>
            <a:ext cx="14145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THE RULES THAT KEEP IT SAFE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0F1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spends or deploys unless you say so.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saves never deploy, launch, run paid models, settle funds or call providers.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runs in dry-run by default; no USDC is spent until payments are switched 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tests are ephemeral and no-spend. Durable execution never defaults to the studio database.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Credential-stripped typed data: secrets never travel with a flow export.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Stripe keys are refused by the payment verification gate; only test keys run end to end.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keeps Guided as the creation surface and version history read-only.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874520"/>
            <a:ext cx="4617720" cy="3200400"/>
          </a:xfrm>
          <a:prstGeom prst="roundRect">
            <a:avLst>
              <a:gd name="adj" fmla="val 3429"/>
            </a:avLst>
          </a:prstGeom>
          <a:solidFill>
            <a:srgbClr val="15123A"/>
          </a:solidFill>
          <a:ln w="9525">
            <a:solidFill>
              <a:srgbClr val="3530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23760" y="20391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GATES IN THE REPO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223760" y="2377440"/>
            <a:ext cx="406908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2468880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verify:phase2a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258300" y="2468880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 nodes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2889504"/>
            <a:ext cx="406908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980944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verify:phase2c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258300" y="2980944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credential-stripped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3401568"/>
            <a:ext cx="406908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493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verify:phase2e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258300" y="3493008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no-spend scoped tests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3913632"/>
            <a:ext cx="406908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4005072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verify:phase3a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258300" y="4005072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replay-safe runtime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4425696"/>
            <a:ext cx="406908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4517136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verify:card-payment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58300" y="4517136"/>
            <a:ext cx="203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to ledger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50749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boots its own server on a throwaway database. The money-into-the-ledger half runs for real with local HMAC-signed webhooks.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AGENT STUDIO · AGENTS.SUEDEAI.AI · BUILD, VERSION, LAUNCH, GET PAID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ON THE RECORD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Shipped, listed and live on Base mainnet.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62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paid endpoints across the Suede estate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862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contracts on Base mainnet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62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identities registered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8620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in the public sitemap, including template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9525">
            <a:solidFill>
              <a:srgbClr val="3F3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77640"/>
            <a:ext cx="5486400" cy="2322576"/>
          </a:xfrm>
          <a:prstGeom prst="roundRect">
            <a:avLst>
              <a:gd name="adj" fmla="val 4724"/>
            </a:avLst>
          </a:prstGeom>
          <a:solidFill>
            <a:srgbClr val="0F0C2E"/>
          </a:solidFill>
          <a:ln w="9525">
            <a:solidFill>
              <a:srgbClr val="3530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1422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LISTINGS AND SURFACES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572000"/>
            <a:ext cx="296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awesome-x402 · curated listing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75811" y="4572000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Studio + music API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4901184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992624"/>
            <a:ext cx="296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by Suede Labs · Virtuals ACP agent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75811" y="4992624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hireable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5321808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413248"/>
            <a:ext cx="296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Agent Studio · iOS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975811" y="5413248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5742432"/>
            <a:ext cx="493776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833872"/>
            <a:ext cx="2969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Agentix · mobile companion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975811" y="5833872"/>
            <a:ext cx="18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02336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estate's own AI-operations practice runs its client agents here: seo.suedeai.ai links to Agent Studio as the place a client opens a flow and watches it execute. The builder is not a demo of the firm; it is the firm's tooling.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BUILDING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6035040" cy="140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 build. Free to test.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6036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canvas, start from a template, and switch on payments when the agent is ready to earn.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71055" y="201168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0F0C2E"/>
          </a:solidFill>
          <a:ln w="9525">
            <a:solidFill>
              <a:srgbClr val="35307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45375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LINE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5375" y="2514600"/>
            <a:ext cx="39319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45375" y="26060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60866" y="2606040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/build/new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45375" y="3044952"/>
            <a:ext cx="39319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45375" y="3136392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0866" y="3136392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/templates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5375" y="3575304"/>
            <a:ext cx="39319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5375" y="3666744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60866" y="3666744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/agents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5375" y="4105656"/>
            <a:ext cx="39319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5375" y="4197096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60866" y="4197096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45375" y="4636008"/>
            <a:ext cx="3931920" cy="0"/>
          </a:xfrm>
          <a:prstGeom prst="line">
            <a:avLst/>
          </a:prstGeom>
          <a:noFill/>
          <a:ln w="9525">
            <a:solidFill>
              <a:srgbClr val="3530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45375" y="4727448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760866" y="4727448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3F3A7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AGENTS.SUEDEAI.AI/BUILD/NEW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065215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100" kern="0" dirty="0">
                <a:solidFill>
                  <a:srgbClr val="C9C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Jason Colapietro, Founder &amp; CEO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Suede Labs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Suede Agent Studio — Build agents that can earn while you sleep</dc:title>
  <dc:subject>PptxGenJS Presentation</dc:subject>
  <dc:creator>Suede Labs AI</dc:creator>
  <cp:lastModifiedBy>Suede Labs AI</cp:lastModifiedBy>
  <cp:revision>1</cp:revision>
  <dcterms:created xsi:type="dcterms:W3CDTF">2026-09-09T01:42:00Z</dcterms:created>
  <dcterms:modified xsi:type="dcterms:W3CDTF">2026-09-09T01:42:00Z</dcterms:modified>
</cp:coreProperties>
</file>