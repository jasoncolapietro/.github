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tmp/claude-0/-home-user--github/fb5f43e6-83cf-528a-bc77-62840775cbad/scratchpad/decks/assets/logo-light.png">    </p:cNvPr>
          <p:cNvPicPr>
            <a:picLocks noChangeAspect="1"/>
          </p:cNvPicPr>
          <p:nvPr/>
        </p:nvPicPr>
        <p:blipFill>
          <a:blip r:embed="rId2"/>
          <a:stretch>
            <a:fillRect/>
          </a:stretch>
        </p:blipFill>
        <p:spPr>
          <a:xfrm>
            <a:off x="640080" y="548640"/>
            <a:ext cx="502920" cy="502920"/>
          </a:xfrm>
          <a:prstGeom prst="rect">
            <a:avLst/>
          </a:prstGeom>
        </p:spPr>
      </p:pic>
      <p:sp>
        <p:nvSpPr>
          <p:cNvPr id="3" name="Text 0"/>
          <p:cNvSpPr txBox="1"/>
          <p:nvPr/>
        </p:nvSpPr>
        <p:spPr>
          <a:xfrm>
            <a:off x="1280160" y="548640"/>
            <a:ext cx="4572000" cy="502920"/>
          </a:xfrm>
          <a:prstGeom prst="rect">
            <a:avLst/>
          </a:prstGeom>
          <a:noFill/>
          <a:ln/>
        </p:spPr>
        <p:txBody>
          <a:bodyPr wrap="square" lIns="0" tIns="0" rIns="0" bIns="0" rtlCol="0" anchor="ctr"/>
          <a:lstStyle/>
          <a:p>
            <a:pPr indent="0" marL="0">
              <a:buNone/>
            </a:pPr>
            <a:r>
              <a:rPr lang="en-US" sz="1000" spc="250" kern="0" dirty="0">
                <a:solidFill>
                  <a:srgbClr val="C3CBEA"/>
                </a:solidFill>
                <a:latin typeface="Courier New" pitchFamily="34" charset="0"/>
                <a:ea typeface="Courier New" pitchFamily="34" charset="-122"/>
                <a:cs typeface="Courier New" pitchFamily="34" charset="-120"/>
              </a:rPr>
              <a:t>Suede Labs AI</a:t>
            </a:r>
            <a:endParaRPr lang="en-US" sz="1000" dirty="0"/>
          </a:p>
        </p:txBody>
      </p:sp>
      <p:sp>
        <p:nvSpPr>
          <p:cNvPr id="4" name="Text 1"/>
          <p:cNvSpPr txBox="1"/>
          <p:nvPr/>
        </p:nvSpPr>
        <p:spPr>
          <a:xfrm>
            <a:off x="640080" y="1874520"/>
            <a:ext cx="10515600" cy="256032"/>
          </a:xfrm>
          <a:prstGeom prst="rect">
            <a:avLst/>
          </a:prstGeom>
          <a:noFill/>
          <a:ln/>
        </p:spPr>
        <p:txBody>
          <a:bodyPr wrap="square" lIns="0" tIns="0" rIns="0" bIns="0" rtlCol="0" anchor="ctr"/>
          <a:lstStyle/>
          <a:p>
            <a:pPr indent="0" marL="0">
              <a:buNone/>
            </a:pPr>
            <a:r>
              <a:rPr lang="en-US" sz="950" spc="250" kern="0" dirty="0">
                <a:solidFill>
                  <a:srgbClr val="7C9BFF"/>
                </a:solidFill>
                <a:latin typeface="Courier New" pitchFamily="34" charset="0"/>
                <a:ea typeface="Courier New" pitchFamily="34" charset="-122"/>
                <a:cs typeface="Courier New" pitchFamily="34" charset="-120"/>
              </a:rPr>
              <a:t>SEO.SUEDEAI.AI · FORWARD DEPLOYED ENGINEERING · FULL-STACK GEO</a:t>
            </a:r>
            <a:endParaRPr lang="en-US" sz="950" dirty="0"/>
          </a:p>
        </p:txBody>
      </p:sp>
      <p:sp>
        <p:nvSpPr>
          <p:cNvPr id="5" name="Text 2"/>
          <p:cNvSpPr txBox="1"/>
          <p:nvPr/>
        </p:nvSpPr>
        <p:spPr>
          <a:xfrm>
            <a:off x="640080" y="2194560"/>
            <a:ext cx="9692640" cy="1513840"/>
          </a:xfrm>
          <a:prstGeom prst="rect">
            <a:avLst/>
          </a:prstGeom>
          <a:noFill/>
          <a:ln/>
        </p:spPr>
        <p:txBody>
          <a:bodyPr wrap="square" lIns="0" tIns="0" rIns="0" bIns="0" rtlCol="0" anchor="t"/>
          <a:lstStyle/>
          <a:p>
            <a:pPr algn="l" indent="0" marL="0">
              <a:lnSpc>
                <a:spcPct val="105000"/>
              </a:lnSpc>
              <a:buNone/>
            </a:pPr>
            <a:r>
              <a:rPr lang="en-US" sz="5000" dirty="0">
                <a:solidFill>
                  <a:srgbClr val="F4F5F9"/>
                </a:solidFill>
                <a:latin typeface="Cambria" pitchFamily="34" charset="0"/>
                <a:ea typeface="Cambria" pitchFamily="34" charset="-122"/>
                <a:cs typeface="Cambria" pitchFamily="34" charset="-120"/>
              </a:rPr>
              <a:t>AI engineering, deployed inside your operation.</a:t>
            </a:r>
            <a:endParaRPr lang="en-US" sz="5000" dirty="0"/>
          </a:p>
        </p:txBody>
      </p:sp>
      <p:sp>
        <p:nvSpPr>
          <p:cNvPr id="6" name="Text 3"/>
          <p:cNvSpPr txBox="1"/>
          <p:nvPr/>
        </p:nvSpPr>
        <p:spPr>
          <a:xfrm>
            <a:off x="640080" y="3937000"/>
            <a:ext cx="7498080" cy="1097280"/>
          </a:xfrm>
          <a:prstGeom prst="rect">
            <a:avLst/>
          </a:prstGeom>
          <a:noFill/>
          <a:ln/>
        </p:spPr>
        <p:txBody>
          <a:bodyPr wrap="square" lIns="0" tIns="0" rIns="0" bIns="0" rtlCol="0" anchor="t"/>
          <a:lstStyle/>
          <a:p>
            <a:pPr algn="l" indent="0" marL="0">
              <a:lnSpc>
                <a:spcPct val="125000"/>
              </a:lnSpc>
              <a:buNone/>
            </a:pPr>
            <a:r>
              <a:rPr lang="en-US" sz="1600" dirty="0">
                <a:solidFill>
                  <a:srgbClr val="C3CBEA"/>
                </a:solidFill>
                <a:latin typeface="Calibri" pitchFamily="34" charset="0"/>
                <a:ea typeface="Calibri" pitchFamily="34" charset="-122"/>
                <a:cs typeface="Calibri" pitchFamily="34" charset="-120"/>
              </a:rPr>
              <a:t>We build and run AI agents. We capture what ChatGPT, Perplexity, Gemini and Google say about you, repair the pages they read, pitch the press they quote, and date what we find.</a:t>
            </a:r>
            <a:endParaRPr lang="en-US" sz="1600" dirty="0"/>
          </a:p>
        </p:txBody>
      </p:sp>
      <p:sp>
        <p:nvSpPr>
          <p:cNvPr id="7" name="Shape 4"/>
          <p:cNvSpPr/>
          <p:nvPr/>
        </p:nvSpPr>
        <p:spPr>
          <a:xfrm>
            <a:off x="640080" y="5989320"/>
            <a:ext cx="10911535" cy="0"/>
          </a:xfrm>
          <a:prstGeom prst="line">
            <a:avLst/>
          </a:prstGeom>
          <a:noFill/>
          <a:ln w="9525">
            <a:solidFill>
              <a:srgbClr val="34437F"/>
            </a:solidFill>
            <a:prstDash val="solid"/>
          </a:ln>
        </p:spPr>
      </p:sp>
      <p:sp>
        <p:nvSpPr>
          <p:cNvPr id="8" name="Text 5"/>
          <p:cNvSpPr txBox="1"/>
          <p:nvPr/>
        </p:nvSpPr>
        <p:spPr>
          <a:xfrm>
            <a:off x="640080" y="6126480"/>
            <a:ext cx="5486400" cy="274320"/>
          </a:xfrm>
          <a:prstGeom prst="rect">
            <a:avLst/>
          </a:prstGeom>
          <a:noFill/>
          <a:ln/>
        </p:spPr>
        <p:txBody>
          <a:bodyPr wrap="square" lIns="0" tIns="0" rIns="0" bIns="0" rtlCol="0" anchor="t"/>
          <a:lstStyle/>
          <a:p>
            <a:pPr algn="l" indent="0" marL="0">
              <a:lnSpc>
                <a:spcPct val="125000"/>
              </a:lnSpc>
              <a:buNone/>
            </a:pPr>
            <a:r>
              <a:rPr lang="en-US" sz="1000" spc="200" kern="0" dirty="0">
                <a:solidFill>
                  <a:srgbClr val="7C9BFF"/>
                </a:solidFill>
                <a:latin typeface="Courier New" pitchFamily="34" charset="0"/>
                <a:ea typeface="Courier New" pitchFamily="34" charset="-122"/>
                <a:cs typeface="Courier New" pitchFamily="34" charset="-120"/>
              </a:rPr>
              <a:t>SEO.SUEDEAI.AI</a:t>
            </a:r>
            <a:endParaRPr lang="en-US" sz="1000" dirty="0"/>
          </a:p>
        </p:txBody>
      </p:sp>
      <p:sp>
        <p:nvSpPr>
          <p:cNvPr id="9" name="Text 6"/>
          <p:cNvSpPr txBox="1"/>
          <p:nvPr/>
        </p:nvSpPr>
        <p:spPr>
          <a:xfrm>
            <a:off x="7894015" y="6126480"/>
            <a:ext cx="3657600" cy="274320"/>
          </a:xfrm>
          <a:prstGeom prst="rect">
            <a:avLst/>
          </a:prstGeom>
          <a:noFill/>
          <a:ln/>
        </p:spPr>
        <p:txBody>
          <a:bodyPr wrap="square" lIns="0" tIns="0" rIns="0" bIns="0" rtlCol="0" anchor="t"/>
          <a:lstStyle/>
          <a:p>
            <a:pPr algn="r" indent="0" marL="0">
              <a:lnSpc>
                <a:spcPct val="125000"/>
              </a:lnSpc>
              <a:buNone/>
            </a:pPr>
            <a:r>
              <a:rPr lang="en-US" sz="1000" spc="200" kern="0" dirty="0">
                <a:solidFill>
                  <a:srgbClr val="C3CBEA"/>
                </a:solidFill>
                <a:latin typeface="Courier New" pitchFamily="34" charset="0"/>
                <a:ea typeface="Courier New" pitchFamily="34" charset="-122"/>
                <a:cs typeface="Courier New" pitchFamily="34" charset="-120"/>
              </a:rPr>
              <a:t>September 2026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6400800"/>
            <a:ext cx="8686800" cy="228600"/>
          </a:xfrm>
          <a:prstGeom prst="rect">
            <a:avLst/>
          </a:prstGeom>
          <a:noFill/>
          <a:ln/>
        </p:spPr>
        <p:txBody>
          <a:bodyPr wrap="square" lIns="0" tIns="0" rIns="0" bIns="0" rtlCol="0" anchor="ctr"/>
          <a:lstStyle/>
          <a:p>
            <a:pPr indent="0" marL="0">
              <a:buNone/>
            </a:pPr>
            <a:r>
              <a:rPr lang="en-US" sz="850" spc="100" kern="0" dirty="0">
                <a:solidFill>
                  <a:srgbClr val="4A526B"/>
                </a:solidFill>
                <a:latin typeface="Courier New" pitchFamily="34" charset="0"/>
                <a:ea typeface="Courier New" pitchFamily="34" charset="-122"/>
                <a:cs typeface="Courier New" pitchFamily="34" charset="-120"/>
              </a:rPr>
              <a:t>SUEDE SEO · SEO.SUEDEAI.AI · FULL-STACK GEO &amp; AI ENGINEERING</a:t>
            </a:r>
            <a:endParaRPr lang="en-US" sz="850" dirty="0"/>
          </a:p>
        </p:txBody>
      </p:sp>
      <p:sp>
        <p:nvSpPr>
          <p:cNvPr id="3" name="Text 1"/>
          <p:cNvSpPr txBox="1"/>
          <p:nvPr/>
        </p:nvSpPr>
        <p:spPr>
          <a:xfrm>
            <a:off x="10637215" y="6400800"/>
            <a:ext cx="914400" cy="228600"/>
          </a:xfrm>
          <a:prstGeom prst="rect">
            <a:avLst/>
          </a:prstGeom>
          <a:noFill/>
          <a:ln/>
        </p:spPr>
        <p:txBody>
          <a:bodyPr wrap="square" lIns="0" tIns="0" rIns="0" bIns="0" rtlCol="0" anchor="ctr"/>
          <a:lstStyle/>
          <a:p>
            <a:pPr algn="r" indent="0" marL="0">
              <a:buNone/>
            </a:pPr>
            <a:r>
              <a:rPr lang="en-US" sz="850" dirty="0">
                <a:solidFill>
                  <a:srgbClr val="4A526B"/>
                </a:solidFill>
                <a:latin typeface="Courier New" pitchFamily="34" charset="0"/>
                <a:ea typeface="Courier New" pitchFamily="34" charset="-122"/>
                <a:cs typeface="Courier New" pitchFamily="34" charset="-120"/>
              </a:rPr>
              <a:t>02</a:t>
            </a:r>
            <a:endParaRPr lang="en-US" sz="850" dirty="0"/>
          </a:p>
        </p:txBody>
      </p:sp>
      <p:sp>
        <p:nvSpPr>
          <p:cNvPr id="4" name="Text 2"/>
          <p:cNvSpPr txBox="1"/>
          <p:nvPr/>
        </p:nvSpPr>
        <p:spPr>
          <a:xfrm>
            <a:off x="640080" y="548640"/>
            <a:ext cx="9144000" cy="256032"/>
          </a:xfrm>
          <a:prstGeom prst="rect">
            <a:avLst/>
          </a:prstGeom>
          <a:noFill/>
          <a:ln/>
        </p:spPr>
        <p:txBody>
          <a:bodyPr wrap="square" lIns="0" tIns="0" rIns="0" bIns="0" rtlCol="0" anchor="ctr"/>
          <a:lstStyle/>
          <a:p>
            <a:pPr indent="0" marL="0">
              <a:buNone/>
            </a:pPr>
            <a:r>
              <a:rPr lang="en-US" sz="950" spc="250" kern="0" dirty="0">
                <a:solidFill>
                  <a:srgbClr val="1F3FBF"/>
                </a:solidFill>
                <a:latin typeface="Courier New" pitchFamily="34" charset="0"/>
                <a:ea typeface="Courier New" pitchFamily="34" charset="-122"/>
                <a:cs typeface="Courier New" pitchFamily="34" charset="-120"/>
              </a:rPr>
              <a:t>01 — THE PROBLEM</a:t>
            </a:r>
            <a:endParaRPr lang="en-US" sz="950" dirty="0"/>
          </a:p>
        </p:txBody>
      </p:sp>
      <p:sp>
        <p:nvSpPr>
          <p:cNvPr id="5" name="Text 3"/>
          <p:cNvSpPr txBox="1"/>
          <p:nvPr/>
        </p:nvSpPr>
        <p:spPr>
          <a:xfrm>
            <a:off x="640080" y="868680"/>
            <a:ext cx="6858000" cy="1041400"/>
          </a:xfrm>
          <a:prstGeom prst="rect">
            <a:avLst/>
          </a:prstGeom>
          <a:noFill/>
          <a:ln/>
        </p:spPr>
        <p:txBody>
          <a:bodyPr wrap="square" lIns="0" tIns="0" rIns="0" bIns="0" rtlCol="0" anchor="t"/>
          <a:lstStyle/>
          <a:p>
            <a:pPr algn="l" indent="0" marL="0">
              <a:lnSpc>
                <a:spcPct val="105000"/>
              </a:lnSpc>
              <a:buNone/>
            </a:pPr>
            <a:r>
              <a:rPr lang="en-US" sz="3400" dirty="0">
                <a:solidFill>
                  <a:srgbClr val="161A2B"/>
                </a:solidFill>
                <a:latin typeface="Cambria" pitchFamily="34" charset="0"/>
                <a:ea typeface="Cambria" pitchFamily="34" charset="-122"/>
                <a:cs typeface="Cambria" pitchFamily="34" charset="-120"/>
              </a:rPr>
              <a:t>Your customers now ask a machine first.</a:t>
            </a:r>
            <a:endParaRPr lang="en-US" sz="3400" dirty="0"/>
          </a:p>
        </p:txBody>
      </p:sp>
      <p:sp>
        <p:nvSpPr>
          <p:cNvPr id="6" name="Text 4"/>
          <p:cNvSpPr txBox="1"/>
          <p:nvPr/>
        </p:nvSpPr>
        <p:spPr>
          <a:xfrm>
            <a:off x="640080" y="2194560"/>
            <a:ext cx="5120640" cy="1463040"/>
          </a:xfrm>
          <a:prstGeom prst="rect">
            <a:avLst/>
          </a:prstGeom>
          <a:noFill/>
          <a:ln/>
        </p:spPr>
        <p:txBody>
          <a:bodyPr wrap="square" lIns="0" tIns="0" rIns="0" bIns="0" rtlCol="0" anchor="t"/>
          <a:lstStyle/>
          <a:p>
            <a:pPr algn="l" indent="0" marL="0">
              <a:lnSpc>
                <a:spcPct val="120000"/>
              </a:lnSpc>
              <a:buNone/>
            </a:pPr>
            <a:r>
              <a:rPr lang="en-US" sz="1400" dirty="0">
                <a:solidFill>
                  <a:srgbClr val="4A526B"/>
                </a:solidFill>
                <a:latin typeface="Calibri" pitchFamily="34" charset="0"/>
                <a:ea typeface="Calibri" pitchFamily="34" charset="-122"/>
                <a:cs typeface="Calibri" pitchFamily="34" charset="-120"/>
              </a:rPr>
              <a:t>Founders, executives and marketing leaders arrive with the same finding: their company is absent or misrepresented in AI-generated answers. The pages the engines read are stale, the entity records disagree, and nobody dated what was said.</a:t>
            </a:r>
            <a:endParaRPr lang="en-US" sz="1400" dirty="0"/>
          </a:p>
        </p:txBody>
      </p:sp>
      <p:sp>
        <p:nvSpPr>
          <p:cNvPr id="7" name="Text 5"/>
          <p:cNvSpPr txBox="1"/>
          <p:nvPr/>
        </p:nvSpPr>
        <p:spPr>
          <a:xfrm>
            <a:off x="640080" y="3931920"/>
            <a:ext cx="2194560" cy="868680"/>
          </a:xfrm>
          <a:prstGeom prst="rect">
            <a:avLst/>
          </a:prstGeom>
          <a:noFill/>
          <a:ln/>
        </p:spPr>
        <p:txBody>
          <a:bodyPr wrap="square" lIns="0" tIns="0" rIns="0" bIns="0" rtlCol="0" anchor="b"/>
          <a:lstStyle/>
          <a:p>
            <a:pPr indent="0" marL="0">
              <a:buNone/>
            </a:pPr>
            <a:r>
              <a:rPr lang="en-US" sz="4800" dirty="0">
                <a:solidFill>
                  <a:srgbClr val="161A2B"/>
                </a:solidFill>
                <a:latin typeface="Cambria" pitchFamily="34" charset="0"/>
                <a:ea typeface="Cambria" pitchFamily="34" charset="-122"/>
                <a:cs typeface="Cambria" pitchFamily="34" charset="-120"/>
              </a:rPr>
              <a:t>4</a:t>
            </a:r>
            <a:endParaRPr lang="en-US" sz="4800" dirty="0"/>
          </a:p>
        </p:txBody>
      </p:sp>
      <p:sp>
        <p:nvSpPr>
          <p:cNvPr id="8" name="Text 6"/>
          <p:cNvSpPr txBox="1"/>
          <p:nvPr/>
        </p:nvSpPr>
        <p:spPr>
          <a:xfrm>
            <a:off x="640080" y="4873752"/>
            <a:ext cx="2194560" cy="548640"/>
          </a:xfrm>
          <a:prstGeom prst="rect">
            <a:avLst/>
          </a:prstGeom>
          <a:noFill/>
          <a:ln/>
        </p:spPr>
        <p:txBody>
          <a:bodyPr wrap="square" lIns="0" tIns="0" rIns="0" bIns="0" rtlCol="0" anchor="t"/>
          <a:lstStyle/>
          <a:p>
            <a:pPr indent="0" marL="0">
              <a:lnSpc>
                <a:spcPct val="115000"/>
              </a:lnSpc>
              <a:buNone/>
            </a:pPr>
            <a:r>
              <a:rPr lang="en-US" sz="1200" dirty="0">
                <a:solidFill>
                  <a:srgbClr val="4A526B"/>
                </a:solidFill>
                <a:latin typeface="Calibri" pitchFamily="34" charset="0"/>
                <a:ea typeface="Calibri" pitchFamily="34" charset="-122"/>
                <a:cs typeface="Calibri" pitchFamily="34" charset="-120"/>
              </a:rPr>
              <a:t>answer engines shaping the buying decision: ChatGPT, Perplexity, Gemini and Google</a:t>
            </a:r>
            <a:endParaRPr lang="en-US" sz="1200" dirty="0"/>
          </a:p>
        </p:txBody>
      </p:sp>
      <p:sp>
        <p:nvSpPr>
          <p:cNvPr id="9" name="Text 7"/>
          <p:cNvSpPr txBox="1"/>
          <p:nvPr/>
        </p:nvSpPr>
        <p:spPr>
          <a:xfrm>
            <a:off x="3291840" y="3931920"/>
            <a:ext cx="2377440" cy="868680"/>
          </a:xfrm>
          <a:prstGeom prst="rect">
            <a:avLst/>
          </a:prstGeom>
          <a:noFill/>
          <a:ln/>
        </p:spPr>
        <p:txBody>
          <a:bodyPr wrap="square" lIns="0" tIns="0" rIns="0" bIns="0" rtlCol="0" anchor="b"/>
          <a:lstStyle/>
          <a:p>
            <a:pPr indent="0" marL="0">
              <a:buNone/>
            </a:pPr>
            <a:r>
              <a:rPr lang="en-US" sz="4800" dirty="0">
                <a:solidFill>
                  <a:srgbClr val="161A2B"/>
                </a:solidFill>
                <a:latin typeface="Cambria" pitchFamily="34" charset="0"/>
                <a:ea typeface="Cambria" pitchFamily="34" charset="-122"/>
                <a:cs typeface="Cambria" pitchFamily="34" charset="-120"/>
              </a:rPr>
              <a:t>0</a:t>
            </a:r>
            <a:endParaRPr lang="en-US" sz="4800" dirty="0"/>
          </a:p>
        </p:txBody>
      </p:sp>
      <p:sp>
        <p:nvSpPr>
          <p:cNvPr id="10" name="Text 8"/>
          <p:cNvSpPr txBox="1"/>
          <p:nvPr/>
        </p:nvSpPr>
        <p:spPr>
          <a:xfrm>
            <a:off x="3291840" y="4873752"/>
            <a:ext cx="2377440" cy="548640"/>
          </a:xfrm>
          <a:prstGeom prst="rect">
            <a:avLst/>
          </a:prstGeom>
          <a:noFill/>
          <a:ln/>
        </p:spPr>
        <p:txBody>
          <a:bodyPr wrap="square" lIns="0" tIns="0" rIns="0" bIns="0" rtlCol="0" anchor="t"/>
          <a:lstStyle/>
          <a:p>
            <a:pPr indent="0" marL="0">
              <a:lnSpc>
                <a:spcPct val="115000"/>
              </a:lnSpc>
              <a:buNone/>
            </a:pPr>
            <a:r>
              <a:rPr lang="en-US" sz="1200" dirty="0">
                <a:solidFill>
                  <a:srgbClr val="4A526B"/>
                </a:solidFill>
                <a:latin typeface="Calibri" pitchFamily="34" charset="0"/>
                <a:ea typeface="Calibri" pitchFamily="34" charset="-122"/>
                <a:cs typeface="Calibri" pitchFamily="34" charset="-120"/>
              </a:rPr>
              <a:t>dated records of what they said about you, in most companies we open a file on</a:t>
            </a:r>
            <a:endParaRPr lang="en-US" sz="1200" dirty="0"/>
          </a:p>
        </p:txBody>
      </p:sp>
      <p:sp>
        <p:nvSpPr>
          <p:cNvPr id="11" name="Shape 9"/>
          <p:cNvSpPr/>
          <p:nvPr/>
        </p:nvSpPr>
        <p:spPr>
          <a:xfrm>
            <a:off x="6675120" y="1920240"/>
            <a:ext cx="4892040" cy="3054096"/>
          </a:xfrm>
          <a:prstGeom prst="roundRect">
            <a:avLst>
              <a:gd name="adj" fmla="val 3593"/>
            </a:avLst>
          </a:prstGeom>
          <a:solidFill>
            <a:srgbClr val="0F1A45"/>
          </a:solidFill>
          <a:ln w="9525">
            <a:solidFill>
              <a:srgbClr val="2B3A75"/>
            </a:solidFill>
            <a:prstDash val="solid"/>
          </a:ln>
          <a:effectLst>
            <a:outerShdw sx="100000" sy="100000" kx="0" ky="0" algn="bl" rotWithShape="0" blurRad="152400" dist="38100" dir="5400000">
              <a:srgbClr val="000000">
                <a:alpha val="8000"/>
              </a:srgbClr>
            </a:outerShdw>
          </a:effectLst>
        </p:spPr>
      </p:sp>
      <p:sp>
        <p:nvSpPr>
          <p:cNvPr id="12" name="Text 10"/>
          <p:cNvSpPr txBox="1"/>
          <p:nvPr/>
        </p:nvSpPr>
        <p:spPr>
          <a:xfrm>
            <a:off x="6949440" y="2084832"/>
            <a:ext cx="4343400" cy="228600"/>
          </a:xfrm>
          <a:prstGeom prst="rect">
            <a:avLst/>
          </a:prstGeom>
          <a:noFill/>
          <a:ln/>
        </p:spPr>
        <p:txBody>
          <a:bodyPr wrap="square" lIns="0" tIns="0" rIns="0" bIns="0" rtlCol="0" anchor="ctr"/>
          <a:lstStyle/>
          <a:p>
            <a:pPr indent="0" marL="0">
              <a:buNone/>
            </a:pPr>
            <a:r>
              <a:rPr lang="en-US" sz="850" spc="250" kern="0" dirty="0">
                <a:solidFill>
                  <a:srgbClr val="8FB0FF"/>
                </a:solidFill>
                <a:latin typeface="Courier New" pitchFamily="34" charset="0"/>
                <a:ea typeface="Courier New" pitchFamily="34" charset="-122"/>
                <a:cs typeface="Courier New" pitchFamily="34" charset="-120"/>
              </a:rPr>
              <a:t>EVIDENCE REGISTRY</a:t>
            </a:r>
            <a:endParaRPr lang="en-US" sz="850" dirty="0"/>
          </a:p>
        </p:txBody>
      </p:sp>
      <p:sp>
        <p:nvSpPr>
          <p:cNvPr id="13" name="Shape 11"/>
          <p:cNvSpPr/>
          <p:nvPr/>
        </p:nvSpPr>
        <p:spPr>
          <a:xfrm>
            <a:off x="6949440" y="2423160"/>
            <a:ext cx="4343400" cy="0"/>
          </a:xfrm>
          <a:prstGeom prst="line">
            <a:avLst/>
          </a:prstGeom>
          <a:noFill/>
          <a:ln w="9525">
            <a:solidFill>
              <a:srgbClr val="2B3A75"/>
            </a:solidFill>
            <a:prstDash val="solid"/>
          </a:ln>
        </p:spPr>
      </p:sp>
      <p:sp>
        <p:nvSpPr>
          <p:cNvPr id="14" name="Text 12"/>
          <p:cNvSpPr txBox="1"/>
          <p:nvPr/>
        </p:nvSpPr>
        <p:spPr>
          <a:xfrm>
            <a:off x="6949440" y="2514600"/>
            <a:ext cx="2862072" cy="475488"/>
          </a:xfrm>
          <a:prstGeom prst="rect">
            <a:avLst/>
          </a:prstGeom>
          <a:noFill/>
          <a:ln/>
        </p:spPr>
        <p:txBody>
          <a:bodyPr wrap="square" lIns="0" tIns="0" rIns="0" bIns="0" rtlCol="0" anchor="ctr"/>
          <a:lstStyle/>
          <a:p>
            <a:pPr indent="0" marL="0">
              <a:buNone/>
            </a:pPr>
            <a:r>
              <a:rPr lang="en-US" sz="1200" dirty="0">
                <a:solidFill>
                  <a:srgbClr val="E9EDFF"/>
                </a:solidFill>
                <a:latin typeface="Calibri" pitchFamily="34" charset="0"/>
                <a:ea typeface="Calibri" pitchFamily="34" charset="-122"/>
                <a:cs typeface="Calibri" pitchFamily="34" charset="-120"/>
              </a:rPr>
              <a:t>Captured AI answer</a:t>
            </a:r>
            <a:endParaRPr lang="en-US" sz="1200" dirty="0"/>
          </a:p>
        </p:txBody>
      </p:sp>
      <p:sp>
        <p:nvSpPr>
          <p:cNvPr id="15" name="Text 13"/>
          <p:cNvSpPr txBox="1"/>
          <p:nvPr/>
        </p:nvSpPr>
        <p:spPr>
          <a:xfrm>
            <a:off x="9902952" y="2514600"/>
            <a:ext cx="1389888" cy="475488"/>
          </a:xfrm>
          <a:prstGeom prst="rect">
            <a:avLst/>
          </a:prstGeom>
          <a:noFill/>
          <a:ln/>
        </p:spPr>
        <p:txBody>
          <a:bodyPr wrap="square" lIns="0" tIns="0" rIns="0" bIns="0" rtlCol="0" anchor="ctr"/>
          <a:lstStyle/>
          <a:p>
            <a:pPr algn="r" indent="0" marL="0">
              <a:buNone/>
            </a:pPr>
            <a:r>
              <a:rPr lang="en-US" sz="950" dirty="0">
                <a:solidFill>
                  <a:srgbClr val="8FB0FF"/>
                </a:solidFill>
                <a:latin typeface="Courier New" pitchFamily="34" charset="0"/>
                <a:ea typeface="Courier New" pitchFamily="34" charset="-122"/>
                <a:cs typeface="Courier New" pitchFamily="34" charset="-120"/>
              </a:rPr>
              <a:t>Gemini</a:t>
            </a:r>
            <a:endParaRPr lang="en-US" sz="950" dirty="0"/>
          </a:p>
        </p:txBody>
      </p:sp>
      <p:sp>
        <p:nvSpPr>
          <p:cNvPr id="16" name="Shape 14"/>
          <p:cNvSpPr/>
          <p:nvPr/>
        </p:nvSpPr>
        <p:spPr>
          <a:xfrm>
            <a:off x="6949440" y="3026664"/>
            <a:ext cx="4343400" cy="0"/>
          </a:xfrm>
          <a:prstGeom prst="line">
            <a:avLst/>
          </a:prstGeom>
          <a:noFill/>
          <a:ln w="9525">
            <a:solidFill>
              <a:srgbClr val="2B3A75"/>
            </a:solidFill>
            <a:prstDash val="solid"/>
          </a:ln>
        </p:spPr>
      </p:sp>
      <p:sp>
        <p:nvSpPr>
          <p:cNvPr id="17" name="Text 15"/>
          <p:cNvSpPr txBox="1"/>
          <p:nvPr/>
        </p:nvSpPr>
        <p:spPr>
          <a:xfrm>
            <a:off x="6949440" y="3118104"/>
            <a:ext cx="2862072" cy="475488"/>
          </a:xfrm>
          <a:prstGeom prst="rect">
            <a:avLst/>
          </a:prstGeom>
          <a:noFill/>
          <a:ln/>
        </p:spPr>
        <p:txBody>
          <a:bodyPr wrap="square" lIns="0" tIns="0" rIns="0" bIns="0" rtlCol="0" anchor="ctr"/>
          <a:lstStyle/>
          <a:p>
            <a:pPr indent="0" marL="0">
              <a:buNone/>
            </a:pPr>
            <a:r>
              <a:rPr lang="en-US" sz="1200" dirty="0">
                <a:solidFill>
                  <a:srgbClr val="E9EDFF"/>
                </a:solidFill>
                <a:latin typeface="Calibri" pitchFamily="34" charset="0"/>
                <a:ea typeface="Calibri" pitchFamily="34" charset="-122"/>
                <a:cs typeface="Calibri" pitchFamily="34" charset="-120"/>
              </a:rPr>
              <a:t>“Suede has established itself as the third pillar”</a:t>
            </a:r>
            <a:endParaRPr lang="en-US" sz="1200" dirty="0"/>
          </a:p>
        </p:txBody>
      </p:sp>
      <p:sp>
        <p:nvSpPr>
          <p:cNvPr id="18" name="Text 16"/>
          <p:cNvSpPr txBox="1"/>
          <p:nvPr/>
        </p:nvSpPr>
        <p:spPr>
          <a:xfrm>
            <a:off x="9902952" y="3118104"/>
            <a:ext cx="1389888" cy="475488"/>
          </a:xfrm>
          <a:prstGeom prst="rect">
            <a:avLst/>
          </a:prstGeom>
          <a:noFill/>
          <a:ln/>
        </p:spPr>
        <p:txBody>
          <a:bodyPr wrap="square" lIns="0" tIns="0" rIns="0" bIns="0" rtlCol="0" anchor="ctr"/>
          <a:lstStyle/>
          <a:p>
            <a:pPr algn="r" indent="0" marL="0">
              <a:buNone/>
            </a:pPr>
            <a:r>
              <a:rPr lang="en-US" sz="950" dirty="0">
                <a:solidFill>
                  <a:srgbClr val="8FB0FF"/>
                </a:solidFill>
                <a:latin typeface="Courier New" pitchFamily="34" charset="0"/>
                <a:ea typeface="Courier New" pitchFamily="34" charset="-122"/>
                <a:cs typeface="Courier New" pitchFamily="34" charset="-120"/>
              </a:rPr>
              <a:t>quote</a:t>
            </a:r>
            <a:endParaRPr lang="en-US" sz="950" dirty="0"/>
          </a:p>
        </p:txBody>
      </p:sp>
      <p:sp>
        <p:nvSpPr>
          <p:cNvPr id="19" name="Shape 17"/>
          <p:cNvSpPr/>
          <p:nvPr/>
        </p:nvSpPr>
        <p:spPr>
          <a:xfrm>
            <a:off x="6949440" y="3630168"/>
            <a:ext cx="4343400" cy="0"/>
          </a:xfrm>
          <a:prstGeom prst="line">
            <a:avLst/>
          </a:prstGeom>
          <a:noFill/>
          <a:ln w="9525">
            <a:solidFill>
              <a:srgbClr val="2B3A75"/>
            </a:solidFill>
            <a:prstDash val="solid"/>
          </a:ln>
        </p:spPr>
      </p:sp>
      <p:sp>
        <p:nvSpPr>
          <p:cNvPr id="20" name="Text 18"/>
          <p:cNvSpPr txBox="1"/>
          <p:nvPr/>
        </p:nvSpPr>
        <p:spPr>
          <a:xfrm>
            <a:off x="6949440" y="3721608"/>
            <a:ext cx="2862072" cy="475488"/>
          </a:xfrm>
          <a:prstGeom prst="rect">
            <a:avLst/>
          </a:prstGeom>
          <a:noFill/>
          <a:ln/>
        </p:spPr>
        <p:txBody>
          <a:bodyPr wrap="square" lIns="0" tIns="0" rIns="0" bIns="0" rtlCol="0" anchor="ctr"/>
          <a:lstStyle/>
          <a:p>
            <a:pPr indent="0" marL="0">
              <a:buNone/>
            </a:pPr>
            <a:r>
              <a:rPr lang="en-US" sz="1200" dirty="0">
                <a:solidFill>
                  <a:srgbClr val="E9EDFF"/>
                </a:solidFill>
                <a:latin typeface="Calibri" pitchFamily="34" charset="0"/>
                <a:ea typeface="Calibri" pitchFamily="34" charset="-122"/>
                <a:cs typeface="Calibri" pitchFamily="34" charset="-120"/>
              </a:rPr>
              <a:t>Captured</a:t>
            </a:r>
            <a:endParaRPr lang="en-US" sz="1200" dirty="0"/>
          </a:p>
        </p:txBody>
      </p:sp>
      <p:sp>
        <p:nvSpPr>
          <p:cNvPr id="21" name="Text 19"/>
          <p:cNvSpPr txBox="1"/>
          <p:nvPr/>
        </p:nvSpPr>
        <p:spPr>
          <a:xfrm>
            <a:off x="9902952" y="3721608"/>
            <a:ext cx="1389888" cy="475488"/>
          </a:xfrm>
          <a:prstGeom prst="rect">
            <a:avLst/>
          </a:prstGeom>
          <a:noFill/>
          <a:ln/>
        </p:spPr>
        <p:txBody>
          <a:bodyPr wrap="square" lIns="0" tIns="0" rIns="0" bIns="0" rtlCol="0" anchor="ctr"/>
          <a:lstStyle/>
          <a:p>
            <a:pPr algn="r" indent="0" marL="0">
              <a:buNone/>
            </a:pPr>
            <a:r>
              <a:rPr lang="en-US" sz="950" dirty="0">
                <a:solidFill>
                  <a:srgbClr val="8FB0FF"/>
                </a:solidFill>
                <a:latin typeface="Courier New" pitchFamily="34" charset="0"/>
                <a:ea typeface="Courier New" pitchFamily="34" charset="-122"/>
                <a:cs typeface="Courier New" pitchFamily="34" charset="-120"/>
              </a:rPr>
              <a:t>17 Feb 2026</a:t>
            </a:r>
            <a:endParaRPr lang="en-US" sz="950" dirty="0"/>
          </a:p>
        </p:txBody>
      </p:sp>
      <p:sp>
        <p:nvSpPr>
          <p:cNvPr id="22" name="Shape 20"/>
          <p:cNvSpPr/>
          <p:nvPr/>
        </p:nvSpPr>
        <p:spPr>
          <a:xfrm>
            <a:off x="6949440" y="4233672"/>
            <a:ext cx="4343400" cy="0"/>
          </a:xfrm>
          <a:prstGeom prst="line">
            <a:avLst/>
          </a:prstGeom>
          <a:noFill/>
          <a:ln w="9525">
            <a:solidFill>
              <a:srgbClr val="2B3A75"/>
            </a:solidFill>
            <a:prstDash val="solid"/>
          </a:ln>
        </p:spPr>
      </p:sp>
      <p:sp>
        <p:nvSpPr>
          <p:cNvPr id="23" name="Text 21"/>
          <p:cNvSpPr txBox="1"/>
          <p:nvPr/>
        </p:nvSpPr>
        <p:spPr>
          <a:xfrm>
            <a:off x="6949440" y="4325112"/>
            <a:ext cx="2862072" cy="475488"/>
          </a:xfrm>
          <a:prstGeom prst="rect">
            <a:avLst/>
          </a:prstGeom>
          <a:noFill/>
          <a:ln/>
        </p:spPr>
        <p:txBody>
          <a:bodyPr wrap="square" lIns="0" tIns="0" rIns="0" bIns="0" rtlCol="0" anchor="ctr"/>
          <a:lstStyle/>
          <a:p>
            <a:pPr indent="0" marL="0">
              <a:buNone/>
            </a:pPr>
            <a:r>
              <a:rPr lang="en-US" sz="1200" dirty="0">
                <a:solidFill>
                  <a:srgbClr val="E9EDFF"/>
                </a:solidFill>
                <a:latin typeface="Calibri" pitchFamily="34" charset="0"/>
                <a:ea typeface="Calibri" pitchFamily="34" charset="-122"/>
                <a:cs typeface="Calibri" pitchFamily="34" charset="-120"/>
              </a:rPr>
              <a:t>Status</a:t>
            </a:r>
            <a:endParaRPr lang="en-US" sz="1200" dirty="0"/>
          </a:p>
        </p:txBody>
      </p:sp>
      <p:sp>
        <p:nvSpPr>
          <p:cNvPr id="24" name="Text 22"/>
          <p:cNvSpPr txBox="1"/>
          <p:nvPr/>
        </p:nvSpPr>
        <p:spPr>
          <a:xfrm>
            <a:off x="9902952" y="4325112"/>
            <a:ext cx="1389888" cy="475488"/>
          </a:xfrm>
          <a:prstGeom prst="rect">
            <a:avLst/>
          </a:prstGeom>
          <a:noFill/>
          <a:ln/>
        </p:spPr>
        <p:txBody>
          <a:bodyPr wrap="square" lIns="0" tIns="0" rIns="0" bIns="0" rtlCol="0" anchor="ctr"/>
          <a:lstStyle/>
          <a:p>
            <a:pPr algn="r" indent="0" marL="0">
              <a:buNone/>
            </a:pPr>
            <a:r>
              <a:rPr lang="en-US" sz="950" dirty="0">
                <a:solidFill>
                  <a:srgbClr val="8FB0FF"/>
                </a:solidFill>
                <a:latin typeface="Courier New" pitchFamily="34" charset="0"/>
                <a:ea typeface="Courier New" pitchFamily="34" charset="-122"/>
                <a:cs typeface="Courier New" pitchFamily="34" charset="-120"/>
              </a:rPr>
              <a:t>Review evidence →</a:t>
            </a:r>
            <a:endParaRPr lang="en-US" sz="950" dirty="0"/>
          </a:p>
        </p:txBody>
      </p:sp>
      <p:sp>
        <p:nvSpPr>
          <p:cNvPr id="25" name="Text 23"/>
          <p:cNvSpPr txBox="1"/>
          <p:nvPr/>
        </p:nvSpPr>
        <p:spPr>
          <a:xfrm>
            <a:off x="6675120" y="5120640"/>
            <a:ext cx="4846320" cy="457200"/>
          </a:xfrm>
          <a:prstGeom prst="rect">
            <a:avLst/>
          </a:prstGeom>
          <a:noFill/>
          <a:ln/>
        </p:spPr>
        <p:txBody>
          <a:bodyPr wrap="square" lIns="0" tIns="0" rIns="0" bIns="0" rtlCol="0" anchor="t"/>
          <a:lstStyle/>
          <a:p>
            <a:pPr algn="l" indent="0" marL="0">
              <a:lnSpc>
                <a:spcPct val="120000"/>
              </a:lnSpc>
              <a:buNone/>
            </a:pPr>
            <a:r>
              <a:rPr lang="en-US" sz="1100" i="1" dirty="0">
                <a:solidFill>
                  <a:srgbClr val="4A526B"/>
                </a:solidFill>
                <a:latin typeface="Calibri" pitchFamily="34" charset="0"/>
                <a:ea typeface="Calibri" pitchFamily="34" charset="-122"/>
                <a:cs typeface="Calibri" pitchFamily="34" charset="-120"/>
              </a:rPr>
              <a:t>What a dated capture looks like. The same discipline applies to every client category.</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6400800"/>
            <a:ext cx="8686800" cy="228600"/>
          </a:xfrm>
          <a:prstGeom prst="rect">
            <a:avLst/>
          </a:prstGeom>
          <a:noFill/>
          <a:ln/>
        </p:spPr>
        <p:txBody>
          <a:bodyPr wrap="square" lIns="0" tIns="0" rIns="0" bIns="0" rtlCol="0" anchor="ctr"/>
          <a:lstStyle/>
          <a:p>
            <a:pPr indent="0" marL="0">
              <a:buNone/>
            </a:pPr>
            <a:r>
              <a:rPr lang="en-US" sz="850" spc="100" kern="0" dirty="0">
                <a:solidFill>
                  <a:srgbClr val="C3CBEA"/>
                </a:solidFill>
                <a:latin typeface="Courier New" pitchFamily="34" charset="0"/>
                <a:ea typeface="Courier New" pitchFamily="34" charset="-122"/>
                <a:cs typeface="Courier New" pitchFamily="34" charset="-120"/>
              </a:rPr>
              <a:t>SUEDE SEO · SEO.SUEDEAI.AI · FULL-STACK GEO &amp; AI ENGINEERING</a:t>
            </a:r>
            <a:endParaRPr lang="en-US" sz="850" dirty="0"/>
          </a:p>
        </p:txBody>
      </p:sp>
      <p:sp>
        <p:nvSpPr>
          <p:cNvPr id="3" name="Text 1"/>
          <p:cNvSpPr txBox="1"/>
          <p:nvPr/>
        </p:nvSpPr>
        <p:spPr>
          <a:xfrm>
            <a:off x="10637215" y="6400800"/>
            <a:ext cx="914400" cy="228600"/>
          </a:xfrm>
          <a:prstGeom prst="rect">
            <a:avLst/>
          </a:prstGeom>
          <a:noFill/>
          <a:ln/>
        </p:spPr>
        <p:txBody>
          <a:bodyPr wrap="square" lIns="0" tIns="0" rIns="0" bIns="0" rtlCol="0" anchor="ctr"/>
          <a:lstStyle/>
          <a:p>
            <a:pPr algn="r" indent="0" marL="0">
              <a:buNone/>
            </a:pPr>
            <a:r>
              <a:rPr lang="en-US" sz="850" dirty="0">
                <a:solidFill>
                  <a:srgbClr val="C3CBEA"/>
                </a:solidFill>
                <a:latin typeface="Courier New" pitchFamily="34" charset="0"/>
                <a:ea typeface="Courier New" pitchFamily="34" charset="-122"/>
                <a:cs typeface="Courier New" pitchFamily="34" charset="-120"/>
              </a:rPr>
              <a:t>03</a:t>
            </a:r>
            <a:endParaRPr lang="en-US" sz="850" dirty="0"/>
          </a:p>
        </p:txBody>
      </p:sp>
      <p:sp>
        <p:nvSpPr>
          <p:cNvPr id="4" name="Text 2"/>
          <p:cNvSpPr txBox="1"/>
          <p:nvPr/>
        </p:nvSpPr>
        <p:spPr>
          <a:xfrm>
            <a:off x="640080" y="548640"/>
            <a:ext cx="9144000" cy="256032"/>
          </a:xfrm>
          <a:prstGeom prst="rect">
            <a:avLst/>
          </a:prstGeom>
          <a:noFill/>
          <a:ln/>
        </p:spPr>
        <p:txBody>
          <a:bodyPr wrap="square" lIns="0" tIns="0" rIns="0" bIns="0" rtlCol="0" anchor="ctr"/>
          <a:lstStyle/>
          <a:p>
            <a:pPr indent="0" marL="0">
              <a:buNone/>
            </a:pPr>
            <a:r>
              <a:rPr lang="en-US" sz="950" spc="250" kern="0" dirty="0">
                <a:solidFill>
                  <a:srgbClr val="7C9BFF"/>
                </a:solidFill>
                <a:latin typeface="Courier New" pitchFamily="34" charset="0"/>
                <a:ea typeface="Courier New" pitchFamily="34" charset="-122"/>
                <a:cs typeface="Courier New" pitchFamily="34" charset="-120"/>
              </a:rPr>
              <a:t>02 — THE PRACTICE</a:t>
            </a:r>
            <a:endParaRPr lang="en-US" sz="950" dirty="0"/>
          </a:p>
        </p:txBody>
      </p:sp>
      <p:sp>
        <p:nvSpPr>
          <p:cNvPr id="5" name="Text 3"/>
          <p:cNvSpPr txBox="1"/>
          <p:nvPr/>
        </p:nvSpPr>
        <p:spPr>
          <a:xfrm>
            <a:off x="640080" y="868680"/>
            <a:ext cx="10607040" cy="510540"/>
          </a:xfrm>
          <a:prstGeom prst="rect">
            <a:avLst/>
          </a:prstGeom>
          <a:noFill/>
          <a:ln/>
        </p:spPr>
        <p:txBody>
          <a:bodyPr wrap="square" lIns="0" tIns="0" rIns="0" bIns="0" rtlCol="0" anchor="t"/>
          <a:lstStyle/>
          <a:p>
            <a:pPr algn="l" indent="0" marL="0">
              <a:lnSpc>
                <a:spcPct val="105000"/>
              </a:lnSpc>
              <a:buNone/>
            </a:pPr>
            <a:r>
              <a:rPr lang="en-US" sz="3000" dirty="0">
                <a:solidFill>
                  <a:srgbClr val="F4F5F9"/>
                </a:solidFill>
                <a:latin typeface="Cambria" pitchFamily="34" charset="0"/>
                <a:ea typeface="Cambria" pitchFamily="34" charset="-122"/>
                <a:cs typeface="Cambria" pitchFamily="34" charset="-120"/>
              </a:rPr>
              <a:t>Six lines of work, one firm.</a:t>
            </a:r>
            <a:endParaRPr lang="en-US" sz="3000" dirty="0"/>
          </a:p>
        </p:txBody>
      </p:sp>
      <p:sp>
        <p:nvSpPr>
          <p:cNvPr id="6" name="Shape 4"/>
          <p:cNvSpPr/>
          <p:nvPr/>
        </p:nvSpPr>
        <p:spPr>
          <a:xfrm>
            <a:off x="640080" y="1828800"/>
            <a:ext cx="3484778" cy="2103120"/>
          </a:xfrm>
          <a:prstGeom prst="roundRect">
            <a:avLst>
              <a:gd name="adj" fmla="val 5217"/>
            </a:avLst>
          </a:prstGeom>
          <a:solidFill>
            <a:srgbClr val="182452"/>
          </a:solidFill>
          <a:ln w="9525">
            <a:solidFill>
              <a:srgbClr val="34437F"/>
            </a:solidFill>
            <a:prstDash val="solid"/>
          </a:ln>
          <a:effectLst>
            <a:outerShdw sx="100000" sy="100000" kx="0" ky="0" algn="bl" rotWithShape="0" blurRad="152400" dist="38100" dir="5400000">
              <a:srgbClr val="000000">
                <a:alpha val="35000"/>
              </a:srgbClr>
            </a:outerShdw>
          </a:effectLst>
        </p:spPr>
      </p:sp>
      <p:sp>
        <p:nvSpPr>
          <p:cNvPr id="7" name="Shape 5"/>
          <p:cNvSpPr/>
          <p:nvPr/>
        </p:nvSpPr>
        <p:spPr>
          <a:xfrm>
            <a:off x="896112" y="2084832"/>
            <a:ext cx="347472" cy="347472"/>
          </a:xfrm>
          <a:prstGeom prst="ellipse">
            <a:avLst/>
          </a:prstGeom>
          <a:solidFill>
            <a:srgbClr val="7C9BFF"/>
          </a:solidFill>
          <a:ln w="12700">
            <a:solidFill>
              <a:srgbClr val="7C9BFF"/>
            </a:solidFill>
            <a:prstDash val="solid"/>
          </a:ln>
        </p:spPr>
      </p:sp>
      <p:sp>
        <p:nvSpPr>
          <p:cNvPr id="8" name="Text 6"/>
          <p:cNvSpPr txBox="1"/>
          <p:nvPr/>
        </p:nvSpPr>
        <p:spPr>
          <a:xfrm>
            <a:off x="896112" y="2084832"/>
            <a:ext cx="347472" cy="347472"/>
          </a:xfrm>
          <a:prstGeom prst="rect">
            <a:avLst/>
          </a:prstGeom>
          <a:noFill/>
          <a:ln/>
        </p:spPr>
        <p:txBody>
          <a:bodyPr wrap="square" lIns="0" tIns="0" rIns="0" bIns="0" rtlCol="0" anchor="ctr"/>
          <a:lstStyle/>
          <a:p>
            <a:pPr algn="ctr" indent="0" marL="0">
              <a:buNone/>
            </a:pPr>
            <a:r>
              <a:rPr lang="en-US" sz="900" b="1" dirty="0">
                <a:solidFill>
                  <a:srgbClr val="FFFFFF"/>
                </a:solidFill>
                <a:latin typeface="Courier New" pitchFamily="34" charset="0"/>
                <a:ea typeface="Courier New" pitchFamily="34" charset="-122"/>
                <a:cs typeface="Courier New" pitchFamily="34" charset="-120"/>
              </a:rPr>
              <a:t>01</a:t>
            </a:r>
            <a:endParaRPr lang="en-US" sz="900" dirty="0"/>
          </a:p>
        </p:txBody>
      </p:sp>
      <p:sp>
        <p:nvSpPr>
          <p:cNvPr id="9" name="Text 7"/>
          <p:cNvSpPr txBox="1"/>
          <p:nvPr/>
        </p:nvSpPr>
        <p:spPr>
          <a:xfrm>
            <a:off x="896112" y="2587752"/>
            <a:ext cx="2972714" cy="302768"/>
          </a:xfrm>
          <a:prstGeom prst="rect">
            <a:avLst/>
          </a:prstGeom>
          <a:noFill/>
          <a:ln/>
        </p:spPr>
        <p:txBody>
          <a:bodyPr wrap="square" lIns="0" tIns="0" rIns="0" bIns="0" rtlCol="0" anchor="t"/>
          <a:lstStyle/>
          <a:p>
            <a:pPr indent="0" marL="0">
              <a:buNone/>
            </a:pPr>
            <a:r>
              <a:rPr lang="en-US" sz="1600" dirty="0">
                <a:solidFill>
                  <a:srgbClr val="F4F5F9"/>
                </a:solidFill>
                <a:latin typeface="Cambria" pitchFamily="34" charset="0"/>
                <a:ea typeface="Cambria" pitchFamily="34" charset="-122"/>
                <a:cs typeface="Cambria" pitchFamily="34" charset="-120"/>
              </a:rPr>
              <a:t>Full-stack GEO</a:t>
            </a:r>
            <a:endParaRPr lang="en-US" sz="1600" dirty="0"/>
          </a:p>
        </p:txBody>
      </p:sp>
      <p:sp>
        <p:nvSpPr>
          <p:cNvPr id="10" name="Text 8"/>
          <p:cNvSpPr txBox="1"/>
          <p:nvPr/>
        </p:nvSpPr>
        <p:spPr>
          <a:xfrm>
            <a:off x="896112" y="2963672"/>
            <a:ext cx="2972714" cy="767080"/>
          </a:xfrm>
          <a:prstGeom prst="rect">
            <a:avLst/>
          </a:prstGeom>
          <a:noFill/>
          <a:ln/>
        </p:spPr>
        <p:txBody>
          <a:bodyPr wrap="square" lIns="0" tIns="0" rIns="0" bIns="0" rtlCol="0" anchor="t"/>
          <a:lstStyle/>
          <a:p>
            <a:pPr indent="0" marL="0">
              <a:lnSpc>
                <a:spcPct val="118000"/>
              </a:lnSpc>
              <a:buNone/>
            </a:pPr>
            <a:r>
              <a:rPr lang="en-US" sz="1100" dirty="0">
                <a:solidFill>
                  <a:srgbClr val="C3CBEA"/>
                </a:solidFill>
                <a:latin typeface="Calibri" pitchFamily="34" charset="0"/>
                <a:ea typeface="Calibri" pitchFamily="34" charset="-122"/>
                <a:cs typeface="Calibri" pitchFamily="34" charset="-120"/>
              </a:rPr>
              <a:t>Capture what the engines answer about your category, dated and screenshotted, then repair the pages and entity records those answers are built from.</a:t>
            </a:r>
            <a:endParaRPr lang="en-US" sz="1100" dirty="0"/>
          </a:p>
        </p:txBody>
      </p:sp>
      <p:sp>
        <p:nvSpPr>
          <p:cNvPr id="11" name="Shape 9"/>
          <p:cNvSpPr/>
          <p:nvPr/>
        </p:nvSpPr>
        <p:spPr>
          <a:xfrm>
            <a:off x="4353458" y="1828800"/>
            <a:ext cx="3484778" cy="2103120"/>
          </a:xfrm>
          <a:prstGeom prst="roundRect">
            <a:avLst>
              <a:gd name="adj" fmla="val 5217"/>
            </a:avLst>
          </a:prstGeom>
          <a:solidFill>
            <a:srgbClr val="182452"/>
          </a:solidFill>
          <a:ln w="9525">
            <a:solidFill>
              <a:srgbClr val="34437F"/>
            </a:solidFill>
            <a:prstDash val="solid"/>
          </a:ln>
          <a:effectLst>
            <a:outerShdw sx="100000" sy="100000" kx="0" ky="0" algn="bl" rotWithShape="0" blurRad="152400" dist="38100" dir="5400000">
              <a:srgbClr val="000000">
                <a:alpha val="35000"/>
              </a:srgbClr>
            </a:outerShdw>
          </a:effectLst>
        </p:spPr>
      </p:sp>
      <p:sp>
        <p:nvSpPr>
          <p:cNvPr id="12" name="Shape 10"/>
          <p:cNvSpPr/>
          <p:nvPr/>
        </p:nvSpPr>
        <p:spPr>
          <a:xfrm>
            <a:off x="4609490" y="2084832"/>
            <a:ext cx="347472" cy="347472"/>
          </a:xfrm>
          <a:prstGeom prst="ellipse">
            <a:avLst/>
          </a:prstGeom>
          <a:solidFill>
            <a:srgbClr val="7C9BFF"/>
          </a:solidFill>
          <a:ln w="12700">
            <a:solidFill>
              <a:srgbClr val="7C9BFF"/>
            </a:solidFill>
            <a:prstDash val="solid"/>
          </a:ln>
        </p:spPr>
      </p:sp>
      <p:sp>
        <p:nvSpPr>
          <p:cNvPr id="13" name="Text 11"/>
          <p:cNvSpPr txBox="1"/>
          <p:nvPr/>
        </p:nvSpPr>
        <p:spPr>
          <a:xfrm>
            <a:off x="4609490" y="2084832"/>
            <a:ext cx="347472" cy="347472"/>
          </a:xfrm>
          <a:prstGeom prst="rect">
            <a:avLst/>
          </a:prstGeom>
          <a:noFill/>
          <a:ln/>
        </p:spPr>
        <p:txBody>
          <a:bodyPr wrap="square" lIns="0" tIns="0" rIns="0" bIns="0" rtlCol="0" anchor="ctr"/>
          <a:lstStyle/>
          <a:p>
            <a:pPr algn="ctr" indent="0" marL="0">
              <a:buNone/>
            </a:pPr>
            <a:r>
              <a:rPr lang="en-US" sz="900" b="1" dirty="0">
                <a:solidFill>
                  <a:srgbClr val="FFFFFF"/>
                </a:solidFill>
                <a:latin typeface="Courier New" pitchFamily="34" charset="0"/>
                <a:ea typeface="Courier New" pitchFamily="34" charset="-122"/>
                <a:cs typeface="Courier New" pitchFamily="34" charset="-120"/>
              </a:rPr>
              <a:t>02</a:t>
            </a:r>
            <a:endParaRPr lang="en-US" sz="900" dirty="0"/>
          </a:p>
        </p:txBody>
      </p:sp>
      <p:sp>
        <p:nvSpPr>
          <p:cNvPr id="14" name="Text 12"/>
          <p:cNvSpPr txBox="1"/>
          <p:nvPr/>
        </p:nvSpPr>
        <p:spPr>
          <a:xfrm>
            <a:off x="4609490" y="2587752"/>
            <a:ext cx="2972714" cy="302768"/>
          </a:xfrm>
          <a:prstGeom prst="rect">
            <a:avLst/>
          </a:prstGeom>
          <a:noFill/>
          <a:ln/>
        </p:spPr>
        <p:txBody>
          <a:bodyPr wrap="square" lIns="0" tIns="0" rIns="0" bIns="0" rtlCol="0" anchor="t"/>
          <a:lstStyle/>
          <a:p>
            <a:pPr indent="0" marL="0">
              <a:buNone/>
            </a:pPr>
            <a:r>
              <a:rPr lang="en-US" sz="1600" dirty="0">
                <a:solidFill>
                  <a:srgbClr val="F4F5F9"/>
                </a:solidFill>
                <a:latin typeface="Cambria" pitchFamily="34" charset="0"/>
                <a:ea typeface="Cambria" pitchFamily="34" charset="-122"/>
                <a:cs typeface="Cambria" pitchFamily="34" charset="-120"/>
              </a:rPr>
              <a:t>Press and reputation</a:t>
            </a:r>
            <a:endParaRPr lang="en-US" sz="1600" dirty="0"/>
          </a:p>
        </p:txBody>
      </p:sp>
      <p:sp>
        <p:nvSpPr>
          <p:cNvPr id="15" name="Text 13"/>
          <p:cNvSpPr txBox="1"/>
          <p:nvPr/>
        </p:nvSpPr>
        <p:spPr>
          <a:xfrm>
            <a:off x="4609490" y="2963672"/>
            <a:ext cx="2972714" cy="767080"/>
          </a:xfrm>
          <a:prstGeom prst="rect">
            <a:avLst/>
          </a:prstGeom>
          <a:noFill/>
          <a:ln/>
        </p:spPr>
        <p:txBody>
          <a:bodyPr wrap="square" lIns="0" tIns="0" rIns="0" bIns="0" rtlCol="0" anchor="t"/>
          <a:lstStyle/>
          <a:p>
            <a:pPr indent="0" marL="0">
              <a:lnSpc>
                <a:spcPct val="118000"/>
              </a:lnSpc>
              <a:buNone/>
            </a:pPr>
            <a:r>
              <a:rPr lang="en-US" sz="1100" dirty="0">
                <a:solidFill>
                  <a:srgbClr val="C3CBEA"/>
                </a:solidFill>
                <a:latin typeface="Calibri" pitchFamily="34" charset="0"/>
                <a:ea typeface="Calibri" pitchFamily="34" charset="-122"/>
                <a:cs typeface="Calibri" pitchFamily="34" charset="-120"/>
              </a:rPr>
              <a:t>The founder story, the newsroom, the pitch and the outreach behind coverage. Every placement filed as an exhibit engines can quote back.</a:t>
            </a:r>
            <a:endParaRPr lang="en-US" sz="1100" dirty="0"/>
          </a:p>
        </p:txBody>
      </p:sp>
      <p:sp>
        <p:nvSpPr>
          <p:cNvPr id="16" name="Shape 14"/>
          <p:cNvSpPr/>
          <p:nvPr/>
        </p:nvSpPr>
        <p:spPr>
          <a:xfrm>
            <a:off x="8066837" y="1828800"/>
            <a:ext cx="3484778" cy="2103120"/>
          </a:xfrm>
          <a:prstGeom prst="roundRect">
            <a:avLst>
              <a:gd name="adj" fmla="val 5217"/>
            </a:avLst>
          </a:prstGeom>
          <a:solidFill>
            <a:srgbClr val="182452"/>
          </a:solidFill>
          <a:ln w="9525">
            <a:solidFill>
              <a:srgbClr val="34437F"/>
            </a:solidFill>
            <a:prstDash val="solid"/>
          </a:ln>
          <a:effectLst>
            <a:outerShdw sx="100000" sy="100000" kx="0" ky="0" algn="bl" rotWithShape="0" blurRad="152400" dist="38100" dir="5400000">
              <a:srgbClr val="000000">
                <a:alpha val="35000"/>
              </a:srgbClr>
            </a:outerShdw>
          </a:effectLst>
        </p:spPr>
      </p:sp>
      <p:sp>
        <p:nvSpPr>
          <p:cNvPr id="17" name="Shape 15"/>
          <p:cNvSpPr/>
          <p:nvPr/>
        </p:nvSpPr>
        <p:spPr>
          <a:xfrm>
            <a:off x="8322869" y="2084832"/>
            <a:ext cx="347472" cy="347472"/>
          </a:xfrm>
          <a:prstGeom prst="ellipse">
            <a:avLst/>
          </a:prstGeom>
          <a:solidFill>
            <a:srgbClr val="7C9BFF"/>
          </a:solidFill>
          <a:ln w="12700">
            <a:solidFill>
              <a:srgbClr val="7C9BFF"/>
            </a:solidFill>
            <a:prstDash val="solid"/>
          </a:ln>
        </p:spPr>
      </p:sp>
      <p:sp>
        <p:nvSpPr>
          <p:cNvPr id="18" name="Text 16"/>
          <p:cNvSpPr txBox="1"/>
          <p:nvPr/>
        </p:nvSpPr>
        <p:spPr>
          <a:xfrm>
            <a:off x="8322869" y="2084832"/>
            <a:ext cx="347472" cy="347472"/>
          </a:xfrm>
          <a:prstGeom prst="rect">
            <a:avLst/>
          </a:prstGeom>
          <a:noFill/>
          <a:ln/>
        </p:spPr>
        <p:txBody>
          <a:bodyPr wrap="square" lIns="0" tIns="0" rIns="0" bIns="0" rtlCol="0" anchor="ctr"/>
          <a:lstStyle/>
          <a:p>
            <a:pPr algn="ctr" indent="0" marL="0">
              <a:buNone/>
            </a:pPr>
            <a:r>
              <a:rPr lang="en-US" sz="900" b="1" dirty="0">
                <a:solidFill>
                  <a:srgbClr val="FFFFFF"/>
                </a:solidFill>
                <a:latin typeface="Courier New" pitchFamily="34" charset="0"/>
                <a:ea typeface="Courier New" pitchFamily="34" charset="-122"/>
                <a:cs typeface="Courier New" pitchFamily="34" charset="-120"/>
              </a:rPr>
              <a:t>03</a:t>
            </a:r>
            <a:endParaRPr lang="en-US" sz="900" dirty="0"/>
          </a:p>
        </p:txBody>
      </p:sp>
      <p:sp>
        <p:nvSpPr>
          <p:cNvPr id="19" name="Text 17"/>
          <p:cNvSpPr txBox="1"/>
          <p:nvPr/>
        </p:nvSpPr>
        <p:spPr>
          <a:xfrm>
            <a:off x="8322869" y="2587752"/>
            <a:ext cx="2972714" cy="550672"/>
          </a:xfrm>
          <a:prstGeom prst="rect">
            <a:avLst/>
          </a:prstGeom>
          <a:noFill/>
          <a:ln/>
        </p:spPr>
        <p:txBody>
          <a:bodyPr wrap="square" lIns="0" tIns="0" rIns="0" bIns="0" rtlCol="0" anchor="t"/>
          <a:lstStyle/>
          <a:p>
            <a:pPr indent="0" marL="0">
              <a:buNone/>
            </a:pPr>
            <a:r>
              <a:rPr lang="en-US" sz="1600" dirty="0">
                <a:solidFill>
                  <a:srgbClr val="F4F5F9"/>
                </a:solidFill>
                <a:latin typeface="Cambria" pitchFamily="34" charset="0"/>
                <a:ea typeface="Cambria" pitchFamily="34" charset="-122"/>
                <a:cs typeface="Cambria" pitchFamily="34" charset="-120"/>
              </a:rPr>
              <a:t>Entity records and search</a:t>
            </a:r>
            <a:endParaRPr lang="en-US" sz="1600" dirty="0"/>
          </a:p>
        </p:txBody>
      </p:sp>
      <p:sp>
        <p:nvSpPr>
          <p:cNvPr id="20" name="Text 18"/>
          <p:cNvSpPr txBox="1"/>
          <p:nvPr/>
        </p:nvSpPr>
        <p:spPr>
          <a:xfrm>
            <a:off x="8322869" y="3211576"/>
            <a:ext cx="2972714" cy="519176"/>
          </a:xfrm>
          <a:prstGeom prst="rect">
            <a:avLst/>
          </a:prstGeom>
          <a:noFill/>
          <a:ln/>
        </p:spPr>
        <p:txBody>
          <a:bodyPr wrap="square" lIns="0" tIns="0" rIns="0" bIns="0" rtlCol="0" anchor="t"/>
          <a:lstStyle/>
          <a:p>
            <a:pPr indent="0" marL="0">
              <a:lnSpc>
                <a:spcPct val="118000"/>
              </a:lnSpc>
              <a:buNone/>
            </a:pPr>
            <a:r>
              <a:rPr lang="en-US" sz="1100" dirty="0">
                <a:solidFill>
                  <a:srgbClr val="C3CBEA"/>
                </a:solidFill>
                <a:latin typeface="Calibri" pitchFamily="34" charset="0"/>
                <a:ea typeface="Calibri" pitchFamily="34" charset="-122"/>
                <a:cs typeface="Calibri" pitchFamily="34" charset="-120"/>
              </a:rPr>
              <a:t>Knowledge panels, entity graphs, third-party records and the classic technical repair, kept consistent wherever a machine looks you up.</a:t>
            </a:r>
            <a:endParaRPr lang="en-US" sz="1100" dirty="0"/>
          </a:p>
        </p:txBody>
      </p:sp>
      <p:sp>
        <p:nvSpPr>
          <p:cNvPr id="21" name="Shape 19"/>
          <p:cNvSpPr/>
          <p:nvPr/>
        </p:nvSpPr>
        <p:spPr>
          <a:xfrm>
            <a:off x="640080" y="4114800"/>
            <a:ext cx="3484778" cy="2103120"/>
          </a:xfrm>
          <a:prstGeom prst="roundRect">
            <a:avLst>
              <a:gd name="adj" fmla="val 5217"/>
            </a:avLst>
          </a:prstGeom>
          <a:solidFill>
            <a:srgbClr val="182452"/>
          </a:solidFill>
          <a:ln w="9525">
            <a:solidFill>
              <a:srgbClr val="34437F"/>
            </a:solidFill>
            <a:prstDash val="solid"/>
          </a:ln>
          <a:effectLst>
            <a:outerShdw sx="100000" sy="100000" kx="0" ky="0" algn="bl" rotWithShape="0" blurRad="152400" dist="38100" dir="5400000">
              <a:srgbClr val="000000">
                <a:alpha val="35000"/>
              </a:srgbClr>
            </a:outerShdw>
          </a:effectLst>
        </p:spPr>
      </p:sp>
      <p:sp>
        <p:nvSpPr>
          <p:cNvPr id="22" name="Shape 20"/>
          <p:cNvSpPr/>
          <p:nvPr/>
        </p:nvSpPr>
        <p:spPr>
          <a:xfrm>
            <a:off x="896112" y="4370832"/>
            <a:ext cx="347472" cy="347472"/>
          </a:xfrm>
          <a:prstGeom prst="ellipse">
            <a:avLst/>
          </a:prstGeom>
          <a:solidFill>
            <a:srgbClr val="7C9BFF"/>
          </a:solidFill>
          <a:ln w="12700">
            <a:solidFill>
              <a:srgbClr val="7C9BFF"/>
            </a:solidFill>
            <a:prstDash val="solid"/>
          </a:ln>
        </p:spPr>
      </p:sp>
      <p:sp>
        <p:nvSpPr>
          <p:cNvPr id="23" name="Text 21"/>
          <p:cNvSpPr txBox="1"/>
          <p:nvPr/>
        </p:nvSpPr>
        <p:spPr>
          <a:xfrm>
            <a:off x="896112" y="4370832"/>
            <a:ext cx="347472" cy="347472"/>
          </a:xfrm>
          <a:prstGeom prst="rect">
            <a:avLst/>
          </a:prstGeom>
          <a:noFill/>
          <a:ln/>
        </p:spPr>
        <p:txBody>
          <a:bodyPr wrap="square" lIns="0" tIns="0" rIns="0" bIns="0" rtlCol="0" anchor="ctr"/>
          <a:lstStyle/>
          <a:p>
            <a:pPr algn="ctr" indent="0" marL="0">
              <a:buNone/>
            </a:pPr>
            <a:r>
              <a:rPr lang="en-US" sz="900" b="1" dirty="0">
                <a:solidFill>
                  <a:srgbClr val="FFFFFF"/>
                </a:solidFill>
                <a:latin typeface="Courier New" pitchFamily="34" charset="0"/>
                <a:ea typeface="Courier New" pitchFamily="34" charset="-122"/>
                <a:cs typeface="Courier New" pitchFamily="34" charset="-120"/>
              </a:rPr>
              <a:t>04</a:t>
            </a:r>
            <a:endParaRPr lang="en-US" sz="900" dirty="0"/>
          </a:p>
        </p:txBody>
      </p:sp>
      <p:sp>
        <p:nvSpPr>
          <p:cNvPr id="24" name="Text 22"/>
          <p:cNvSpPr txBox="1"/>
          <p:nvPr/>
        </p:nvSpPr>
        <p:spPr>
          <a:xfrm>
            <a:off x="896112" y="4873752"/>
            <a:ext cx="2972714" cy="302768"/>
          </a:xfrm>
          <a:prstGeom prst="rect">
            <a:avLst/>
          </a:prstGeom>
          <a:noFill/>
          <a:ln/>
        </p:spPr>
        <p:txBody>
          <a:bodyPr wrap="square" lIns="0" tIns="0" rIns="0" bIns="0" rtlCol="0" anchor="t"/>
          <a:lstStyle/>
          <a:p>
            <a:pPr indent="0" marL="0">
              <a:buNone/>
            </a:pPr>
            <a:r>
              <a:rPr lang="en-US" sz="1600" dirty="0">
                <a:solidFill>
                  <a:srgbClr val="F4F5F9"/>
                </a:solidFill>
                <a:latin typeface="Cambria" pitchFamily="34" charset="0"/>
                <a:ea typeface="Cambria" pitchFamily="34" charset="-122"/>
                <a:cs typeface="Cambria" pitchFamily="34" charset="-120"/>
              </a:rPr>
              <a:t>Managed AI agents</a:t>
            </a:r>
            <a:endParaRPr lang="en-US" sz="1600" dirty="0"/>
          </a:p>
        </p:txBody>
      </p:sp>
      <p:sp>
        <p:nvSpPr>
          <p:cNvPr id="25" name="Text 23"/>
          <p:cNvSpPr txBox="1"/>
          <p:nvPr/>
        </p:nvSpPr>
        <p:spPr>
          <a:xfrm>
            <a:off x="896112" y="5249672"/>
            <a:ext cx="2972714" cy="767080"/>
          </a:xfrm>
          <a:prstGeom prst="rect">
            <a:avLst/>
          </a:prstGeom>
          <a:noFill/>
          <a:ln/>
        </p:spPr>
        <p:txBody>
          <a:bodyPr wrap="square" lIns="0" tIns="0" rIns="0" bIns="0" rtlCol="0" anchor="t"/>
          <a:lstStyle/>
          <a:p>
            <a:pPr indent="0" marL="0">
              <a:lnSpc>
                <a:spcPct val="118000"/>
              </a:lnSpc>
              <a:buNone/>
            </a:pPr>
            <a:r>
              <a:rPr lang="en-US" sz="1100" dirty="0">
                <a:solidFill>
                  <a:srgbClr val="C3CBEA"/>
                </a:solidFill>
                <a:latin typeface="Calibri" pitchFamily="34" charset="0"/>
                <a:ea typeface="Calibri" pitchFamily="34" charset="-122"/>
                <a:cs typeface="Calibri" pitchFamily="34" charset="-120"/>
              </a:rPr>
              <a:t>Named agents built, run and kept tuned by Suede Labs AI: call review, lead qualification, script consistency, PR rebuilds. You watch the run, we hold the KPI.</a:t>
            </a:r>
            <a:endParaRPr lang="en-US" sz="1100" dirty="0"/>
          </a:p>
        </p:txBody>
      </p:sp>
      <p:sp>
        <p:nvSpPr>
          <p:cNvPr id="26" name="Shape 24"/>
          <p:cNvSpPr/>
          <p:nvPr/>
        </p:nvSpPr>
        <p:spPr>
          <a:xfrm>
            <a:off x="4353458" y="4114800"/>
            <a:ext cx="3484778" cy="2103120"/>
          </a:xfrm>
          <a:prstGeom prst="roundRect">
            <a:avLst>
              <a:gd name="adj" fmla="val 5217"/>
            </a:avLst>
          </a:prstGeom>
          <a:solidFill>
            <a:srgbClr val="182452"/>
          </a:solidFill>
          <a:ln w="9525">
            <a:solidFill>
              <a:srgbClr val="34437F"/>
            </a:solidFill>
            <a:prstDash val="solid"/>
          </a:ln>
          <a:effectLst>
            <a:outerShdw sx="100000" sy="100000" kx="0" ky="0" algn="bl" rotWithShape="0" blurRad="152400" dist="38100" dir="5400000">
              <a:srgbClr val="000000">
                <a:alpha val="35000"/>
              </a:srgbClr>
            </a:outerShdw>
          </a:effectLst>
        </p:spPr>
      </p:sp>
      <p:sp>
        <p:nvSpPr>
          <p:cNvPr id="27" name="Shape 25"/>
          <p:cNvSpPr/>
          <p:nvPr/>
        </p:nvSpPr>
        <p:spPr>
          <a:xfrm>
            <a:off x="4609490" y="4370832"/>
            <a:ext cx="347472" cy="347472"/>
          </a:xfrm>
          <a:prstGeom prst="ellipse">
            <a:avLst/>
          </a:prstGeom>
          <a:solidFill>
            <a:srgbClr val="7C9BFF"/>
          </a:solidFill>
          <a:ln w="12700">
            <a:solidFill>
              <a:srgbClr val="7C9BFF"/>
            </a:solidFill>
            <a:prstDash val="solid"/>
          </a:ln>
        </p:spPr>
      </p:sp>
      <p:sp>
        <p:nvSpPr>
          <p:cNvPr id="28" name="Text 26"/>
          <p:cNvSpPr txBox="1"/>
          <p:nvPr/>
        </p:nvSpPr>
        <p:spPr>
          <a:xfrm>
            <a:off x="4609490" y="4370832"/>
            <a:ext cx="347472" cy="347472"/>
          </a:xfrm>
          <a:prstGeom prst="rect">
            <a:avLst/>
          </a:prstGeom>
          <a:noFill/>
          <a:ln/>
        </p:spPr>
        <p:txBody>
          <a:bodyPr wrap="square" lIns="0" tIns="0" rIns="0" bIns="0" rtlCol="0" anchor="ctr"/>
          <a:lstStyle/>
          <a:p>
            <a:pPr algn="ctr" indent="0" marL="0">
              <a:buNone/>
            </a:pPr>
            <a:r>
              <a:rPr lang="en-US" sz="900" b="1" dirty="0">
                <a:solidFill>
                  <a:srgbClr val="FFFFFF"/>
                </a:solidFill>
                <a:latin typeface="Courier New" pitchFamily="34" charset="0"/>
                <a:ea typeface="Courier New" pitchFamily="34" charset="-122"/>
                <a:cs typeface="Courier New" pitchFamily="34" charset="-120"/>
              </a:rPr>
              <a:t>05</a:t>
            </a:r>
            <a:endParaRPr lang="en-US" sz="900" dirty="0"/>
          </a:p>
        </p:txBody>
      </p:sp>
      <p:sp>
        <p:nvSpPr>
          <p:cNvPr id="29" name="Text 27"/>
          <p:cNvSpPr txBox="1"/>
          <p:nvPr/>
        </p:nvSpPr>
        <p:spPr>
          <a:xfrm>
            <a:off x="4609490" y="4873752"/>
            <a:ext cx="2972714" cy="302768"/>
          </a:xfrm>
          <a:prstGeom prst="rect">
            <a:avLst/>
          </a:prstGeom>
          <a:noFill/>
          <a:ln/>
        </p:spPr>
        <p:txBody>
          <a:bodyPr wrap="square" lIns="0" tIns="0" rIns="0" bIns="0" rtlCol="0" anchor="t"/>
          <a:lstStyle/>
          <a:p>
            <a:pPr indent="0" marL="0">
              <a:buNone/>
            </a:pPr>
            <a:r>
              <a:rPr lang="en-US" sz="1600" dirty="0">
                <a:solidFill>
                  <a:srgbClr val="F4F5F9"/>
                </a:solidFill>
                <a:latin typeface="Cambria" pitchFamily="34" charset="0"/>
                <a:ea typeface="Cambria" pitchFamily="34" charset="-122"/>
                <a:cs typeface="Cambria" pitchFamily="34" charset="-120"/>
              </a:rPr>
              <a:t>AI operations</a:t>
            </a:r>
            <a:endParaRPr lang="en-US" sz="1600" dirty="0"/>
          </a:p>
        </p:txBody>
      </p:sp>
      <p:sp>
        <p:nvSpPr>
          <p:cNvPr id="30" name="Text 28"/>
          <p:cNvSpPr txBox="1"/>
          <p:nvPr/>
        </p:nvSpPr>
        <p:spPr>
          <a:xfrm>
            <a:off x="4609490" y="5249672"/>
            <a:ext cx="2972714" cy="767080"/>
          </a:xfrm>
          <a:prstGeom prst="rect">
            <a:avLst/>
          </a:prstGeom>
          <a:noFill/>
          <a:ln/>
        </p:spPr>
        <p:txBody>
          <a:bodyPr wrap="square" lIns="0" tIns="0" rIns="0" bIns="0" rtlCol="0" anchor="t"/>
          <a:lstStyle/>
          <a:p>
            <a:pPr indent="0" marL="0">
              <a:lnSpc>
                <a:spcPct val="118000"/>
              </a:lnSpc>
              <a:buNone/>
            </a:pPr>
            <a:r>
              <a:rPr lang="en-US" sz="1100" dirty="0">
                <a:solidFill>
                  <a:srgbClr val="C3CBEA"/>
                </a:solidFill>
                <a:latin typeface="Calibri" pitchFamily="34" charset="0"/>
                <a:ea typeface="Calibri" pitchFamily="34" charset="-122"/>
                <a:cs typeface="Calibri" pitchFamily="34" charset="-120"/>
              </a:rPr>
              <a:t>Automation placed where it earns its place, inside written guardrails, with a human owner and one agreed number on each lane.</a:t>
            </a:r>
            <a:endParaRPr lang="en-US" sz="1100" dirty="0"/>
          </a:p>
        </p:txBody>
      </p:sp>
      <p:sp>
        <p:nvSpPr>
          <p:cNvPr id="31" name="Shape 29"/>
          <p:cNvSpPr/>
          <p:nvPr/>
        </p:nvSpPr>
        <p:spPr>
          <a:xfrm>
            <a:off x="8066837" y="4114800"/>
            <a:ext cx="3484778" cy="2103120"/>
          </a:xfrm>
          <a:prstGeom prst="roundRect">
            <a:avLst>
              <a:gd name="adj" fmla="val 5217"/>
            </a:avLst>
          </a:prstGeom>
          <a:solidFill>
            <a:srgbClr val="182452"/>
          </a:solidFill>
          <a:ln w="9525">
            <a:solidFill>
              <a:srgbClr val="34437F"/>
            </a:solidFill>
            <a:prstDash val="solid"/>
          </a:ln>
          <a:effectLst>
            <a:outerShdw sx="100000" sy="100000" kx="0" ky="0" algn="bl" rotWithShape="0" blurRad="152400" dist="38100" dir="5400000">
              <a:srgbClr val="000000">
                <a:alpha val="35000"/>
              </a:srgbClr>
            </a:outerShdw>
          </a:effectLst>
        </p:spPr>
      </p:sp>
      <p:sp>
        <p:nvSpPr>
          <p:cNvPr id="32" name="Shape 30"/>
          <p:cNvSpPr/>
          <p:nvPr/>
        </p:nvSpPr>
        <p:spPr>
          <a:xfrm>
            <a:off x="8322869" y="4370832"/>
            <a:ext cx="347472" cy="347472"/>
          </a:xfrm>
          <a:prstGeom prst="ellipse">
            <a:avLst/>
          </a:prstGeom>
          <a:solidFill>
            <a:srgbClr val="7C9BFF"/>
          </a:solidFill>
          <a:ln w="12700">
            <a:solidFill>
              <a:srgbClr val="7C9BFF"/>
            </a:solidFill>
            <a:prstDash val="solid"/>
          </a:ln>
        </p:spPr>
      </p:sp>
      <p:sp>
        <p:nvSpPr>
          <p:cNvPr id="33" name="Text 31"/>
          <p:cNvSpPr txBox="1"/>
          <p:nvPr/>
        </p:nvSpPr>
        <p:spPr>
          <a:xfrm>
            <a:off x="8322869" y="4370832"/>
            <a:ext cx="347472" cy="347472"/>
          </a:xfrm>
          <a:prstGeom prst="rect">
            <a:avLst/>
          </a:prstGeom>
          <a:noFill/>
          <a:ln/>
        </p:spPr>
        <p:txBody>
          <a:bodyPr wrap="square" lIns="0" tIns="0" rIns="0" bIns="0" rtlCol="0" anchor="ctr"/>
          <a:lstStyle/>
          <a:p>
            <a:pPr algn="ctr" indent="0" marL="0">
              <a:buNone/>
            </a:pPr>
            <a:r>
              <a:rPr lang="en-US" sz="900" b="1" dirty="0">
                <a:solidFill>
                  <a:srgbClr val="FFFFFF"/>
                </a:solidFill>
                <a:latin typeface="Courier New" pitchFamily="34" charset="0"/>
                <a:ea typeface="Courier New" pitchFamily="34" charset="-122"/>
                <a:cs typeface="Courier New" pitchFamily="34" charset="-120"/>
              </a:rPr>
              <a:t>06</a:t>
            </a:r>
            <a:endParaRPr lang="en-US" sz="900" dirty="0"/>
          </a:p>
        </p:txBody>
      </p:sp>
      <p:sp>
        <p:nvSpPr>
          <p:cNvPr id="34" name="Text 32"/>
          <p:cNvSpPr txBox="1"/>
          <p:nvPr/>
        </p:nvSpPr>
        <p:spPr>
          <a:xfrm>
            <a:off x="8322869" y="4873752"/>
            <a:ext cx="2972714" cy="550672"/>
          </a:xfrm>
          <a:prstGeom prst="rect">
            <a:avLst/>
          </a:prstGeom>
          <a:noFill/>
          <a:ln/>
        </p:spPr>
        <p:txBody>
          <a:bodyPr wrap="square" lIns="0" tIns="0" rIns="0" bIns="0" rtlCol="0" anchor="t"/>
          <a:lstStyle/>
          <a:p>
            <a:pPr indent="0" marL="0">
              <a:buNone/>
            </a:pPr>
            <a:r>
              <a:rPr lang="en-US" sz="1600" dirty="0">
                <a:solidFill>
                  <a:srgbClr val="F4F5F9"/>
                </a:solidFill>
                <a:latin typeface="Cambria" pitchFamily="34" charset="0"/>
                <a:ea typeface="Cambria" pitchFamily="34" charset="-122"/>
                <a:cs typeface="Cambria" pitchFamily="34" charset="-120"/>
              </a:rPr>
              <a:t>Forward deployed engineer</a:t>
            </a:r>
            <a:endParaRPr lang="en-US" sz="1600" dirty="0"/>
          </a:p>
        </p:txBody>
      </p:sp>
      <p:sp>
        <p:nvSpPr>
          <p:cNvPr id="35" name="Text 33"/>
          <p:cNvSpPr txBox="1"/>
          <p:nvPr/>
        </p:nvSpPr>
        <p:spPr>
          <a:xfrm>
            <a:off x="8322869" y="5497576"/>
            <a:ext cx="2972714" cy="519176"/>
          </a:xfrm>
          <a:prstGeom prst="rect">
            <a:avLst/>
          </a:prstGeom>
          <a:noFill/>
          <a:ln/>
        </p:spPr>
        <p:txBody>
          <a:bodyPr wrap="square" lIns="0" tIns="0" rIns="0" bIns="0" rtlCol="0" anchor="t"/>
          <a:lstStyle/>
          <a:p>
            <a:pPr indent="0" marL="0">
              <a:lnSpc>
                <a:spcPct val="118000"/>
              </a:lnSpc>
              <a:buNone/>
            </a:pPr>
            <a:r>
              <a:rPr lang="en-US" sz="1100" dirty="0">
                <a:solidFill>
                  <a:srgbClr val="C3CBEA"/>
                </a:solidFill>
                <a:latin typeface="Calibri" pitchFamily="34" charset="0"/>
                <a:ea typeface="Calibri" pitchFamily="34" charset="-122"/>
                <a:cs typeface="Calibri" pitchFamily="34" charset="-120"/>
              </a:rPr>
              <a:t>An engineer inside your operation on a fixed clock. Triage first, sorting what is broken from what is merely loud, then redirection toward the work that pays.</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6400800"/>
            <a:ext cx="8686800" cy="228600"/>
          </a:xfrm>
          <a:prstGeom prst="rect">
            <a:avLst/>
          </a:prstGeom>
          <a:noFill/>
          <a:ln/>
        </p:spPr>
        <p:txBody>
          <a:bodyPr wrap="square" lIns="0" tIns="0" rIns="0" bIns="0" rtlCol="0" anchor="ctr"/>
          <a:lstStyle/>
          <a:p>
            <a:pPr indent="0" marL="0">
              <a:buNone/>
            </a:pPr>
            <a:r>
              <a:rPr lang="en-US" sz="850" spc="100" kern="0" dirty="0">
                <a:solidFill>
                  <a:srgbClr val="4A526B"/>
                </a:solidFill>
                <a:latin typeface="Courier New" pitchFamily="34" charset="0"/>
                <a:ea typeface="Courier New" pitchFamily="34" charset="-122"/>
                <a:cs typeface="Courier New" pitchFamily="34" charset="-120"/>
              </a:rPr>
              <a:t>SUEDE SEO · SEO.SUEDEAI.AI · FULL-STACK GEO &amp; AI ENGINEERING</a:t>
            </a:r>
            <a:endParaRPr lang="en-US" sz="850" dirty="0"/>
          </a:p>
        </p:txBody>
      </p:sp>
      <p:sp>
        <p:nvSpPr>
          <p:cNvPr id="3" name="Text 1"/>
          <p:cNvSpPr txBox="1"/>
          <p:nvPr/>
        </p:nvSpPr>
        <p:spPr>
          <a:xfrm>
            <a:off x="10637215" y="6400800"/>
            <a:ext cx="914400" cy="228600"/>
          </a:xfrm>
          <a:prstGeom prst="rect">
            <a:avLst/>
          </a:prstGeom>
          <a:noFill/>
          <a:ln/>
        </p:spPr>
        <p:txBody>
          <a:bodyPr wrap="square" lIns="0" tIns="0" rIns="0" bIns="0" rtlCol="0" anchor="ctr"/>
          <a:lstStyle/>
          <a:p>
            <a:pPr algn="r" indent="0" marL="0">
              <a:buNone/>
            </a:pPr>
            <a:r>
              <a:rPr lang="en-US" sz="850" dirty="0">
                <a:solidFill>
                  <a:srgbClr val="4A526B"/>
                </a:solidFill>
                <a:latin typeface="Courier New" pitchFamily="34" charset="0"/>
                <a:ea typeface="Courier New" pitchFamily="34" charset="-122"/>
                <a:cs typeface="Courier New" pitchFamily="34" charset="-120"/>
              </a:rPr>
              <a:t>04</a:t>
            </a:r>
            <a:endParaRPr lang="en-US" sz="850" dirty="0"/>
          </a:p>
        </p:txBody>
      </p:sp>
      <p:sp>
        <p:nvSpPr>
          <p:cNvPr id="4" name="Text 2"/>
          <p:cNvSpPr txBox="1"/>
          <p:nvPr/>
        </p:nvSpPr>
        <p:spPr>
          <a:xfrm>
            <a:off x="640080" y="548640"/>
            <a:ext cx="9144000" cy="256032"/>
          </a:xfrm>
          <a:prstGeom prst="rect">
            <a:avLst/>
          </a:prstGeom>
          <a:noFill/>
          <a:ln/>
        </p:spPr>
        <p:txBody>
          <a:bodyPr wrap="square" lIns="0" tIns="0" rIns="0" bIns="0" rtlCol="0" anchor="ctr"/>
          <a:lstStyle/>
          <a:p>
            <a:pPr indent="0" marL="0">
              <a:buNone/>
            </a:pPr>
            <a:r>
              <a:rPr lang="en-US" sz="950" spc="250" kern="0" dirty="0">
                <a:solidFill>
                  <a:srgbClr val="1F3FBF"/>
                </a:solidFill>
                <a:latin typeface="Courier New" pitchFamily="34" charset="0"/>
                <a:ea typeface="Courier New" pitchFamily="34" charset="-122"/>
                <a:cs typeface="Courier New" pitchFamily="34" charset="-120"/>
              </a:rPr>
              <a:t>03 — FULL-STACK GEO, LAYER BY LAYER</a:t>
            </a:r>
            <a:endParaRPr lang="en-US" sz="950" dirty="0"/>
          </a:p>
        </p:txBody>
      </p:sp>
      <p:sp>
        <p:nvSpPr>
          <p:cNvPr id="5" name="Text 3"/>
          <p:cNvSpPr txBox="1"/>
          <p:nvPr/>
        </p:nvSpPr>
        <p:spPr>
          <a:xfrm>
            <a:off x="640080" y="868680"/>
            <a:ext cx="8229600" cy="510540"/>
          </a:xfrm>
          <a:prstGeom prst="rect">
            <a:avLst/>
          </a:prstGeom>
          <a:noFill/>
          <a:ln/>
        </p:spPr>
        <p:txBody>
          <a:bodyPr wrap="square" lIns="0" tIns="0" rIns="0" bIns="0" rtlCol="0" anchor="t"/>
          <a:lstStyle/>
          <a:p>
            <a:pPr algn="l" indent="0" marL="0">
              <a:lnSpc>
                <a:spcPct val="105000"/>
              </a:lnSpc>
              <a:buNone/>
            </a:pPr>
            <a:r>
              <a:rPr lang="en-US" sz="3000" dirty="0">
                <a:solidFill>
                  <a:srgbClr val="161A2B"/>
                </a:solidFill>
                <a:latin typeface="Cambria" pitchFamily="34" charset="0"/>
                <a:ea typeface="Cambria" pitchFamily="34" charset="-122"/>
                <a:cs typeface="Cambria" pitchFamily="34" charset="-120"/>
              </a:rPr>
              <a:t>Capture. Repair. Pitch. Date.</a:t>
            </a:r>
            <a:endParaRPr lang="en-US" sz="3000" dirty="0"/>
          </a:p>
        </p:txBody>
      </p:sp>
      <p:sp>
        <p:nvSpPr>
          <p:cNvPr id="6" name="Text 4"/>
          <p:cNvSpPr txBox="1"/>
          <p:nvPr/>
        </p:nvSpPr>
        <p:spPr>
          <a:xfrm>
            <a:off x="640080" y="1783080"/>
            <a:ext cx="7772400" cy="640080"/>
          </a:xfrm>
          <a:prstGeom prst="rect">
            <a:avLst/>
          </a:prstGeom>
          <a:noFill/>
          <a:ln/>
        </p:spPr>
        <p:txBody>
          <a:bodyPr wrap="square" lIns="0" tIns="0" rIns="0" bIns="0" rtlCol="0" anchor="t"/>
          <a:lstStyle/>
          <a:p>
            <a:pPr algn="l" indent="0" marL="0">
              <a:lnSpc>
                <a:spcPct val="120000"/>
              </a:lnSpc>
              <a:buNone/>
            </a:pPr>
            <a:r>
              <a:rPr lang="en-US" sz="1400" dirty="0">
                <a:solidFill>
                  <a:srgbClr val="4A526B"/>
                </a:solidFill>
                <a:latin typeface="Calibri" pitchFamily="34" charset="0"/>
                <a:ea typeface="Calibri" pitchFamily="34" charset="-122"/>
                <a:cs typeface="Calibri" pitchFamily="34" charset="-120"/>
              </a:rPr>
              <a:t>Generative engine optimization is not a keyword list. It is a chain of custody from what an engine says today to what it reads tomorrow.</a:t>
            </a:r>
            <a:endParaRPr lang="en-US" sz="1400" dirty="0"/>
          </a:p>
        </p:txBody>
      </p:sp>
      <p:sp>
        <p:nvSpPr>
          <p:cNvPr id="7" name="Shape 5"/>
          <p:cNvSpPr/>
          <p:nvPr/>
        </p:nvSpPr>
        <p:spPr>
          <a:xfrm>
            <a:off x="914400" y="2962656"/>
            <a:ext cx="10362895" cy="0"/>
          </a:xfrm>
          <a:prstGeom prst="line">
            <a:avLst/>
          </a:prstGeom>
          <a:noFill/>
          <a:ln w="9525">
            <a:solidFill>
              <a:srgbClr val="D6DCF0"/>
            </a:solidFill>
            <a:prstDash val="solid"/>
          </a:ln>
        </p:spPr>
      </p:sp>
      <p:sp>
        <p:nvSpPr>
          <p:cNvPr id="8" name="Shape 6"/>
          <p:cNvSpPr/>
          <p:nvPr/>
        </p:nvSpPr>
        <p:spPr>
          <a:xfrm>
            <a:off x="640080" y="2743200"/>
            <a:ext cx="438912" cy="438912"/>
          </a:xfrm>
          <a:prstGeom prst="ellipse">
            <a:avLst/>
          </a:prstGeom>
          <a:solidFill>
            <a:srgbClr val="1F3FBF"/>
          </a:solidFill>
          <a:ln w="12700">
            <a:solidFill>
              <a:srgbClr val="1F3FBF"/>
            </a:solidFill>
            <a:prstDash val="solid"/>
          </a:ln>
        </p:spPr>
      </p:sp>
      <p:sp>
        <p:nvSpPr>
          <p:cNvPr id="9" name="Text 7"/>
          <p:cNvSpPr txBox="1"/>
          <p:nvPr/>
        </p:nvSpPr>
        <p:spPr>
          <a:xfrm>
            <a:off x="640080" y="2743200"/>
            <a:ext cx="438912" cy="438912"/>
          </a:xfrm>
          <a:prstGeom prst="rect">
            <a:avLst/>
          </a:prstGeom>
          <a:noFill/>
          <a:ln/>
        </p:spPr>
        <p:txBody>
          <a:bodyPr wrap="square" lIns="0" tIns="0" rIns="0" bIns="0" rtlCol="0" anchor="ctr"/>
          <a:lstStyle/>
          <a:p>
            <a:pPr algn="ctr" indent="0" marL="0">
              <a:buNone/>
            </a:pPr>
            <a:r>
              <a:rPr lang="en-US" sz="1000" b="1" dirty="0">
                <a:solidFill>
                  <a:srgbClr val="FFFFFF"/>
                </a:solidFill>
                <a:latin typeface="Courier New" pitchFamily="34" charset="0"/>
                <a:ea typeface="Courier New" pitchFamily="34" charset="-122"/>
                <a:cs typeface="Courier New" pitchFamily="34" charset="-120"/>
              </a:rPr>
              <a:t>01</a:t>
            </a:r>
            <a:endParaRPr lang="en-US" sz="1000" dirty="0"/>
          </a:p>
        </p:txBody>
      </p:sp>
      <p:sp>
        <p:nvSpPr>
          <p:cNvPr id="10" name="Text 8"/>
          <p:cNvSpPr txBox="1"/>
          <p:nvPr/>
        </p:nvSpPr>
        <p:spPr>
          <a:xfrm>
            <a:off x="640080" y="3346704"/>
            <a:ext cx="2522144" cy="384048"/>
          </a:xfrm>
          <a:prstGeom prst="rect">
            <a:avLst/>
          </a:prstGeom>
          <a:noFill/>
          <a:ln/>
        </p:spPr>
        <p:txBody>
          <a:bodyPr wrap="square" lIns="0" tIns="0" rIns="0" bIns="0" rtlCol="0" anchor="ctr"/>
          <a:lstStyle/>
          <a:p>
            <a:pPr indent="0" marL="0">
              <a:buNone/>
            </a:pPr>
            <a:r>
              <a:rPr lang="en-US" sz="1700" dirty="0">
                <a:solidFill>
                  <a:srgbClr val="161A2B"/>
                </a:solidFill>
                <a:latin typeface="Cambria" pitchFamily="34" charset="0"/>
                <a:ea typeface="Cambria" pitchFamily="34" charset="-122"/>
                <a:cs typeface="Cambria" pitchFamily="34" charset="-120"/>
              </a:rPr>
              <a:t>Capture</a:t>
            </a:r>
            <a:endParaRPr lang="en-US" sz="1700" dirty="0"/>
          </a:p>
        </p:txBody>
      </p:sp>
      <p:sp>
        <p:nvSpPr>
          <p:cNvPr id="11" name="Text 9"/>
          <p:cNvSpPr txBox="1"/>
          <p:nvPr/>
        </p:nvSpPr>
        <p:spPr>
          <a:xfrm>
            <a:off x="640080" y="3749040"/>
            <a:ext cx="2522144" cy="1371600"/>
          </a:xfrm>
          <a:prstGeom prst="rect">
            <a:avLst/>
          </a:prstGeom>
          <a:noFill/>
          <a:ln/>
        </p:spPr>
        <p:txBody>
          <a:bodyPr wrap="square" lIns="0" tIns="0" rIns="0" bIns="0" rtlCol="0" anchor="t"/>
          <a:lstStyle/>
          <a:p>
            <a:pPr indent="0" marL="0">
              <a:lnSpc>
                <a:spcPct val="118000"/>
              </a:lnSpc>
              <a:buNone/>
            </a:pPr>
            <a:r>
              <a:rPr lang="en-US" sz="1150" dirty="0">
                <a:solidFill>
                  <a:srgbClr val="4A526B"/>
                </a:solidFill>
                <a:latin typeface="Calibri" pitchFamily="34" charset="0"/>
                <a:ea typeface="Calibri" pitchFamily="34" charset="-122"/>
                <a:cs typeface="Calibri" pitchFamily="34" charset="-120"/>
              </a:rPr>
              <a:t>Screenshot and date what ChatGPT, Perplexity, Gemini and Google answer for the category and the brand.</a:t>
            </a:r>
            <a:endParaRPr lang="en-US" sz="1150" dirty="0"/>
          </a:p>
        </p:txBody>
      </p:sp>
      <p:sp>
        <p:nvSpPr>
          <p:cNvPr id="12" name="Shape 10"/>
          <p:cNvSpPr/>
          <p:nvPr/>
        </p:nvSpPr>
        <p:spPr>
          <a:xfrm>
            <a:off x="3436544" y="2743200"/>
            <a:ext cx="438912" cy="438912"/>
          </a:xfrm>
          <a:prstGeom prst="ellipse">
            <a:avLst/>
          </a:prstGeom>
          <a:solidFill>
            <a:srgbClr val="1F3FBF"/>
          </a:solidFill>
          <a:ln w="12700">
            <a:solidFill>
              <a:srgbClr val="1F3FBF"/>
            </a:solidFill>
            <a:prstDash val="solid"/>
          </a:ln>
        </p:spPr>
      </p:sp>
      <p:sp>
        <p:nvSpPr>
          <p:cNvPr id="13" name="Text 11"/>
          <p:cNvSpPr txBox="1"/>
          <p:nvPr/>
        </p:nvSpPr>
        <p:spPr>
          <a:xfrm>
            <a:off x="3436544" y="2743200"/>
            <a:ext cx="438912" cy="438912"/>
          </a:xfrm>
          <a:prstGeom prst="rect">
            <a:avLst/>
          </a:prstGeom>
          <a:noFill/>
          <a:ln/>
        </p:spPr>
        <p:txBody>
          <a:bodyPr wrap="square" lIns="0" tIns="0" rIns="0" bIns="0" rtlCol="0" anchor="ctr"/>
          <a:lstStyle/>
          <a:p>
            <a:pPr algn="ctr" indent="0" marL="0">
              <a:buNone/>
            </a:pPr>
            <a:r>
              <a:rPr lang="en-US" sz="1000" b="1" dirty="0">
                <a:solidFill>
                  <a:srgbClr val="FFFFFF"/>
                </a:solidFill>
                <a:latin typeface="Courier New" pitchFamily="34" charset="0"/>
                <a:ea typeface="Courier New" pitchFamily="34" charset="-122"/>
                <a:cs typeface="Courier New" pitchFamily="34" charset="-120"/>
              </a:rPr>
              <a:t>02</a:t>
            </a:r>
            <a:endParaRPr lang="en-US" sz="1000" dirty="0"/>
          </a:p>
        </p:txBody>
      </p:sp>
      <p:sp>
        <p:nvSpPr>
          <p:cNvPr id="14" name="Text 12"/>
          <p:cNvSpPr txBox="1"/>
          <p:nvPr/>
        </p:nvSpPr>
        <p:spPr>
          <a:xfrm>
            <a:off x="3436544" y="3346704"/>
            <a:ext cx="2522144" cy="384048"/>
          </a:xfrm>
          <a:prstGeom prst="rect">
            <a:avLst/>
          </a:prstGeom>
          <a:noFill/>
          <a:ln/>
        </p:spPr>
        <p:txBody>
          <a:bodyPr wrap="square" lIns="0" tIns="0" rIns="0" bIns="0" rtlCol="0" anchor="ctr"/>
          <a:lstStyle/>
          <a:p>
            <a:pPr indent="0" marL="0">
              <a:buNone/>
            </a:pPr>
            <a:r>
              <a:rPr lang="en-US" sz="1700" dirty="0">
                <a:solidFill>
                  <a:srgbClr val="161A2B"/>
                </a:solidFill>
                <a:latin typeface="Cambria" pitchFamily="34" charset="0"/>
                <a:ea typeface="Cambria" pitchFamily="34" charset="-122"/>
                <a:cs typeface="Cambria" pitchFamily="34" charset="-120"/>
              </a:rPr>
              <a:t>Repair</a:t>
            </a:r>
            <a:endParaRPr lang="en-US" sz="1700" dirty="0"/>
          </a:p>
        </p:txBody>
      </p:sp>
      <p:sp>
        <p:nvSpPr>
          <p:cNvPr id="15" name="Text 13"/>
          <p:cNvSpPr txBox="1"/>
          <p:nvPr/>
        </p:nvSpPr>
        <p:spPr>
          <a:xfrm>
            <a:off x="3436544" y="3749040"/>
            <a:ext cx="2522144" cy="1371600"/>
          </a:xfrm>
          <a:prstGeom prst="rect">
            <a:avLst/>
          </a:prstGeom>
          <a:noFill/>
          <a:ln/>
        </p:spPr>
        <p:txBody>
          <a:bodyPr wrap="square" lIns="0" tIns="0" rIns="0" bIns="0" rtlCol="0" anchor="t"/>
          <a:lstStyle/>
          <a:p>
            <a:pPr indent="0" marL="0">
              <a:lnSpc>
                <a:spcPct val="118000"/>
              </a:lnSpc>
              <a:buNone/>
            </a:pPr>
            <a:r>
              <a:rPr lang="en-US" sz="1150" dirty="0">
                <a:solidFill>
                  <a:srgbClr val="4A526B"/>
                </a:solidFill>
                <a:latin typeface="Calibri" pitchFamily="34" charset="0"/>
                <a:ea typeface="Calibri" pitchFamily="34" charset="-122"/>
                <a:cs typeface="Calibri" pitchFamily="34" charset="-120"/>
              </a:rPr>
              <a:t>Fix the pages and entity records the answers are built from: schema, canonicals, crawler access, knowledge panels.</a:t>
            </a:r>
            <a:endParaRPr lang="en-US" sz="1150" dirty="0"/>
          </a:p>
        </p:txBody>
      </p:sp>
      <p:sp>
        <p:nvSpPr>
          <p:cNvPr id="16" name="Shape 14"/>
          <p:cNvSpPr/>
          <p:nvPr/>
        </p:nvSpPr>
        <p:spPr>
          <a:xfrm>
            <a:off x="6233008" y="2743200"/>
            <a:ext cx="438912" cy="438912"/>
          </a:xfrm>
          <a:prstGeom prst="ellipse">
            <a:avLst/>
          </a:prstGeom>
          <a:solidFill>
            <a:srgbClr val="1F3FBF"/>
          </a:solidFill>
          <a:ln w="12700">
            <a:solidFill>
              <a:srgbClr val="1F3FBF"/>
            </a:solidFill>
            <a:prstDash val="solid"/>
          </a:ln>
        </p:spPr>
      </p:sp>
      <p:sp>
        <p:nvSpPr>
          <p:cNvPr id="17" name="Text 15"/>
          <p:cNvSpPr txBox="1"/>
          <p:nvPr/>
        </p:nvSpPr>
        <p:spPr>
          <a:xfrm>
            <a:off x="6233008" y="2743200"/>
            <a:ext cx="438912" cy="438912"/>
          </a:xfrm>
          <a:prstGeom prst="rect">
            <a:avLst/>
          </a:prstGeom>
          <a:noFill/>
          <a:ln/>
        </p:spPr>
        <p:txBody>
          <a:bodyPr wrap="square" lIns="0" tIns="0" rIns="0" bIns="0" rtlCol="0" anchor="ctr"/>
          <a:lstStyle/>
          <a:p>
            <a:pPr algn="ctr" indent="0" marL="0">
              <a:buNone/>
            </a:pPr>
            <a:r>
              <a:rPr lang="en-US" sz="1000" b="1" dirty="0">
                <a:solidFill>
                  <a:srgbClr val="FFFFFF"/>
                </a:solidFill>
                <a:latin typeface="Courier New" pitchFamily="34" charset="0"/>
                <a:ea typeface="Courier New" pitchFamily="34" charset="-122"/>
                <a:cs typeface="Courier New" pitchFamily="34" charset="-120"/>
              </a:rPr>
              <a:t>03</a:t>
            </a:r>
            <a:endParaRPr lang="en-US" sz="1000" dirty="0"/>
          </a:p>
        </p:txBody>
      </p:sp>
      <p:sp>
        <p:nvSpPr>
          <p:cNvPr id="18" name="Text 16"/>
          <p:cNvSpPr txBox="1"/>
          <p:nvPr/>
        </p:nvSpPr>
        <p:spPr>
          <a:xfrm>
            <a:off x="6233008" y="3346704"/>
            <a:ext cx="2522144" cy="384048"/>
          </a:xfrm>
          <a:prstGeom prst="rect">
            <a:avLst/>
          </a:prstGeom>
          <a:noFill/>
          <a:ln/>
        </p:spPr>
        <p:txBody>
          <a:bodyPr wrap="square" lIns="0" tIns="0" rIns="0" bIns="0" rtlCol="0" anchor="ctr"/>
          <a:lstStyle/>
          <a:p>
            <a:pPr indent="0" marL="0">
              <a:buNone/>
            </a:pPr>
            <a:r>
              <a:rPr lang="en-US" sz="1700" dirty="0">
                <a:solidFill>
                  <a:srgbClr val="161A2B"/>
                </a:solidFill>
                <a:latin typeface="Cambria" pitchFamily="34" charset="0"/>
                <a:ea typeface="Cambria" pitchFamily="34" charset="-122"/>
                <a:cs typeface="Cambria" pitchFamily="34" charset="-120"/>
              </a:rPr>
              <a:t>Pitch</a:t>
            </a:r>
            <a:endParaRPr lang="en-US" sz="1700" dirty="0"/>
          </a:p>
        </p:txBody>
      </p:sp>
      <p:sp>
        <p:nvSpPr>
          <p:cNvPr id="19" name="Text 17"/>
          <p:cNvSpPr txBox="1"/>
          <p:nvPr/>
        </p:nvSpPr>
        <p:spPr>
          <a:xfrm>
            <a:off x="6233008" y="3749040"/>
            <a:ext cx="2522144" cy="1371600"/>
          </a:xfrm>
          <a:prstGeom prst="rect">
            <a:avLst/>
          </a:prstGeom>
          <a:noFill/>
          <a:ln/>
        </p:spPr>
        <p:txBody>
          <a:bodyPr wrap="square" lIns="0" tIns="0" rIns="0" bIns="0" rtlCol="0" anchor="t"/>
          <a:lstStyle/>
          <a:p>
            <a:pPr indent="0" marL="0">
              <a:lnSpc>
                <a:spcPct val="118000"/>
              </a:lnSpc>
              <a:buNone/>
            </a:pPr>
            <a:r>
              <a:rPr lang="en-US" sz="1150" dirty="0">
                <a:solidFill>
                  <a:srgbClr val="4A526B"/>
                </a:solidFill>
                <a:latin typeface="Calibri" pitchFamily="34" charset="0"/>
                <a:ea typeface="Calibri" pitchFamily="34" charset="-122"/>
                <a:cs typeface="Calibri" pitchFamily="34" charset="-120"/>
              </a:rPr>
              <a:t>Put the founder and the record in front of the press the engines quote, so the citations exist.</a:t>
            </a:r>
            <a:endParaRPr lang="en-US" sz="1150" dirty="0"/>
          </a:p>
        </p:txBody>
      </p:sp>
      <p:sp>
        <p:nvSpPr>
          <p:cNvPr id="20" name="Shape 18"/>
          <p:cNvSpPr/>
          <p:nvPr/>
        </p:nvSpPr>
        <p:spPr>
          <a:xfrm>
            <a:off x="9029471" y="2743200"/>
            <a:ext cx="438912" cy="438912"/>
          </a:xfrm>
          <a:prstGeom prst="ellipse">
            <a:avLst/>
          </a:prstGeom>
          <a:solidFill>
            <a:srgbClr val="1F3FBF"/>
          </a:solidFill>
          <a:ln w="12700">
            <a:solidFill>
              <a:srgbClr val="1F3FBF"/>
            </a:solidFill>
            <a:prstDash val="solid"/>
          </a:ln>
        </p:spPr>
      </p:sp>
      <p:sp>
        <p:nvSpPr>
          <p:cNvPr id="21" name="Text 19"/>
          <p:cNvSpPr txBox="1"/>
          <p:nvPr/>
        </p:nvSpPr>
        <p:spPr>
          <a:xfrm>
            <a:off x="9029471" y="2743200"/>
            <a:ext cx="438912" cy="438912"/>
          </a:xfrm>
          <a:prstGeom prst="rect">
            <a:avLst/>
          </a:prstGeom>
          <a:noFill/>
          <a:ln/>
        </p:spPr>
        <p:txBody>
          <a:bodyPr wrap="square" lIns="0" tIns="0" rIns="0" bIns="0" rtlCol="0" anchor="ctr"/>
          <a:lstStyle/>
          <a:p>
            <a:pPr algn="ctr" indent="0" marL="0">
              <a:buNone/>
            </a:pPr>
            <a:r>
              <a:rPr lang="en-US" sz="1000" b="1" dirty="0">
                <a:solidFill>
                  <a:srgbClr val="FFFFFF"/>
                </a:solidFill>
                <a:latin typeface="Courier New" pitchFamily="34" charset="0"/>
                <a:ea typeface="Courier New" pitchFamily="34" charset="-122"/>
                <a:cs typeface="Courier New" pitchFamily="34" charset="-120"/>
              </a:rPr>
              <a:t>04</a:t>
            </a:r>
            <a:endParaRPr lang="en-US" sz="1000" dirty="0"/>
          </a:p>
        </p:txBody>
      </p:sp>
      <p:sp>
        <p:nvSpPr>
          <p:cNvPr id="22" name="Text 20"/>
          <p:cNvSpPr txBox="1"/>
          <p:nvPr/>
        </p:nvSpPr>
        <p:spPr>
          <a:xfrm>
            <a:off x="9029471" y="3346704"/>
            <a:ext cx="2522144" cy="384048"/>
          </a:xfrm>
          <a:prstGeom prst="rect">
            <a:avLst/>
          </a:prstGeom>
          <a:noFill/>
          <a:ln/>
        </p:spPr>
        <p:txBody>
          <a:bodyPr wrap="square" lIns="0" tIns="0" rIns="0" bIns="0" rtlCol="0" anchor="ctr"/>
          <a:lstStyle/>
          <a:p>
            <a:pPr indent="0" marL="0">
              <a:buNone/>
            </a:pPr>
            <a:r>
              <a:rPr lang="en-US" sz="1700" dirty="0">
                <a:solidFill>
                  <a:srgbClr val="161A2B"/>
                </a:solidFill>
                <a:latin typeface="Cambria" pitchFamily="34" charset="0"/>
                <a:ea typeface="Cambria" pitchFamily="34" charset="-122"/>
                <a:cs typeface="Cambria" pitchFamily="34" charset="-120"/>
              </a:rPr>
              <a:t>Date</a:t>
            </a:r>
            <a:endParaRPr lang="en-US" sz="1700" dirty="0"/>
          </a:p>
        </p:txBody>
      </p:sp>
      <p:sp>
        <p:nvSpPr>
          <p:cNvPr id="23" name="Text 21"/>
          <p:cNvSpPr txBox="1"/>
          <p:nvPr/>
        </p:nvSpPr>
        <p:spPr>
          <a:xfrm>
            <a:off x="9029471" y="3749040"/>
            <a:ext cx="2522144" cy="1371600"/>
          </a:xfrm>
          <a:prstGeom prst="rect">
            <a:avLst/>
          </a:prstGeom>
          <a:noFill/>
          <a:ln/>
        </p:spPr>
        <p:txBody>
          <a:bodyPr wrap="square" lIns="0" tIns="0" rIns="0" bIns="0" rtlCol="0" anchor="t"/>
          <a:lstStyle/>
          <a:p>
            <a:pPr indent="0" marL="0">
              <a:lnSpc>
                <a:spcPct val="118000"/>
              </a:lnSpc>
              <a:buNone/>
            </a:pPr>
            <a:r>
              <a:rPr lang="en-US" sz="1150" dirty="0">
                <a:solidFill>
                  <a:srgbClr val="4A526B"/>
                </a:solidFill>
                <a:latin typeface="Calibri" pitchFamily="34" charset="0"/>
                <a:ea typeface="Calibri" pitchFamily="34" charset="-122"/>
                <a:cs typeface="Calibri" pitchFamily="34" charset="-120"/>
              </a:rPr>
              <a:t>Re-capture on a schedule. Every public claim links to a receipt a reader can open.</a:t>
            </a:r>
            <a:endParaRPr lang="en-US" sz="1150" dirty="0"/>
          </a:p>
        </p:txBody>
      </p:sp>
      <p:sp>
        <p:nvSpPr>
          <p:cNvPr id="24" name="Shape 22"/>
          <p:cNvSpPr/>
          <p:nvPr/>
        </p:nvSpPr>
        <p:spPr>
          <a:xfrm>
            <a:off x="640080" y="5257800"/>
            <a:ext cx="10911535" cy="0"/>
          </a:xfrm>
          <a:prstGeom prst="line">
            <a:avLst/>
          </a:prstGeom>
          <a:noFill/>
          <a:ln w="9525">
            <a:solidFill>
              <a:srgbClr val="D6DCF0"/>
            </a:solidFill>
            <a:prstDash val="solid"/>
          </a:ln>
        </p:spPr>
      </p:sp>
      <p:sp>
        <p:nvSpPr>
          <p:cNvPr id="25" name="Text 23"/>
          <p:cNvSpPr txBox="1"/>
          <p:nvPr/>
        </p:nvSpPr>
        <p:spPr>
          <a:xfrm>
            <a:off x="640080" y="5440680"/>
            <a:ext cx="8229600" cy="274320"/>
          </a:xfrm>
          <a:prstGeom prst="rect">
            <a:avLst/>
          </a:prstGeom>
          <a:noFill/>
          <a:ln/>
        </p:spPr>
        <p:txBody>
          <a:bodyPr wrap="square" lIns="0" tIns="0" rIns="0" bIns="0" rtlCol="0" anchor="t"/>
          <a:lstStyle/>
          <a:p>
            <a:pPr algn="l" indent="0" marL="0">
              <a:lnSpc>
                <a:spcPct val="125000"/>
              </a:lnSpc>
              <a:buNone/>
            </a:pPr>
            <a:r>
              <a:rPr lang="en-US" sz="1000" dirty="0">
                <a:solidFill>
                  <a:srgbClr val="1F3FBF"/>
                </a:solidFill>
                <a:latin typeface="Courier New" pitchFamily="34" charset="0"/>
                <a:ea typeface="Courier New" pitchFamily="34" charset="-122"/>
                <a:cs typeface="Courier New" pitchFamily="34" charset="-120"/>
              </a:rPr>
              <a:t>Also live: optimize.suedeai.ai, the free crawler-access check for any site.</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6400800"/>
            <a:ext cx="8686800" cy="228600"/>
          </a:xfrm>
          <a:prstGeom prst="rect">
            <a:avLst/>
          </a:prstGeom>
          <a:noFill/>
          <a:ln/>
        </p:spPr>
        <p:txBody>
          <a:bodyPr wrap="square" lIns="0" tIns="0" rIns="0" bIns="0" rtlCol="0" anchor="ctr"/>
          <a:lstStyle/>
          <a:p>
            <a:pPr indent="0" marL="0">
              <a:buNone/>
            </a:pPr>
            <a:r>
              <a:rPr lang="en-US" sz="850" spc="100" kern="0" dirty="0">
                <a:solidFill>
                  <a:srgbClr val="C3CBEA"/>
                </a:solidFill>
                <a:latin typeface="Courier New" pitchFamily="34" charset="0"/>
                <a:ea typeface="Courier New" pitchFamily="34" charset="-122"/>
                <a:cs typeface="Courier New" pitchFamily="34" charset="-120"/>
              </a:rPr>
              <a:t>SUEDE SEO · SEO.SUEDEAI.AI · FULL-STACK GEO &amp; AI ENGINEERING</a:t>
            </a:r>
            <a:endParaRPr lang="en-US" sz="850" dirty="0"/>
          </a:p>
        </p:txBody>
      </p:sp>
      <p:sp>
        <p:nvSpPr>
          <p:cNvPr id="3" name="Text 1"/>
          <p:cNvSpPr txBox="1"/>
          <p:nvPr/>
        </p:nvSpPr>
        <p:spPr>
          <a:xfrm>
            <a:off x="10637215" y="6400800"/>
            <a:ext cx="914400" cy="228600"/>
          </a:xfrm>
          <a:prstGeom prst="rect">
            <a:avLst/>
          </a:prstGeom>
          <a:noFill/>
          <a:ln/>
        </p:spPr>
        <p:txBody>
          <a:bodyPr wrap="square" lIns="0" tIns="0" rIns="0" bIns="0" rtlCol="0" anchor="ctr"/>
          <a:lstStyle/>
          <a:p>
            <a:pPr algn="r" indent="0" marL="0">
              <a:buNone/>
            </a:pPr>
            <a:r>
              <a:rPr lang="en-US" sz="850" dirty="0">
                <a:solidFill>
                  <a:srgbClr val="C3CBEA"/>
                </a:solidFill>
                <a:latin typeface="Courier New" pitchFamily="34" charset="0"/>
                <a:ea typeface="Courier New" pitchFamily="34" charset="-122"/>
                <a:cs typeface="Courier New" pitchFamily="34" charset="-120"/>
              </a:rPr>
              <a:t>05</a:t>
            </a:r>
            <a:endParaRPr lang="en-US" sz="850" dirty="0"/>
          </a:p>
        </p:txBody>
      </p:sp>
      <p:sp>
        <p:nvSpPr>
          <p:cNvPr id="4" name="Text 2"/>
          <p:cNvSpPr txBox="1"/>
          <p:nvPr/>
        </p:nvSpPr>
        <p:spPr>
          <a:xfrm>
            <a:off x="640080" y="548640"/>
            <a:ext cx="9144000" cy="256032"/>
          </a:xfrm>
          <a:prstGeom prst="rect">
            <a:avLst/>
          </a:prstGeom>
          <a:noFill/>
          <a:ln/>
        </p:spPr>
        <p:txBody>
          <a:bodyPr wrap="square" lIns="0" tIns="0" rIns="0" bIns="0" rtlCol="0" anchor="ctr"/>
          <a:lstStyle/>
          <a:p>
            <a:pPr indent="0" marL="0">
              <a:buNone/>
            </a:pPr>
            <a:r>
              <a:rPr lang="en-US" sz="950" spc="250" kern="0" dirty="0">
                <a:solidFill>
                  <a:srgbClr val="7C9BFF"/>
                </a:solidFill>
                <a:latin typeface="Courier New" pitchFamily="34" charset="0"/>
                <a:ea typeface="Courier New" pitchFamily="34" charset="-122"/>
                <a:cs typeface="Courier New" pitchFamily="34" charset="-120"/>
              </a:rPr>
              <a:t>04 — THE OTHER HALF OF THE PRACTICE</a:t>
            </a:r>
            <a:endParaRPr lang="en-US" sz="950" dirty="0"/>
          </a:p>
        </p:txBody>
      </p:sp>
      <p:sp>
        <p:nvSpPr>
          <p:cNvPr id="5" name="Text 3"/>
          <p:cNvSpPr txBox="1"/>
          <p:nvPr/>
        </p:nvSpPr>
        <p:spPr>
          <a:xfrm>
            <a:off x="640080" y="868680"/>
            <a:ext cx="9601200" cy="929640"/>
          </a:xfrm>
          <a:prstGeom prst="rect">
            <a:avLst/>
          </a:prstGeom>
          <a:noFill/>
          <a:ln/>
        </p:spPr>
        <p:txBody>
          <a:bodyPr wrap="square" lIns="0" tIns="0" rIns="0" bIns="0" rtlCol="0" anchor="t"/>
          <a:lstStyle/>
          <a:p>
            <a:pPr algn="l" indent="0" marL="0">
              <a:lnSpc>
                <a:spcPct val="105000"/>
              </a:lnSpc>
              <a:buNone/>
            </a:pPr>
            <a:r>
              <a:rPr lang="en-US" sz="3000" dirty="0">
                <a:solidFill>
                  <a:srgbClr val="F4F5F9"/>
                </a:solidFill>
                <a:latin typeface="Cambria" pitchFamily="34" charset="0"/>
                <a:ea typeface="Cambria" pitchFamily="34" charset="-122"/>
                <a:cs typeface="Cambria" pitchFamily="34" charset="-120"/>
              </a:rPr>
              <a:t>AI agent management, watched live while the work runs.</a:t>
            </a:r>
            <a:endParaRPr lang="en-US" sz="3000" dirty="0"/>
          </a:p>
        </p:txBody>
      </p:sp>
      <p:sp>
        <p:nvSpPr>
          <p:cNvPr id="6" name="Text 4"/>
          <p:cNvSpPr txBox="1"/>
          <p:nvPr/>
        </p:nvSpPr>
        <p:spPr>
          <a:xfrm>
            <a:off x="640080" y="2148840"/>
            <a:ext cx="4937760" cy="2011680"/>
          </a:xfrm>
          <a:prstGeom prst="rect">
            <a:avLst/>
          </a:prstGeom>
          <a:noFill/>
          <a:ln/>
        </p:spPr>
        <p:txBody>
          <a:bodyPr wrap="square" lIns="0" tIns="0" rIns="0" bIns="0" rtlCol="0" anchor="t"/>
          <a:lstStyle/>
          <a:p>
            <a:pPr algn="l" indent="0" marL="0">
              <a:lnSpc>
                <a:spcPct val="120000"/>
              </a:lnSpc>
              <a:buNone/>
            </a:pPr>
            <a:r>
              <a:rPr lang="en-US" sz="1350" dirty="0">
                <a:solidFill>
                  <a:srgbClr val="C3CBEA"/>
                </a:solidFill>
                <a:latin typeface="Calibri" pitchFamily="34" charset="0"/>
                <a:ea typeface="Calibri" pitchFamily="34" charset="-122"/>
                <a:cs typeface="Calibri" pitchFamily="34" charset="-120"/>
              </a:rPr>
              <a:t>Clients watch it run in real time without having to adjust or touch anything. Their job is watching; Suede runs the rest. An operator's practice, not a licence: the call centers Jason built, ran and exited, and the sales scripts still in use across that industry, are encoded into the agents.</a:t>
            </a:r>
            <a:endParaRPr lang="en-US" sz="1350" dirty="0"/>
          </a:p>
        </p:txBody>
      </p:sp>
      <p:sp>
        <p:nvSpPr>
          <p:cNvPr id="7" name="Shape 5"/>
          <p:cNvSpPr/>
          <p:nvPr/>
        </p:nvSpPr>
        <p:spPr>
          <a:xfrm>
            <a:off x="5943600" y="2011680"/>
            <a:ext cx="2788920" cy="1874520"/>
          </a:xfrm>
          <a:prstGeom prst="roundRect">
            <a:avLst>
              <a:gd name="adj" fmla="val 5854"/>
            </a:avLst>
          </a:prstGeom>
          <a:solidFill>
            <a:srgbClr val="182452"/>
          </a:solidFill>
          <a:ln w="9525">
            <a:solidFill>
              <a:srgbClr val="34437F"/>
            </a:solidFill>
            <a:prstDash val="solid"/>
          </a:ln>
          <a:effectLst>
            <a:outerShdw sx="100000" sy="100000" kx="0" ky="0" algn="bl" rotWithShape="0" blurRad="152400" dist="38100" dir="5400000">
              <a:srgbClr val="000000">
                <a:alpha val="35000"/>
              </a:srgbClr>
            </a:outerShdw>
          </a:effectLst>
        </p:spPr>
      </p:sp>
      <p:sp>
        <p:nvSpPr>
          <p:cNvPr id="8" name="Text 6"/>
          <p:cNvSpPr txBox="1"/>
          <p:nvPr/>
        </p:nvSpPr>
        <p:spPr>
          <a:xfrm>
            <a:off x="6199632" y="2267712"/>
            <a:ext cx="2276856" cy="201168"/>
          </a:xfrm>
          <a:prstGeom prst="rect">
            <a:avLst/>
          </a:prstGeom>
          <a:noFill/>
          <a:ln/>
        </p:spPr>
        <p:txBody>
          <a:bodyPr wrap="square" lIns="0" tIns="0" rIns="0" bIns="0" rtlCol="0" anchor="ctr"/>
          <a:lstStyle/>
          <a:p>
            <a:pPr indent="0" marL="0">
              <a:buNone/>
            </a:pPr>
            <a:r>
              <a:rPr lang="en-US" sz="850" spc="200" kern="0" dirty="0">
                <a:solidFill>
                  <a:srgbClr val="7C9BFF"/>
                </a:solidFill>
                <a:latin typeface="Courier New" pitchFamily="34" charset="0"/>
                <a:ea typeface="Courier New" pitchFamily="34" charset="-122"/>
                <a:cs typeface="Courier New" pitchFamily="34" charset="-120"/>
              </a:rPr>
              <a:t>AGENTS</a:t>
            </a:r>
            <a:endParaRPr lang="en-US" sz="850" dirty="0"/>
          </a:p>
        </p:txBody>
      </p:sp>
      <p:sp>
        <p:nvSpPr>
          <p:cNvPr id="9" name="Text 7"/>
          <p:cNvSpPr txBox="1"/>
          <p:nvPr/>
        </p:nvSpPr>
        <p:spPr>
          <a:xfrm>
            <a:off x="6199632" y="2578608"/>
            <a:ext cx="2276856" cy="287274"/>
          </a:xfrm>
          <a:prstGeom prst="rect">
            <a:avLst/>
          </a:prstGeom>
          <a:noFill/>
          <a:ln/>
        </p:spPr>
        <p:txBody>
          <a:bodyPr wrap="square" lIns="0" tIns="0" rIns="0" bIns="0" rtlCol="0" anchor="t"/>
          <a:lstStyle/>
          <a:p>
            <a:pPr indent="0" marL="0">
              <a:buNone/>
            </a:pPr>
            <a:r>
              <a:rPr lang="en-US" sz="1500" dirty="0">
                <a:solidFill>
                  <a:srgbClr val="F4F5F9"/>
                </a:solidFill>
                <a:latin typeface="Cambria" pitchFamily="34" charset="0"/>
                <a:ea typeface="Cambria" pitchFamily="34" charset="-122"/>
                <a:cs typeface="Cambria" pitchFamily="34" charset="-120"/>
              </a:rPr>
              <a:t>Managed AI agents</a:t>
            </a:r>
            <a:endParaRPr lang="en-US" sz="1500" dirty="0"/>
          </a:p>
        </p:txBody>
      </p:sp>
      <p:sp>
        <p:nvSpPr>
          <p:cNvPr id="10" name="Text 8"/>
          <p:cNvSpPr txBox="1"/>
          <p:nvPr/>
        </p:nvSpPr>
        <p:spPr>
          <a:xfrm>
            <a:off x="6199632" y="2939034"/>
            <a:ext cx="2276856" cy="745998"/>
          </a:xfrm>
          <a:prstGeom prst="rect">
            <a:avLst/>
          </a:prstGeom>
          <a:noFill/>
          <a:ln/>
        </p:spPr>
        <p:txBody>
          <a:bodyPr wrap="square" lIns="0" tIns="0" rIns="0" bIns="0" rtlCol="0" anchor="t"/>
          <a:lstStyle/>
          <a:p>
            <a:pPr indent="0" marL="0">
              <a:lnSpc>
                <a:spcPct val="118000"/>
              </a:lnSpc>
              <a:buNone/>
            </a:pPr>
            <a:r>
              <a:rPr lang="en-US" sz="1050" dirty="0">
                <a:solidFill>
                  <a:srgbClr val="C3CBEA"/>
                </a:solidFill>
                <a:latin typeface="Calibri" pitchFamily="34" charset="0"/>
                <a:ea typeface="Calibri" pitchFamily="34" charset="-122"/>
                <a:cs typeface="Calibri" pitchFamily="34" charset="-120"/>
              </a:rPr>
              <a:t>Call review, lead qualification, script and rebuttal consistency, PR rebuilds. Visible step by step while a run happens.</a:t>
            </a:r>
            <a:endParaRPr lang="en-US" sz="1050" dirty="0"/>
          </a:p>
        </p:txBody>
      </p:sp>
      <p:sp>
        <p:nvSpPr>
          <p:cNvPr id="11" name="Shape 9"/>
          <p:cNvSpPr/>
          <p:nvPr/>
        </p:nvSpPr>
        <p:spPr>
          <a:xfrm>
            <a:off x="8933688" y="2011680"/>
            <a:ext cx="2788920" cy="1874520"/>
          </a:xfrm>
          <a:prstGeom prst="roundRect">
            <a:avLst>
              <a:gd name="adj" fmla="val 5854"/>
            </a:avLst>
          </a:prstGeom>
          <a:solidFill>
            <a:srgbClr val="182452"/>
          </a:solidFill>
          <a:ln w="9525">
            <a:solidFill>
              <a:srgbClr val="34437F"/>
            </a:solidFill>
            <a:prstDash val="solid"/>
          </a:ln>
          <a:effectLst>
            <a:outerShdw sx="100000" sy="100000" kx="0" ky="0" algn="bl" rotWithShape="0" blurRad="152400" dist="38100" dir="5400000">
              <a:srgbClr val="000000">
                <a:alpha val="35000"/>
              </a:srgbClr>
            </a:outerShdw>
          </a:effectLst>
        </p:spPr>
      </p:sp>
      <p:sp>
        <p:nvSpPr>
          <p:cNvPr id="12" name="Text 10"/>
          <p:cNvSpPr txBox="1"/>
          <p:nvPr/>
        </p:nvSpPr>
        <p:spPr>
          <a:xfrm>
            <a:off x="9189720" y="2267712"/>
            <a:ext cx="2276856" cy="201168"/>
          </a:xfrm>
          <a:prstGeom prst="rect">
            <a:avLst/>
          </a:prstGeom>
          <a:noFill/>
          <a:ln/>
        </p:spPr>
        <p:txBody>
          <a:bodyPr wrap="square" lIns="0" tIns="0" rIns="0" bIns="0" rtlCol="0" anchor="ctr"/>
          <a:lstStyle/>
          <a:p>
            <a:pPr indent="0" marL="0">
              <a:buNone/>
            </a:pPr>
            <a:r>
              <a:rPr lang="en-US" sz="850" spc="200" kern="0" dirty="0">
                <a:solidFill>
                  <a:srgbClr val="7C9BFF"/>
                </a:solidFill>
                <a:latin typeface="Courier New" pitchFamily="34" charset="0"/>
                <a:ea typeface="Courier New" pitchFamily="34" charset="-122"/>
                <a:cs typeface="Courier New" pitchFamily="34" charset="-120"/>
              </a:rPr>
              <a:t>OPS</a:t>
            </a:r>
            <a:endParaRPr lang="en-US" sz="850" dirty="0"/>
          </a:p>
        </p:txBody>
      </p:sp>
      <p:sp>
        <p:nvSpPr>
          <p:cNvPr id="13" name="Text 11"/>
          <p:cNvSpPr txBox="1"/>
          <p:nvPr/>
        </p:nvSpPr>
        <p:spPr>
          <a:xfrm>
            <a:off x="9189720" y="2578608"/>
            <a:ext cx="2276856" cy="287274"/>
          </a:xfrm>
          <a:prstGeom prst="rect">
            <a:avLst/>
          </a:prstGeom>
          <a:noFill/>
          <a:ln/>
        </p:spPr>
        <p:txBody>
          <a:bodyPr wrap="square" lIns="0" tIns="0" rIns="0" bIns="0" rtlCol="0" anchor="t"/>
          <a:lstStyle/>
          <a:p>
            <a:pPr indent="0" marL="0">
              <a:buNone/>
            </a:pPr>
            <a:r>
              <a:rPr lang="en-US" sz="1500" dirty="0">
                <a:solidFill>
                  <a:srgbClr val="F4F5F9"/>
                </a:solidFill>
                <a:latin typeface="Cambria" pitchFamily="34" charset="0"/>
                <a:ea typeface="Cambria" pitchFamily="34" charset="-122"/>
                <a:cs typeface="Cambria" pitchFamily="34" charset="-120"/>
              </a:rPr>
              <a:t>AI operations</a:t>
            </a:r>
            <a:endParaRPr lang="en-US" sz="1500" dirty="0"/>
          </a:p>
        </p:txBody>
      </p:sp>
      <p:sp>
        <p:nvSpPr>
          <p:cNvPr id="14" name="Text 12"/>
          <p:cNvSpPr txBox="1"/>
          <p:nvPr/>
        </p:nvSpPr>
        <p:spPr>
          <a:xfrm>
            <a:off x="9189720" y="2939034"/>
            <a:ext cx="2276856" cy="745998"/>
          </a:xfrm>
          <a:prstGeom prst="rect">
            <a:avLst/>
          </a:prstGeom>
          <a:noFill/>
          <a:ln/>
        </p:spPr>
        <p:txBody>
          <a:bodyPr wrap="square" lIns="0" tIns="0" rIns="0" bIns="0" rtlCol="0" anchor="t"/>
          <a:lstStyle/>
          <a:p>
            <a:pPr indent="0" marL="0">
              <a:lnSpc>
                <a:spcPct val="118000"/>
              </a:lnSpc>
              <a:buNone/>
            </a:pPr>
            <a:r>
              <a:rPr lang="en-US" sz="1050" dirty="0">
                <a:solidFill>
                  <a:srgbClr val="C3CBEA"/>
                </a:solidFill>
                <a:latin typeface="Calibri" pitchFamily="34" charset="0"/>
                <a:ea typeface="Calibri" pitchFamily="34" charset="-122"/>
                <a:cs typeface="Calibri" pitchFamily="34" charset="-120"/>
              </a:rPr>
              <a:t>Digital operations mapped lane by lane, bottleneck fixes first. Guardrails, owners, trackable KPIs.</a:t>
            </a:r>
            <a:endParaRPr lang="en-US" sz="1050" dirty="0"/>
          </a:p>
        </p:txBody>
      </p:sp>
      <p:sp>
        <p:nvSpPr>
          <p:cNvPr id="15" name="Shape 13"/>
          <p:cNvSpPr/>
          <p:nvPr/>
        </p:nvSpPr>
        <p:spPr>
          <a:xfrm>
            <a:off x="5943600" y="4087368"/>
            <a:ext cx="2788920" cy="1874520"/>
          </a:xfrm>
          <a:prstGeom prst="roundRect">
            <a:avLst>
              <a:gd name="adj" fmla="val 5854"/>
            </a:avLst>
          </a:prstGeom>
          <a:solidFill>
            <a:srgbClr val="182452"/>
          </a:solidFill>
          <a:ln w="9525">
            <a:solidFill>
              <a:srgbClr val="34437F"/>
            </a:solidFill>
            <a:prstDash val="solid"/>
          </a:ln>
          <a:effectLst>
            <a:outerShdw sx="100000" sy="100000" kx="0" ky="0" algn="bl" rotWithShape="0" blurRad="152400" dist="38100" dir="5400000">
              <a:srgbClr val="000000">
                <a:alpha val="35000"/>
              </a:srgbClr>
            </a:outerShdw>
          </a:effectLst>
        </p:spPr>
      </p:sp>
      <p:sp>
        <p:nvSpPr>
          <p:cNvPr id="16" name="Text 14"/>
          <p:cNvSpPr txBox="1"/>
          <p:nvPr/>
        </p:nvSpPr>
        <p:spPr>
          <a:xfrm>
            <a:off x="6199632" y="4343400"/>
            <a:ext cx="2276856" cy="201168"/>
          </a:xfrm>
          <a:prstGeom prst="rect">
            <a:avLst/>
          </a:prstGeom>
          <a:noFill/>
          <a:ln/>
        </p:spPr>
        <p:txBody>
          <a:bodyPr wrap="square" lIns="0" tIns="0" rIns="0" bIns="0" rtlCol="0" anchor="ctr"/>
          <a:lstStyle/>
          <a:p>
            <a:pPr indent="0" marL="0">
              <a:buNone/>
            </a:pPr>
            <a:r>
              <a:rPr lang="en-US" sz="850" spc="200" kern="0" dirty="0">
                <a:solidFill>
                  <a:srgbClr val="7C9BFF"/>
                </a:solidFill>
                <a:latin typeface="Courier New" pitchFamily="34" charset="0"/>
                <a:ea typeface="Courier New" pitchFamily="34" charset="-122"/>
                <a:cs typeface="Courier New" pitchFamily="34" charset="-120"/>
              </a:rPr>
              <a:t>PEOPLE</a:t>
            </a:r>
            <a:endParaRPr lang="en-US" sz="850" dirty="0"/>
          </a:p>
        </p:txBody>
      </p:sp>
      <p:sp>
        <p:nvSpPr>
          <p:cNvPr id="17" name="Text 15"/>
          <p:cNvSpPr txBox="1"/>
          <p:nvPr/>
        </p:nvSpPr>
        <p:spPr>
          <a:xfrm>
            <a:off x="6199632" y="4654296"/>
            <a:ext cx="2276856" cy="519684"/>
          </a:xfrm>
          <a:prstGeom prst="rect">
            <a:avLst/>
          </a:prstGeom>
          <a:noFill/>
          <a:ln/>
        </p:spPr>
        <p:txBody>
          <a:bodyPr wrap="square" lIns="0" tIns="0" rIns="0" bIns="0" rtlCol="0" anchor="t"/>
          <a:lstStyle/>
          <a:p>
            <a:pPr indent="0" marL="0">
              <a:buNone/>
            </a:pPr>
            <a:r>
              <a:rPr lang="en-US" sz="1500" dirty="0">
                <a:solidFill>
                  <a:srgbClr val="F4F5F9"/>
                </a:solidFill>
                <a:latin typeface="Cambria" pitchFamily="34" charset="0"/>
                <a:ea typeface="Cambria" pitchFamily="34" charset="-122"/>
                <a:cs typeface="Cambria" pitchFamily="34" charset="-120"/>
              </a:rPr>
              <a:t>Human amplification</a:t>
            </a:r>
            <a:endParaRPr lang="en-US" sz="1500" dirty="0"/>
          </a:p>
        </p:txBody>
      </p:sp>
      <p:sp>
        <p:nvSpPr>
          <p:cNvPr id="18" name="Text 16"/>
          <p:cNvSpPr txBox="1"/>
          <p:nvPr/>
        </p:nvSpPr>
        <p:spPr>
          <a:xfrm>
            <a:off x="6199632" y="5247132"/>
            <a:ext cx="2276856" cy="513588"/>
          </a:xfrm>
          <a:prstGeom prst="rect">
            <a:avLst/>
          </a:prstGeom>
          <a:noFill/>
          <a:ln/>
        </p:spPr>
        <p:txBody>
          <a:bodyPr wrap="square" lIns="0" tIns="0" rIns="0" bIns="0" rtlCol="0" anchor="t"/>
          <a:lstStyle/>
          <a:p>
            <a:pPr indent="0" marL="0">
              <a:lnSpc>
                <a:spcPct val="118000"/>
              </a:lnSpc>
              <a:buNone/>
            </a:pPr>
            <a:r>
              <a:rPr lang="en-US" sz="1050" dirty="0">
                <a:solidFill>
                  <a:srgbClr val="C3CBEA"/>
                </a:solidFill>
                <a:latin typeface="Calibri" pitchFamily="34" charset="0"/>
                <a:ea typeface="Calibri" pitchFamily="34" charset="-122"/>
                <a:cs typeface="Calibri" pitchFamily="34" charset="-120"/>
              </a:rPr>
              <a:t>A platform of human marketers who read a client's content and carry it into the feeds their own audiences sit in.</a:t>
            </a:r>
            <a:endParaRPr lang="en-US" sz="1050" dirty="0"/>
          </a:p>
        </p:txBody>
      </p:sp>
      <p:sp>
        <p:nvSpPr>
          <p:cNvPr id="19" name="Shape 17"/>
          <p:cNvSpPr/>
          <p:nvPr/>
        </p:nvSpPr>
        <p:spPr>
          <a:xfrm>
            <a:off x="8933688" y="4087368"/>
            <a:ext cx="2788920" cy="1874520"/>
          </a:xfrm>
          <a:prstGeom prst="roundRect">
            <a:avLst>
              <a:gd name="adj" fmla="val 5854"/>
            </a:avLst>
          </a:prstGeom>
          <a:solidFill>
            <a:srgbClr val="182452"/>
          </a:solidFill>
          <a:ln w="9525">
            <a:solidFill>
              <a:srgbClr val="34437F"/>
            </a:solidFill>
            <a:prstDash val="solid"/>
          </a:ln>
          <a:effectLst>
            <a:outerShdw sx="100000" sy="100000" kx="0" ky="0" algn="bl" rotWithShape="0" blurRad="152400" dist="38100" dir="5400000">
              <a:srgbClr val="000000">
                <a:alpha val="35000"/>
              </a:srgbClr>
            </a:outerShdw>
          </a:effectLst>
        </p:spPr>
      </p:sp>
      <p:sp>
        <p:nvSpPr>
          <p:cNvPr id="20" name="Text 18"/>
          <p:cNvSpPr txBox="1"/>
          <p:nvPr/>
        </p:nvSpPr>
        <p:spPr>
          <a:xfrm>
            <a:off x="9189720" y="4343400"/>
            <a:ext cx="2276856" cy="201168"/>
          </a:xfrm>
          <a:prstGeom prst="rect">
            <a:avLst/>
          </a:prstGeom>
          <a:noFill/>
          <a:ln/>
        </p:spPr>
        <p:txBody>
          <a:bodyPr wrap="square" lIns="0" tIns="0" rIns="0" bIns="0" rtlCol="0" anchor="ctr"/>
          <a:lstStyle/>
          <a:p>
            <a:pPr indent="0" marL="0">
              <a:buNone/>
            </a:pPr>
            <a:r>
              <a:rPr lang="en-US" sz="850" spc="200" kern="0" dirty="0">
                <a:solidFill>
                  <a:srgbClr val="7C9BFF"/>
                </a:solidFill>
                <a:latin typeface="Courier New" pitchFamily="34" charset="0"/>
                <a:ea typeface="Courier New" pitchFamily="34" charset="-122"/>
                <a:cs typeface="Courier New" pitchFamily="34" charset="-120"/>
              </a:rPr>
              <a:t>FDE</a:t>
            </a:r>
            <a:endParaRPr lang="en-US" sz="850" dirty="0"/>
          </a:p>
        </p:txBody>
      </p:sp>
      <p:sp>
        <p:nvSpPr>
          <p:cNvPr id="21" name="Text 19"/>
          <p:cNvSpPr txBox="1"/>
          <p:nvPr/>
        </p:nvSpPr>
        <p:spPr>
          <a:xfrm>
            <a:off x="9189720" y="4654296"/>
            <a:ext cx="2276856" cy="519684"/>
          </a:xfrm>
          <a:prstGeom prst="rect">
            <a:avLst/>
          </a:prstGeom>
          <a:noFill/>
          <a:ln/>
        </p:spPr>
        <p:txBody>
          <a:bodyPr wrap="square" lIns="0" tIns="0" rIns="0" bIns="0" rtlCol="0" anchor="t"/>
          <a:lstStyle/>
          <a:p>
            <a:pPr indent="0" marL="0">
              <a:buNone/>
            </a:pPr>
            <a:r>
              <a:rPr lang="en-US" sz="1500" dirty="0">
                <a:solidFill>
                  <a:srgbClr val="F4F5F9"/>
                </a:solidFill>
                <a:latin typeface="Cambria" pitchFamily="34" charset="0"/>
                <a:ea typeface="Cambria" pitchFamily="34" charset="-122"/>
                <a:cs typeface="Cambria" pitchFamily="34" charset="-120"/>
              </a:rPr>
              <a:t>Forward deployed engineer</a:t>
            </a:r>
            <a:endParaRPr lang="en-US" sz="1500" dirty="0"/>
          </a:p>
        </p:txBody>
      </p:sp>
      <p:sp>
        <p:nvSpPr>
          <p:cNvPr id="22" name="Text 20"/>
          <p:cNvSpPr txBox="1"/>
          <p:nvPr/>
        </p:nvSpPr>
        <p:spPr>
          <a:xfrm>
            <a:off x="9189720" y="5247132"/>
            <a:ext cx="2276856" cy="513588"/>
          </a:xfrm>
          <a:prstGeom prst="rect">
            <a:avLst/>
          </a:prstGeom>
          <a:noFill/>
          <a:ln/>
        </p:spPr>
        <p:txBody>
          <a:bodyPr wrap="square" lIns="0" tIns="0" rIns="0" bIns="0" rtlCol="0" anchor="t"/>
          <a:lstStyle/>
          <a:p>
            <a:pPr indent="0" marL="0">
              <a:lnSpc>
                <a:spcPct val="118000"/>
              </a:lnSpc>
              <a:buNone/>
            </a:pPr>
            <a:r>
              <a:rPr lang="en-US" sz="1050" dirty="0">
                <a:solidFill>
                  <a:srgbClr val="C3CBEA"/>
                </a:solidFill>
                <a:latin typeface="Calibri" pitchFamily="34" charset="0"/>
                <a:ea typeface="Calibri" pitchFamily="34" charset="-122"/>
                <a:cs typeface="Calibri" pitchFamily="34" charset="-120"/>
              </a:rPr>
              <a:t>Serious triage and redirection on a fixed clock. A ranked list of what to fix, and the fixes.</a:t>
            </a:r>
            <a:endParaRPr lang="en-US" sz="1050" dirty="0"/>
          </a:p>
        </p:txBody>
      </p:sp>
      <p:sp>
        <p:nvSpPr>
          <p:cNvPr id="23" name="Text 21"/>
          <p:cNvSpPr txBox="1"/>
          <p:nvPr/>
        </p:nvSpPr>
        <p:spPr>
          <a:xfrm>
            <a:off x="640080" y="6035040"/>
            <a:ext cx="10972800" cy="274320"/>
          </a:xfrm>
          <a:prstGeom prst="rect">
            <a:avLst/>
          </a:prstGeom>
          <a:noFill/>
          <a:ln/>
        </p:spPr>
        <p:txBody>
          <a:bodyPr wrap="square" lIns="0" tIns="0" rIns="0" bIns="0" rtlCol="0" anchor="t"/>
          <a:lstStyle/>
          <a:p>
            <a:pPr algn="l" indent="0" marL="0">
              <a:lnSpc>
                <a:spcPct val="125000"/>
              </a:lnSpc>
              <a:buNone/>
            </a:pPr>
            <a:r>
              <a:rPr lang="en-US" sz="950" dirty="0">
                <a:solidFill>
                  <a:srgbClr val="3DD6F0"/>
                </a:solidFill>
                <a:latin typeface="Courier New" pitchFamily="34" charset="0"/>
                <a:ea typeface="Courier New" pitchFamily="34" charset="-122"/>
                <a:cs typeface="Courier New" pitchFamily="34" charset="-120"/>
              </a:rPr>
              <a:t>The agents are built and run in Suede Agent Studio, where a client opens a flow and watches it execute.</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6400800"/>
            <a:ext cx="8686800" cy="228600"/>
          </a:xfrm>
          <a:prstGeom prst="rect">
            <a:avLst/>
          </a:prstGeom>
          <a:noFill/>
          <a:ln/>
        </p:spPr>
        <p:txBody>
          <a:bodyPr wrap="square" lIns="0" tIns="0" rIns="0" bIns="0" rtlCol="0" anchor="ctr"/>
          <a:lstStyle/>
          <a:p>
            <a:pPr indent="0" marL="0">
              <a:buNone/>
            </a:pPr>
            <a:r>
              <a:rPr lang="en-US" sz="850" spc="100" kern="0" dirty="0">
                <a:solidFill>
                  <a:srgbClr val="4A526B"/>
                </a:solidFill>
                <a:latin typeface="Courier New" pitchFamily="34" charset="0"/>
                <a:ea typeface="Courier New" pitchFamily="34" charset="-122"/>
                <a:cs typeface="Courier New" pitchFamily="34" charset="-120"/>
              </a:rPr>
              <a:t>SUEDE SEO · SEO.SUEDEAI.AI · FULL-STACK GEO &amp; AI ENGINEERING</a:t>
            </a:r>
            <a:endParaRPr lang="en-US" sz="850" dirty="0"/>
          </a:p>
        </p:txBody>
      </p:sp>
      <p:sp>
        <p:nvSpPr>
          <p:cNvPr id="3" name="Text 1"/>
          <p:cNvSpPr txBox="1"/>
          <p:nvPr/>
        </p:nvSpPr>
        <p:spPr>
          <a:xfrm>
            <a:off x="10637215" y="6400800"/>
            <a:ext cx="914400" cy="228600"/>
          </a:xfrm>
          <a:prstGeom prst="rect">
            <a:avLst/>
          </a:prstGeom>
          <a:noFill/>
          <a:ln/>
        </p:spPr>
        <p:txBody>
          <a:bodyPr wrap="square" lIns="0" tIns="0" rIns="0" bIns="0" rtlCol="0" anchor="ctr"/>
          <a:lstStyle/>
          <a:p>
            <a:pPr algn="r" indent="0" marL="0">
              <a:buNone/>
            </a:pPr>
            <a:r>
              <a:rPr lang="en-US" sz="850" dirty="0">
                <a:solidFill>
                  <a:srgbClr val="4A526B"/>
                </a:solidFill>
                <a:latin typeface="Courier New" pitchFamily="34" charset="0"/>
                <a:ea typeface="Courier New" pitchFamily="34" charset="-122"/>
                <a:cs typeface="Courier New" pitchFamily="34" charset="-120"/>
              </a:rPr>
              <a:t>06</a:t>
            </a:r>
            <a:endParaRPr lang="en-US" sz="850" dirty="0"/>
          </a:p>
        </p:txBody>
      </p:sp>
      <p:sp>
        <p:nvSpPr>
          <p:cNvPr id="4" name="Text 2"/>
          <p:cNvSpPr txBox="1"/>
          <p:nvPr/>
        </p:nvSpPr>
        <p:spPr>
          <a:xfrm>
            <a:off x="640080" y="548640"/>
            <a:ext cx="9144000" cy="256032"/>
          </a:xfrm>
          <a:prstGeom prst="rect">
            <a:avLst/>
          </a:prstGeom>
          <a:noFill/>
          <a:ln/>
        </p:spPr>
        <p:txBody>
          <a:bodyPr wrap="square" lIns="0" tIns="0" rIns="0" bIns="0" rtlCol="0" anchor="ctr"/>
          <a:lstStyle/>
          <a:p>
            <a:pPr indent="0" marL="0">
              <a:buNone/>
            </a:pPr>
            <a:r>
              <a:rPr lang="en-US" sz="950" spc="250" kern="0" dirty="0">
                <a:solidFill>
                  <a:srgbClr val="1F3FBF"/>
                </a:solidFill>
                <a:latin typeface="Courier New" pitchFamily="34" charset="0"/>
                <a:ea typeface="Courier New" pitchFamily="34" charset="-122"/>
                <a:cs typeface="Courier New" pitchFamily="34" charset="-120"/>
              </a:rPr>
              <a:t>05 — THE RECEIPTS</a:t>
            </a:r>
            <a:endParaRPr lang="en-US" sz="950" dirty="0"/>
          </a:p>
        </p:txBody>
      </p:sp>
      <p:sp>
        <p:nvSpPr>
          <p:cNvPr id="5" name="Text 3"/>
          <p:cNvSpPr txBox="1"/>
          <p:nvPr/>
        </p:nvSpPr>
        <p:spPr>
          <a:xfrm>
            <a:off x="640080" y="868680"/>
            <a:ext cx="8229600" cy="468630"/>
          </a:xfrm>
          <a:prstGeom prst="rect">
            <a:avLst/>
          </a:prstGeom>
          <a:noFill/>
          <a:ln/>
        </p:spPr>
        <p:txBody>
          <a:bodyPr wrap="square" lIns="0" tIns="0" rIns="0" bIns="0" rtlCol="0" anchor="t"/>
          <a:lstStyle/>
          <a:p>
            <a:pPr algn="l" indent="0" marL="0">
              <a:lnSpc>
                <a:spcPct val="105000"/>
              </a:lnSpc>
              <a:buNone/>
            </a:pPr>
            <a:r>
              <a:rPr lang="en-US" sz="2700" dirty="0">
                <a:solidFill>
                  <a:srgbClr val="161A2B"/>
                </a:solidFill>
                <a:latin typeface="Cambria" pitchFamily="34" charset="0"/>
                <a:ea typeface="Cambria" pitchFamily="34" charset="-122"/>
                <a:cs typeface="Cambria" pitchFamily="34" charset="-120"/>
              </a:rPr>
              <a:t>Every claim we publish opens a receipt.</a:t>
            </a:r>
            <a:endParaRPr lang="en-US" sz="2700" dirty="0"/>
          </a:p>
        </p:txBody>
      </p:sp>
      <p:sp>
        <p:nvSpPr>
          <p:cNvPr id="6" name="Shape 4"/>
          <p:cNvSpPr/>
          <p:nvPr/>
        </p:nvSpPr>
        <p:spPr>
          <a:xfrm>
            <a:off x="640080" y="1874520"/>
            <a:ext cx="5852160" cy="3712464"/>
          </a:xfrm>
          <a:prstGeom prst="roundRect">
            <a:avLst>
              <a:gd name="adj" fmla="val 2956"/>
            </a:avLst>
          </a:prstGeom>
          <a:solidFill>
            <a:srgbClr val="0F1A45"/>
          </a:solidFill>
          <a:ln w="9525">
            <a:solidFill>
              <a:srgbClr val="2B3A75"/>
            </a:solidFill>
            <a:prstDash val="solid"/>
          </a:ln>
          <a:effectLst>
            <a:outerShdw sx="100000" sy="100000" kx="0" ky="0" algn="bl" rotWithShape="0" blurRad="152400" dist="38100" dir="5400000">
              <a:srgbClr val="000000">
                <a:alpha val="8000"/>
              </a:srgbClr>
            </a:outerShdw>
          </a:effectLst>
        </p:spPr>
      </p:sp>
      <p:sp>
        <p:nvSpPr>
          <p:cNvPr id="7" name="Text 5"/>
          <p:cNvSpPr txBox="1"/>
          <p:nvPr/>
        </p:nvSpPr>
        <p:spPr>
          <a:xfrm>
            <a:off x="914400" y="2039112"/>
            <a:ext cx="5303520" cy="228600"/>
          </a:xfrm>
          <a:prstGeom prst="rect">
            <a:avLst/>
          </a:prstGeom>
          <a:noFill/>
          <a:ln/>
        </p:spPr>
        <p:txBody>
          <a:bodyPr wrap="square" lIns="0" tIns="0" rIns="0" bIns="0" rtlCol="0" anchor="ctr"/>
          <a:lstStyle/>
          <a:p>
            <a:pPr indent="0" marL="0">
              <a:buNone/>
            </a:pPr>
            <a:r>
              <a:rPr lang="en-US" sz="850" spc="250" kern="0" dirty="0">
                <a:solidFill>
                  <a:srgbClr val="8FB0FF"/>
                </a:solidFill>
                <a:latin typeface="Courier New" pitchFamily="34" charset="0"/>
                <a:ea typeface="Courier New" pitchFamily="34" charset="-122"/>
                <a:cs typeface="Courier New" pitchFamily="34" charset="-120"/>
              </a:rPr>
              <a:t>PUBLIC RECORD · AS OF SEPTEMBER 2026</a:t>
            </a:r>
            <a:endParaRPr lang="en-US" sz="850" dirty="0"/>
          </a:p>
        </p:txBody>
      </p:sp>
      <p:sp>
        <p:nvSpPr>
          <p:cNvPr id="8" name="Shape 6"/>
          <p:cNvSpPr/>
          <p:nvPr/>
        </p:nvSpPr>
        <p:spPr>
          <a:xfrm>
            <a:off x="914400" y="2377440"/>
            <a:ext cx="5303520" cy="0"/>
          </a:xfrm>
          <a:prstGeom prst="line">
            <a:avLst/>
          </a:prstGeom>
          <a:noFill/>
          <a:ln w="9525">
            <a:solidFill>
              <a:srgbClr val="2B3A75"/>
            </a:solidFill>
            <a:prstDash val="solid"/>
          </a:ln>
        </p:spPr>
      </p:sp>
      <p:sp>
        <p:nvSpPr>
          <p:cNvPr id="9" name="Text 7"/>
          <p:cNvSpPr txBox="1"/>
          <p:nvPr/>
        </p:nvSpPr>
        <p:spPr>
          <a:xfrm>
            <a:off x="914400" y="2468880"/>
            <a:ext cx="3621024" cy="384048"/>
          </a:xfrm>
          <a:prstGeom prst="rect">
            <a:avLst/>
          </a:prstGeom>
          <a:noFill/>
          <a:ln/>
        </p:spPr>
        <p:txBody>
          <a:bodyPr wrap="square" lIns="0" tIns="0" rIns="0" bIns="0" rtlCol="0" anchor="ctr"/>
          <a:lstStyle/>
          <a:p>
            <a:pPr indent="0" marL="0">
              <a:buNone/>
            </a:pPr>
            <a:r>
              <a:rPr lang="en-US" sz="1150" dirty="0">
                <a:solidFill>
                  <a:srgbClr val="E9EDFF"/>
                </a:solidFill>
                <a:latin typeface="Calibri" pitchFamily="34" charset="0"/>
                <a:ea typeface="Calibri" pitchFamily="34" charset="-122"/>
                <a:cs typeface="Calibri" pitchFamily="34" charset="-120"/>
              </a:rPr>
              <a:t>USPTO provisional patent application</a:t>
            </a:r>
            <a:endParaRPr lang="en-US" sz="1150" dirty="0"/>
          </a:p>
        </p:txBody>
      </p:sp>
      <p:sp>
        <p:nvSpPr>
          <p:cNvPr id="10" name="Text 8"/>
          <p:cNvSpPr txBox="1"/>
          <p:nvPr/>
        </p:nvSpPr>
        <p:spPr>
          <a:xfrm>
            <a:off x="4626864" y="2468880"/>
            <a:ext cx="1591056" cy="384048"/>
          </a:xfrm>
          <a:prstGeom prst="rect">
            <a:avLst/>
          </a:prstGeom>
          <a:noFill/>
          <a:ln/>
        </p:spPr>
        <p:txBody>
          <a:bodyPr wrap="square" lIns="0" tIns="0" rIns="0" bIns="0" rtlCol="0" anchor="ctr"/>
          <a:lstStyle/>
          <a:p>
            <a:pPr algn="r" indent="0" marL="0">
              <a:buNone/>
            </a:pPr>
            <a:r>
              <a:rPr lang="en-US" sz="900" dirty="0">
                <a:solidFill>
                  <a:srgbClr val="8FB0FF"/>
                </a:solidFill>
                <a:latin typeface="Courier New" pitchFamily="34" charset="0"/>
                <a:ea typeface="Courier New" pitchFamily="34" charset="-122"/>
                <a:cs typeface="Courier New" pitchFamily="34" charset="-120"/>
              </a:rPr>
              <a:t>63/947,120</a:t>
            </a:r>
            <a:endParaRPr lang="en-US" sz="900" dirty="0"/>
          </a:p>
        </p:txBody>
      </p:sp>
      <p:sp>
        <p:nvSpPr>
          <p:cNvPr id="11" name="Shape 9"/>
          <p:cNvSpPr/>
          <p:nvPr/>
        </p:nvSpPr>
        <p:spPr>
          <a:xfrm>
            <a:off x="914400" y="2889504"/>
            <a:ext cx="5303520" cy="0"/>
          </a:xfrm>
          <a:prstGeom prst="line">
            <a:avLst/>
          </a:prstGeom>
          <a:noFill/>
          <a:ln w="9525">
            <a:solidFill>
              <a:srgbClr val="2B3A75"/>
            </a:solidFill>
            <a:prstDash val="solid"/>
          </a:ln>
        </p:spPr>
      </p:sp>
      <p:sp>
        <p:nvSpPr>
          <p:cNvPr id="12" name="Text 10"/>
          <p:cNvSpPr txBox="1"/>
          <p:nvPr/>
        </p:nvSpPr>
        <p:spPr>
          <a:xfrm>
            <a:off x="914400" y="2980944"/>
            <a:ext cx="3621024" cy="384048"/>
          </a:xfrm>
          <a:prstGeom prst="rect">
            <a:avLst/>
          </a:prstGeom>
          <a:noFill/>
          <a:ln/>
        </p:spPr>
        <p:txBody>
          <a:bodyPr wrap="square" lIns="0" tIns="0" rIns="0" bIns="0" rtlCol="0" anchor="ctr"/>
          <a:lstStyle/>
          <a:p>
            <a:pPr indent="0" marL="0">
              <a:buNone/>
            </a:pPr>
            <a:r>
              <a:rPr lang="en-US" sz="1150" dirty="0">
                <a:solidFill>
                  <a:srgbClr val="E9EDFF"/>
                </a:solidFill>
                <a:latin typeface="Calibri" pitchFamily="34" charset="0"/>
                <a:ea typeface="Calibri" pitchFamily="34" charset="-122"/>
                <a:cs typeface="Calibri" pitchFamily="34" charset="-120"/>
              </a:rPr>
              <a:t>Pull requests merged across external repositories</a:t>
            </a:r>
            <a:endParaRPr lang="en-US" sz="1150" dirty="0"/>
          </a:p>
        </p:txBody>
      </p:sp>
      <p:sp>
        <p:nvSpPr>
          <p:cNvPr id="13" name="Text 11"/>
          <p:cNvSpPr txBox="1"/>
          <p:nvPr/>
        </p:nvSpPr>
        <p:spPr>
          <a:xfrm>
            <a:off x="4626864" y="2980944"/>
            <a:ext cx="1591056" cy="384048"/>
          </a:xfrm>
          <a:prstGeom prst="rect">
            <a:avLst/>
          </a:prstGeom>
          <a:noFill/>
          <a:ln/>
        </p:spPr>
        <p:txBody>
          <a:bodyPr wrap="square" lIns="0" tIns="0" rIns="0" bIns="0" rtlCol="0" anchor="ctr"/>
          <a:lstStyle/>
          <a:p>
            <a:pPr algn="r" indent="0" marL="0">
              <a:buNone/>
            </a:pPr>
            <a:r>
              <a:rPr lang="en-US" sz="900" dirty="0">
                <a:solidFill>
                  <a:srgbClr val="8FB0FF"/>
                </a:solidFill>
                <a:latin typeface="Courier New" pitchFamily="34" charset="0"/>
                <a:ea typeface="Courier New" pitchFamily="34" charset="-122"/>
                <a:cs typeface="Courier New" pitchFamily="34" charset="-120"/>
              </a:rPr>
              <a:t>47 · 42 repos</a:t>
            </a:r>
            <a:endParaRPr lang="en-US" sz="900" dirty="0"/>
          </a:p>
        </p:txBody>
      </p:sp>
      <p:sp>
        <p:nvSpPr>
          <p:cNvPr id="14" name="Shape 12"/>
          <p:cNvSpPr/>
          <p:nvPr/>
        </p:nvSpPr>
        <p:spPr>
          <a:xfrm>
            <a:off x="914400" y="3401568"/>
            <a:ext cx="5303520" cy="0"/>
          </a:xfrm>
          <a:prstGeom prst="line">
            <a:avLst/>
          </a:prstGeom>
          <a:noFill/>
          <a:ln w="9525">
            <a:solidFill>
              <a:srgbClr val="2B3A75"/>
            </a:solidFill>
            <a:prstDash val="solid"/>
          </a:ln>
        </p:spPr>
      </p:sp>
      <p:sp>
        <p:nvSpPr>
          <p:cNvPr id="15" name="Text 13"/>
          <p:cNvSpPr txBox="1"/>
          <p:nvPr/>
        </p:nvSpPr>
        <p:spPr>
          <a:xfrm>
            <a:off x="914400" y="3493008"/>
            <a:ext cx="3621024" cy="384048"/>
          </a:xfrm>
          <a:prstGeom prst="rect">
            <a:avLst/>
          </a:prstGeom>
          <a:noFill/>
          <a:ln/>
        </p:spPr>
        <p:txBody>
          <a:bodyPr wrap="square" lIns="0" tIns="0" rIns="0" bIns="0" rtlCol="0" anchor="ctr"/>
          <a:lstStyle/>
          <a:p>
            <a:pPr indent="0" marL="0">
              <a:buNone/>
            </a:pPr>
            <a:r>
              <a:rPr lang="en-US" sz="1150" dirty="0">
                <a:solidFill>
                  <a:srgbClr val="E9EDFF"/>
                </a:solidFill>
                <a:latin typeface="Calibri" pitchFamily="34" charset="0"/>
                <a:ea typeface="Calibri" pitchFamily="34" charset="-122"/>
                <a:cs typeface="Calibri" pitchFamily="34" charset="-120"/>
              </a:rPr>
              <a:t>Jest · virtual mock module isolation fix</a:t>
            </a:r>
            <a:endParaRPr lang="en-US" sz="1150" dirty="0"/>
          </a:p>
        </p:txBody>
      </p:sp>
      <p:sp>
        <p:nvSpPr>
          <p:cNvPr id="16" name="Text 14"/>
          <p:cNvSpPr txBox="1"/>
          <p:nvPr/>
        </p:nvSpPr>
        <p:spPr>
          <a:xfrm>
            <a:off x="4626864" y="3493008"/>
            <a:ext cx="1591056" cy="384048"/>
          </a:xfrm>
          <a:prstGeom prst="rect">
            <a:avLst/>
          </a:prstGeom>
          <a:noFill/>
          <a:ln/>
        </p:spPr>
        <p:txBody>
          <a:bodyPr wrap="square" lIns="0" tIns="0" rIns="0" bIns="0" rtlCol="0" anchor="ctr"/>
          <a:lstStyle/>
          <a:p>
            <a:pPr algn="r" indent="0" marL="0">
              <a:buNone/>
            </a:pPr>
            <a:r>
              <a:rPr lang="en-US" sz="900" dirty="0">
                <a:solidFill>
                  <a:srgbClr val="8FB0FF"/>
                </a:solidFill>
                <a:latin typeface="Courier New" pitchFamily="34" charset="0"/>
                <a:ea typeface="Courier New" pitchFamily="34" charset="-122"/>
                <a:cs typeface="Courier New" pitchFamily="34" charset="-120"/>
              </a:rPr>
              <a:t>#16296</a:t>
            </a:r>
            <a:endParaRPr lang="en-US" sz="900" dirty="0"/>
          </a:p>
        </p:txBody>
      </p:sp>
      <p:sp>
        <p:nvSpPr>
          <p:cNvPr id="17" name="Shape 15"/>
          <p:cNvSpPr/>
          <p:nvPr/>
        </p:nvSpPr>
        <p:spPr>
          <a:xfrm>
            <a:off x="914400" y="3913632"/>
            <a:ext cx="5303520" cy="0"/>
          </a:xfrm>
          <a:prstGeom prst="line">
            <a:avLst/>
          </a:prstGeom>
          <a:noFill/>
          <a:ln w="9525">
            <a:solidFill>
              <a:srgbClr val="2B3A75"/>
            </a:solidFill>
            <a:prstDash val="solid"/>
          </a:ln>
        </p:spPr>
      </p:sp>
      <p:sp>
        <p:nvSpPr>
          <p:cNvPr id="18" name="Text 16"/>
          <p:cNvSpPr txBox="1"/>
          <p:nvPr/>
        </p:nvSpPr>
        <p:spPr>
          <a:xfrm>
            <a:off x="914400" y="4005072"/>
            <a:ext cx="3621024" cy="384048"/>
          </a:xfrm>
          <a:prstGeom prst="rect">
            <a:avLst/>
          </a:prstGeom>
          <a:noFill/>
          <a:ln/>
        </p:spPr>
        <p:txBody>
          <a:bodyPr wrap="square" lIns="0" tIns="0" rIns="0" bIns="0" rtlCol="0" anchor="ctr"/>
          <a:lstStyle/>
          <a:p>
            <a:pPr indent="0" marL="0">
              <a:buNone/>
            </a:pPr>
            <a:r>
              <a:rPr lang="en-US" sz="1150" dirty="0">
                <a:solidFill>
                  <a:srgbClr val="E9EDFF"/>
                </a:solidFill>
                <a:latin typeface="Calibri" pitchFamily="34" charset="0"/>
                <a:ea typeface="Calibri" pitchFamily="34" charset="-122"/>
                <a:cs typeface="Calibri" pitchFamily="34" charset="-120"/>
              </a:rPr>
              <a:t>Adobe React Spectrum · useShowFocusIndicator hook</a:t>
            </a:r>
            <a:endParaRPr lang="en-US" sz="1150" dirty="0"/>
          </a:p>
        </p:txBody>
      </p:sp>
      <p:sp>
        <p:nvSpPr>
          <p:cNvPr id="19" name="Text 17"/>
          <p:cNvSpPr txBox="1"/>
          <p:nvPr/>
        </p:nvSpPr>
        <p:spPr>
          <a:xfrm>
            <a:off x="4626864" y="4005072"/>
            <a:ext cx="1591056" cy="384048"/>
          </a:xfrm>
          <a:prstGeom prst="rect">
            <a:avLst/>
          </a:prstGeom>
          <a:noFill/>
          <a:ln/>
        </p:spPr>
        <p:txBody>
          <a:bodyPr wrap="square" lIns="0" tIns="0" rIns="0" bIns="0" rtlCol="0" anchor="ctr"/>
          <a:lstStyle/>
          <a:p>
            <a:pPr algn="r" indent="0" marL="0">
              <a:buNone/>
            </a:pPr>
            <a:r>
              <a:rPr lang="en-US" sz="900" dirty="0">
                <a:solidFill>
                  <a:srgbClr val="8FB0FF"/>
                </a:solidFill>
                <a:latin typeface="Courier New" pitchFamily="34" charset="0"/>
                <a:ea typeface="Courier New" pitchFamily="34" charset="-122"/>
                <a:cs typeface="Courier New" pitchFamily="34" charset="-120"/>
              </a:rPr>
              <a:t>#10426</a:t>
            </a:r>
            <a:endParaRPr lang="en-US" sz="900" dirty="0"/>
          </a:p>
        </p:txBody>
      </p:sp>
      <p:sp>
        <p:nvSpPr>
          <p:cNvPr id="20" name="Shape 18"/>
          <p:cNvSpPr/>
          <p:nvPr/>
        </p:nvSpPr>
        <p:spPr>
          <a:xfrm>
            <a:off x="914400" y="4425696"/>
            <a:ext cx="5303520" cy="0"/>
          </a:xfrm>
          <a:prstGeom prst="line">
            <a:avLst/>
          </a:prstGeom>
          <a:noFill/>
          <a:ln w="9525">
            <a:solidFill>
              <a:srgbClr val="2B3A75"/>
            </a:solidFill>
            <a:prstDash val="solid"/>
          </a:ln>
        </p:spPr>
      </p:sp>
      <p:sp>
        <p:nvSpPr>
          <p:cNvPr id="21" name="Text 19"/>
          <p:cNvSpPr txBox="1"/>
          <p:nvPr/>
        </p:nvSpPr>
        <p:spPr>
          <a:xfrm>
            <a:off x="914400" y="4517136"/>
            <a:ext cx="3621024" cy="384048"/>
          </a:xfrm>
          <a:prstGeom prst="rect">
            <a:avLst/>
          </a:prstGeom>
          <a:noFill/>
          <a:ln/>
        </p:spPr>
        <p:txBody>
          <a:bodyPr wrap="square" lIns="0" tIns="0" rIns="0" bIns="0" rtlCol="0" anchor="ctr"/>
          <a:lstStyle/>
          <a:p>
            <a:pPr indent="0" marL="0">
              <a:buNone/>
            </a:pPr>
            <a:r>
              <a:rPr lang="en-US" sz="1150" dirty="0">
                <a:solidFill>
                  <a:srgbClr val="E9EDFF"/>
                </a:solidFill>
                <a:latin typeface="Calibri" pitchFamily="34" charset="0"/>
                <a:ea typeface="Calibri" pitchFamily="34" charset="-122"/>
                <a:cs typeface="Calibri" pitchFamily="34" charset="-120"/>
              </a:rPr>
              <a:t>Backstage · catalog graph page configuration fix</a:t>
            </a:r>
            <a:endParaRPr lang="en-US" sz="1150" dirty="0"/>
          </a:p>
        </p:txBody>
      </p:sp>
      <p:sp>
        <p:nvSpPr>
          <p:cNvPr id="22" name="Text 20"/>
          <p:cNvSpPr txBox="1"/>
          <p:nvPr/>
        </p:nvSpPr>
        <p:spPr>
          <a:xfrm>
            <a:off x="4626864" y="4517136"/>
            <a:ext cx="1591056" cy="384048"/>
          </a:xfrm>
          <a:prstGeom prst="rect">
            <a:avLst/>
          </a:prstGeom>
          <a:noFill/>
          <a:ln/>
        </p:spPr>
        <p:txBody>
          <a:bodyPr wrap="square" lIns="0" tIns="0" rIns="0" bIns="0" rtlCol="0" anchor="ctr"/>
          <a:lstStyle/>
          <a:p>
            <a:pPr algn="r" indent="0" marL="0">
              <a:buNone/>
            </a:pPr>
            <a:r>
              <a:rPr lang="en-US" sz="900" dirty="0">
                <a:solidFill>
                  <a:srgbClr val="8FB0FF"/>
                </a:solidFill>
                <a:latin typeface="Courier New" pitchFamily="34" charset="0"/>
                <a:ea typeface="Courier New" pitchFamily="34" charset="-122"/>
                <a:cs typeface="Courier New" pitchFamily="34" charset="-120"/>
              </a:rPr>
              <a:t>#35102</a:t>
            </a:r>
            <a:endParaRPr lang="en-US" sz="900" dirty="0"/>
          </a:p>
        </p:txBody>
      </p:sp>
      <p:sp>
        <p:nvSpPr>
          <p:cNvPr id="23" name="Shape 21"/>
          <p:cNvSpPr/>
          <p:nvPr/>
        </p:nvSpPr>
        <p:spPr>
          <a:xfrm>
            <a:off x="914400" y="4937760"/>
            <a:ext cx="5303520" cy="0"/>
          </a:xfrm>
          <a:prstGeom prst="line">
            <a:avLst/>
          </a:prstGeom>
          <a:noFill/>
          <a:ln w="9525">
            <a:solidFill>
              <a:srgbClr val="2B3A75"/>
            </a:solidFill>
            <a:prstDash val="solid"/>
          </a:ln>
        </p:spPr>
      </p:sp>
      <p:sp>
        <p:nvSpPr>
          <p:cNvPr id="24" name="Text 22"/>
          <p:cNvSpPr txBox="1"/>
          <p:nvPr/>
        </p:nvSpPr>
        <p:spPr>
          <a:xfrm>
            <a:off x="914400" y="5029200"/>
            <a:ext cx="3621024" cy="384048"/>
          </a:xfrm>
          <a:prstGeom prst="rect">
            <a:avLst/>
          </a:prstGeom>
          <a:noFill/>
          <a:ln/>
        </p:spPr>
        <p:txBody>
          <a:bodyPr wrap="square" lIns="0" tIns="0" rIns="0" bIns="0" rtlCol="0" anchor="ctr"/>
          <a:lstStyle/>
          <a:p>
            <a:pPr indent="0" marL="0">
              <a:buNone/>
            </a:pPr>
            <a:r>
              <a:rPr lang="en-US" sz="1150" dirty="0">
                <a:solidFill>
                  <a:srgbClr val="E9EDFF"/>
                </a:solidFill>
                <a:latin typeface="Calibri" pitchFamily="34" charset="0"/>
                <a:ea typeface="Calibri" pitchFamily="34" charset="-122"/>
                <a:cs typeface="Calibri" pitchFamily="34" charset="-120"/>
              </a:rPr>
              <a:t>Hardhat · chain descriptor cleanup</a:t>
            </a:r>
            <a:endParaRPr lang="en-US" sz="1150" dirty="0"/>
          </a:p>
        </p:txBody>
      </p:sp>
      <p:sp>
        <p:nvSpPr>
          <p:cNvPr id="25" name="Text 23"/>
          <p:cNvSpPr txBox="1"/>
          <p:nvPr/>
        </p:nvSpPr>
        <p:spPr>
          <a:xfrm>
            <a:off x="4626864" y="5029200"/>
            <a:ext cx="1591056" cy="384048"/>
          </a:xfrm>
          <a:prstGeom prst="rect">
            <a:avLst/>
          </a:prstGeom>
          <a:noFill/>
          <a:ln/>
        </p:spPr>
        <p:txBody>
          <a:bodyPr wrap="square" lIns="0" tIns="0" rIns="0" bIns="0" rtlCol="0" anchor="ctr"/>
          <a:lstStyle/>
          <a:p>
            <a:pPr algn="r" indent="0" marL="0">
              <a:buNone/>
            </a:pPr>
            <a:r>
              <a:rPr lang="en-US" sz="900" dirty="0">
                <a:solidFill>
                  <a:srgbClr val="8FB0FF"/>
                </a:solidFill>
                <a:latin typeface="Courier New" pitchFamily="34" charset="0"/>
                <a:ea typeface="Courier New" pitchFamily="34" charset="-122"/>
                <a:cs typeface="Courier New" pitchFamily="34" charset="-120"/>
              </a:rPr>
              <a:t>#8522</a:t>
            </a:r>
            <a:endParaRPr lang="en-US" sz="900" dirty="0"/>
          </a:p>
        </p:txBody>
      </p:sp>
      <p:sp>
        <p:nvSpPr>
          <p:cNvPr id="26" name="Text 24"/>
          <p:cNvSpPr txBox="1"/>
          <p:nvPr/>
        </p:nvSpPr>
        <p:spPr>
          <a:xfrm>
            <a:off x="640080" y="5715000"/>
            <a:ext cx="5852160" cy="640080"/>
          </a:xfrm>
          <a:prstGeom prst="rect">
            <a:avLst/>
          </a:prstGeom>
          <a:noFill/>
          <a:ln/>
        </p:spPr>
        <p:txBody>
          <a:bodyPr wrap="square" lIns="0" tIns="0" rIns="0" bIns="0" rtlCol="0" anchor="t"/>
          <a:lstStyle/>
          <a:p>
            <a:pPr algn="l" indent="0" marL="0">
              <a:lnSpc>
                <a:spcPct val="120000"/>
              </a:lnSpc>
              <a:buNone/>
            </a:pPr>
            <a:r>
              <a:rPr lang="en-US" sz="1050" i="1" dirty="0">
                <a:solidFill>
                  <a:srgbClr val="4A526B"/>
                </a:solidFill>
                <a:latin typeface="Calibri" pitchFamily="34" charset="0"/>
                <a:ea typeface="Calibri" pitchFamily="34" charset="-122"/>
                <a:cs typeface="Calibri" pitchFamily="34" charset="-120"/>
              </a:rPr>
              <a:t>Each line opens the merged pull request, accepted by that project's own maintainers. The count includes 26 substantive code or documentation contributions and 21 accepted listings of Jason-owned work, plus one public Linux kernel USB/IP contribution.</a:t>
            </a:r>
            <a:endParaRPr lang="en-US" sz="1050" dirty="0"/>
          </a:p>
        </p:txBody>
      </p:sp>
      <p:sp>
        <p:nvSpPr>
          <p:cNvPr id="27" name="Text 25"/>
          <p:cNvSpPr txBox="1"/>
          <p:nvPr/>
        </p:nvSpPr>
        <p:spPr>
          <a:xfrm>
            <a:off x="6949440" y="1920240"/>
            <a:ext cx="4572000" cy="256032"/>
          </a:xfrm>
          <a:prstGeom prst="rect">
            <a:avLst/>
          </a:prstGeom>
          <a:noFill/>
          <a:ln/>
        </p:spPr>
        <p:txBody>
          <a:bodyPr wrap="square" lIns="0" tIns="0" rIns="0" bIns="0" rtlCol="0" anchor="ctr"/>
          <a:lstStyle/>
          <a:p>
            <a:pPr indent="0" marL="0">
              <a:buNone/>
            </a:pPr>
            <a:r>
              <a:rPr lang="en-US" sz="950" spc="250" kern="0" dirty="0">
                <a:solidFill>
                  <a:srgbClr val="1F3FBF"/>
                </a:solidFill>
                <a:latin typeface="Courier New" pitchFamily="34" charset="0"/>
                <a:ea typeface="Courier New" pitchFamily="34" charset="-122"/>
                <a:cs typeface="Courier New" pitchFamily="34" charset="-120"/>
              </a:rPr>
              <a:t>SPEAKING APPEARANCES</a:t>
            </a:r>
            <a:endParaRPr lang="en-US" sz="950" dirty="0"/>
          </a:p>
        </p:txBody>
      </p:sp>
      <p:sp>
        <p:nvSpPr>
          <p:cNvPr id="28" name="Shape 26"/>
          <p:cNvSpPr/>
          <p:nvPr/>
        </p:nvSpPr>
        <p:spPr>
          <a:xfrm>
            <a:off x="6949440" y="2286000"/>
            <a:ext cx="4617720" cy="0"/>
          </a:xfrm>
          <a:prstGeom prst="line">
            <a:avLst/>
          </a:prstGeom>
          <a:noFill/>
          <a:ln w="9525">
            <a:solidFill>
              <a:srgbClr val="D6DCF0"/>
            </a:solidFill>
            <a:prstDash val="solid"/>
          </a:ln>
        </p:spPr>
      </p:sp>
      <p:sp>
        <p:nvSpPr>
          <p:cNvPr id="29" name="Text 27"/>
          <p:cNvSpPr txBox="1"/>
          <p:nvPr/>
        </p:nvSpPr>
        <p:spPr>
          <a:xfrm>
            <a:off x="6949440" y="2395728"/>
            <a:ext cx="2743200" cy="365760"/>
          </a:xfrm>
          <a:prstGeom prst="rect">
            <a:avLst/>
          </a:prstGeom>
          <a:noFill/>
          <a:ln/>
        </p:spPr>
        <p:txBody>
          <a:bodyPr wrap="square" lIns="0" tIns="0" rIns="0" bIns="0" rtlCol="0" anchor="t"/>
          <a:lstStyle/>
          <a:p>
            <a:pPr algn="l" indent="0" marL="0">
              <a:lnSpc>
                <a:spcPct val="105000"/>
              </a:lnSpc>
              <a:buNone/>
            </a:pPr>
            <a:r>
              <a:rPr lang="en-US" sz="1700" dirty="0">
                <a:solidFill>
                  <a:srgbClr val="161A2B"/>
                </a:solidFill>
                <a:latin typeface="Cambria" pitchFamily="34" charset="0"/>
                <a:ea typeface="Cambria" pitchFamily="34" charset="-122"/>
                <a:cs typeface="Cambria" pitchFamily="34" charset="-120"/>
              </a:rPr>
              <a:t>The Brave Show</a:t>
            </a:r>
            <a:endParaRPr lang="en-US" sz="1700" dirty="0"/>
          </a:p>
        </p:txBody>
      </p:sp>
      <p:sp>
        <p:nvSpPr>
          <p:cNvPr id="30" name="Text 28"/>
          <p:cNvSpPr txBox="1"/>
          <p:nvPr/>
        </p:nvSpPr>
        <p:spPr>
          <a:xfrm>
            <a:off x="9144000" y="2450592"/>
            <a:ext cx="2423160" cy="274320"/>
          </a:xfrm>
          <a:prstGeom prst="rect">
            <a:avLst/>
          </a:prstGeom>
          <a:noFill/>
          <a:ln/>
        </p:spPr>
        <p:txBody>
          <a:bodyPr wrap="square" lIns="0" tIns="0" rIns="0" bIns="0" rtlCol="0" anchor="t"/>
          <a:lstStyle/>
          <a:p>
            <a:pPr algn="r" indent="0" marL="0">
              <a:lnSpc>
                <a:spcPct val="125000"/>
              </a:lnSpc>
              <a:buNone/>
            </a:pPr>
            <a:r>
              <a:rPr lang="en-US" sz="950" dirty="0">
                <a:solidFill>
                  <a:srgbClr val="4A526B"/>
                </a:solidFill>
                <a:latin typeface="Courier New" pitchFamily="34" charset="0"/>
                <a:ea typeface="Courier New" pitchFamily="34" charset="-122"/>
                <a:cs typeface="Courier New" pitchFamily="34" charset="-120"/>
              </a:rPr>
              <a:t>5 September 2025 · Panel</a:t>
            </a:r>
            <a:endParaRPr lang="en-US" sz="950" dirty="0"/>
          </a:p>
        </p:txBody>
      </p:sp>
      <p:sp>
        <p:nvSpPr>
          <p:cNvPr id="31" name="Shape 29"/>
          <p:cNvSpPr/>
          <p:nvPr/>
        </p:nvSpPr>
        <p:spPr>
          <a:xfrm>
            <a:off x="6949440" y="3072384"/>
            <a:ext cx="4617720" cy="0"/>
          </a:xfrm>
          <a:prstGeom prst="line">
            <a:avLst/>
          </a:prstGeom>
          <a:noFill/>
          <a:ln w="9525">
            <a:solidFill>
              <a:srgbClr val="D6DCF0"/>
            </a:solidFill>
            <a:prstDash val="solid"/>
          </a:ln>
        </p:spPr>
      </p:sp>
      <p:sp>
        <p:nvSpPr>
          <p:cNvPr id="32" name="Text 30"/>
          <p:cNvSpPr txBox="1"/>
          <p:nvPr/>
        </p:nvSpPr>
        <p:spPr>
          <a:xfrm>
            <a:off x="6949440" y="3182112"/>
            <a:ext cx="2743200" cy="365760"/>
          </a:xfrm>
          <a:prstGeom prst="rect">
            <a:avLst/>
          </a:prstGeom>
          <a:noFill/>
          <a:ln/>
        </p:spPr>
        <p:txBody>
          <a:bodyPr wrap="square" lIns="0" tIns="0" rIns="0" bIns="0" rtlCol="0" anchor="t"/>
          <a:lstStyle/>
          <a:p>
            <a:pPr algn="l" indent="0" marL="0">
              <a:lnSpc>
                <a:spcPct val="105000"/>
              </a:lnSpc>
              <a:buNone/>
            </a:pPr>
            <a:r>
              <a:rPr lang="en-US" sz="1700" dirty="0">
                <a:solidFill>
                  <a:srgbClr val="161A2B"/>
                </a:solidFill>
                <a:latin typeface="Cambria" pitchFamily="34" charset="0"/>
                <a:ea typeface="Cambria" pitchFamily="34" charset="-122"/>
                <a:cs typeface="Cambria" pitchFamily="34" charset="-120"/>
              </a:rPr>
              <a:t>ChainGPT</a:t>
            </a:r>
            <a:endParaRPr lang="en-US" sz="1700" dirty="0"/>
          </a:p>
        </p:txBody>
      </p:sp>
      <p:sp>
        <p:nvSpPr>
          <p:cNvPr id="33" name="Text 31"/>
          <p:cNvSpPr txBox="1"/>
          <p:nvPr/>
        </p:nvSpPr>
        <p:spPr>
          <a:xfrm>
            <a:off x="9144000" y="3236976"/>
            <a:ext cx="2423160" cy="274320"/>
          </a:xfrm>
          <a:prstGeom prst="rect">
            <a:avLst/>
          </a:prstGeom>
          <a:noFill/>
          <a:ln/>
        </p:spPr>
        <p:txBody>
          <a:bodyPr wrap="square" lIns="0" tIns="0" rIns="0" bIns="0" rtlCol="0" anchor="t"/>
          <a:lstStyle/>
          <a:p>
            <a:pPr algn="r" indent="0" marL="0">
              <a:lnSpc>
                <a:spcPct val="125000"/>
              </a:lnSpc>
              <a:buNone/>
            </a:pPr>
            <a:r>
              <a:rPr lang="en-US" sz="950" dirty="0">
                <a:solidFill>
                  <a:srgbClr val="4A526B"/>
                </a:solidFill>
                <a:latin typeface="Courier New" pitchFamily="34" charset="0"/>
                <a:ea typeface="Courier New" pitchFamily="34" charset="-122"/>
                <a:cs typeface="Courier New" pitchFamily="34" charset="-120"/>
              </a:rPr>
              <a:t>October 2025 · Round table</a:t>
            </a:r>
            <a:endParaRPr lang="en-US" sz="950" dirty="0"/>
          </a:p>
        </p:txBody>
      </p:sp>
      <p:sp>
        <p:nvSpPr>
          <p:cNvPr id="34" name="Shape 32"/>
          <p:cNvSpPr/>
          <p:nvPr/>
        </p:nvSpPr>
        <p:spPr>
          <a:xfrm>
            <a:off x="6949440" y="3858768"/>
            <a:ext cx="4617720" cy="0"/>
          </a:xfrm>
          <a:prstGeom prst="line">
            <a:avLst/>
          </a:prstGeom>
          <a:noFill/>
          <a:ln w="9525">
            <a:solidFill>
              <a:srgbClr val="D6DCF0"/>
            </a:solidFill>
            <a:prstDash val="solid"/>
          </a:ln>
        </p:spPr>
      </p:sp>
      <p:sp>
        <p:nvSpPr>
          <p:cNvPr id="35" name="Text 33"/>
          <p:cNvSpPr txBox="1"/>
          <p:nvPr/>
        </p:nvSpPr>
        <p:spPr>
          <a:xfrm>
            <a:off x="6949440" y="3968496"/>
            <a:ext cx="2743200" cy="365760"/>
          </a:xfrm>
          <a:prstGeom prst="rect">
            <a:avLst/>
          </a:prstGeom>
          <a:noFill/>
          <a:ln/>
        </p:spPr>
        <p:txBody>
          <a:bodyPr wrap="square" lIns="0" tIns="0" rIns="0" bIns="0" rtlCol="0" anchor="t"/>
          <a:lstStyle/>
          <a:p>
            <a:pPr algn="l" indent="0" marL="0">
              <a:lnSpc>
                <a:spcPct val="105000"/>
              </a:lnSpc>
              <a:buNone/>
            </a:pPr>
            <a:r>
              <a:rPr lang="en-US" sz="1700" dirty="0">
                <a:solidFill>
                  <a:srgbClr val="161A2B"/>
                </a:solidFill>
                <a:latin typeface="Cambria" pitchFamily="34" charset="0"/>
                <a:ea typeface="Cambria" pitchFamily="34" charset="-122"/>
                <a:cs typeface="Cambria" pitchFamily="34" charset="-120"/>
              </a:rPr>
              <a:t>Mario Nawfal</a:t>
            </a:r>
            <a:endParaRPr lang="en-US" sz="1700" dirty="0"/>
          </a:p>
        </p:txBody>
      </p:sp>
      <p:sp>
        <p:nvSpPr>
          <p:cNvPr id="36" name="Text 34"/>
          <p:cNvSpPr txBox="1"/>
          <p:nvPr/>
        </p:nvSpPr>
        <p:spPr>
          <a:xfrm>
            <a:off x="9144000" y="4023360"/>
            <a:ext cx="2423160" cy="274320"/>
          </a:xfrm>
          <a:prstGeom prst="rect">
            <a:avLst/>
          </a:prstGeom>
          <a:noFill/>
          <a:ln/>
        </p:spPr>
        <p:txBody>
          <a:bodyPr wrap="square" lIns="0" tIns="0" rIns="0" bIns="0" rtlCol="0" anchor="t"/>
          <a:lstStyle/>
          <a:p>
            <a:pPr algn="r" indent="0" marL="0">
              <a:lnSpc>
                <a:spcPct val="125000"/>
              </a:lnSpc>
              <a:buNone/>
            </a:pPr>
            <a:r>
              <a:rPr lang="en-US" sz="950" dirty="0">
                <a:solidFill>
                  <a:srgbClr val="4A526B"/>
                </a:solidFill>
                <a:latin typeface="Courier New" pitchFamily="34" charset="0"/>
                <a:ea typeface="Courier New" pitchFamily="34" charset="-122"/>
                <a:cs typeface="Courier New" pitchFamily="34" charset="-120"/>
              </a:rPr>
              <a:t>September 2025 · AMA</a:t>
            </a:r>
            <a:endParaRPr lang="en-US" sz="950" dirty="0"/>
          </a:p>
        </p:txBody>
      </p:sp>
      <p:sp>
        <p:nvSpPr>
          <p:cNvPr id="37" name="Shape 35"/>
          <p:cNvSpPr/>
          <p:nvPr/>
        </p:nvSpPr>
        <p:spPr>
          <a:xfrm>
            <a:off x="6949440" y="4645152"/>
            <a:ext cx="4617720" cy="0"/>
          </a:xfrm>
          <a:prstGeom prst="line">
            <a:avLst/>
          </a:prstGeom>
          <a:noFill/>
          <a:ln w="9525">
            <a:solidFill>
              <a:srgbClr val="D6DCF0"/>
            </a:solidFill>
            <a:prstDash val="solid"/>
          </a:ln>
        </p:spPr>
      </p:sp>
      <p:sp>
        <p:nvSpPr>
          <p:cNvPr id="38" name="Text 36"/>
          <p:cNvSpPr txBox="1"/>
          <p:nvPr/>
        </p:nvSpPr>
        <p:spPr>
          <a:xfrm>
            <a:off x="6949440" y="4754880"/>
            <a:ext cx="2743200" cy="365760"/>
          </a:xfrm>
          <a:prstGeom prst="rect">
            <a:avLst/>
          </a:prstGeom>
          <a:noFill/>
          <a:ln/>
        </p:spPr>
        <p:txBody>
          <a:bodyPr wrap="square" lIns="0" tIns="0" rIns="0" bIns="0" rtlCol="0" anchor="t"/>
          <a:lstStyle/>
          <a:p>
            <a:pPr algn="l" indent="0" marL="0">
              <a:lnSpc>
                <a:spcPct val="105000"/>
              </a:lnSpc>
              <a:buNone/>
            </a:pPr>
            <a:r>
              <a:rPr lang="en-US" sz="1700" dirty="0">
                <a:solidFill>
                  <a:srgbClr val="161A2B"/>
                </a:solidFill>
                <a:latin typeface="Cambria" pitchFamily="34" charset="0"/>
                <a:ea typeface="Cambria" pitchFamily="34" charset="-122"/>
                <a:cs typeface="Cambria" pitchFamily="34" charset="-120"/>
              </a:rPr>
              <a:t>BTSE</a:t>
            </a:r>
            <a:endParaRPr lang="en-US" sz="1700" dirty="0"/>
          </a:p>
        </p:txBody>
      </p:sp>
      <p:sp>
        <p:nvSpPr>
          <p:cNvPr id="39" name="Text 37"/>
          <p:cNvSpPr txBox="1"/>
          <p:nvPr/>
        </p:nvSpPr>
        <p:spPr>
          <a:xfrm>
            <a:off x="9144000" y="4809744"/>
            <a:ext cx="2423160" cy="274320"/>
          </a:xfrm>
          <a:prstGeom prst="rect">
            <a:avLst/>
          </a:prstGeom>
          <a:noFill/>
          <a:ln/>
        </p:spPr>
        <p:txBody>
          <a:bodyPr wrap="square" lIns="0" tIns="0" rIns="0" bIns="0" rtlCol="0" anchor="t"/>
          <a:lstStyle/>
          <a:p>
            <a:pPr algn="r" indent="0" marL="0">
              <a:lnSpc>
                <a:spcPct val="125000"/>
              </a:lnSpc>
              <a:buNone/>
            </a:pPr>
            <a:r>
              <a:rPr lang="en-US" sz="950" dirty="0">
                <a:solidFill>
                  <a:srgbClr val="4A526B"/>
                </a:solidFill>
                <a:latin typeface="Courier New" pitchFamily="34" charset="0"/>
                <a:ea typeface="Courier New" pitchFamily="34" charset="-122"/>
                <a:cs typeface="Courier New" pitchFamily="34" charset="-120"/>
              </a:rPr>
              <a:t>17 February 2025 · AMA</a:t>
            </a:r>
            <a:endParaRPr lang="en-US" sz="950" dirty="0"/>
          </a:p>
        </p:txBody>
      </p:sp>
      <p:sp>
        <p:nvSpPr>
          <p:cNvPr id="40" name="Text 38"/>
          <p:cNvSpPr txBox="1"/>
          <p:nvPr/>
        </p:nvSpPr>
        <p:spPr>
          <a:xfrm>
            <a:off x="6949440" y="5532120"/>
            <a:ext cx="4617720" cy="548640"/>
          </a:xfrm>
          <a:prstGeom prst="rect">
            <a:avLst/>
          </a:prstGeom>
          <a:noFill/>
          <a:ln/>
        </p:spPr>
        <p:txBody>
          <a:bodyPr wrap="square" lIns="0" tIns="0" rIns="0" bIns="0" rtlCol="0" anchor="t"/>
          <a:lstStyle/>
          <a:p>
            <a:pPr algn="l" indent="0" marL="0">
              <a:lnSpc>
                <a:spcPct val="120000"/>
              </a:lnSpc>
              <a:buNone/>
            </a:pPr>
            <a:r>
              <a:rPr lang="en-US" sz="1050" i="1" dirty="0">
                <a:solidFill>
                  <a:srgbClr val="4A526B"/>
                </a:solidFill>
                <a:latin typeface="Calibri" pitchFamily="34" charset="0"/>
                <a:ea typeface="Calibri" pitchFamily="34" charset="-122"/>
                <a:cs typeface="Calibri" pitchFamily="34" charset="-120"/>
              </a:rPr>
              <a:t>Hosts, topics and source links, including the recorded Suede SocialFi Space, live on the press page.</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6400800"/>
            <a:ext cx="8686800" cy="228600"/>
          </a:xfrm>
          <a:prstGeom prst="rect">
            <a:avLst/>
          </a:prstGeom>
          <a:noFill/>
          <a:ln/>
        </p:spPr>
        <p:txBody>
          <a:bodyPr wrap="square" lIns="0" tIns="0" rIns="0" bIns="0" rtlCol="0" anchor="ctr"/>
          <a:lstStyle/>
          <a:p>
            <a:pPr indent="0" marL="0">
              <a:buNone/>
            </a:pPr>
            <a:r>
              <a:rPr lang="en-US" sz="850" spc="100" kern="0" dirty="0">
                <a:solidFill>
                  <a:srgbClr val="C3CBEA"/>
                </a:solidFill>
                <a:latin typeface="Courier New" pitchFamily="34" charset="0"/>
                <a:ea typeface="Courier New" pitchFamily="34" charset="-122"/>
                <a:cs typeface="Courier New" pitchFamily="34" charset="-120"/>
              </a:rPr>
              <a:t>SUEDE SEO · SEO.SUEDEAI.AI · FULL-STACK GEO &amp; AI ENGINEERING</a:t>
            </a:r>
            <a:endParaRPr lang="en-US" sz="850" dirty="0"/>
          </a:p>
        </p:txBody>
      </p:sp>
      <p:sp>
        <p:nvSpPr>
          <p:cNvPr id="3" name="Text 1"/>
          <p:cNvSpPr txBox="1"/>
          <p:nvPr/>
        </p:nvSpPr>
        <p:spPr>
          <a:xfrm>
            <a:off x="10637215" y="6400800"/>
            <a:ext cx="914400" cy="228600"/>
          </a:xfrm>
          <a:prstGeom prst="rect">
            <a:avLst/>
          </a:prstGeom>
          <a:noFill/>
          <a:ln/>
        </p:spPr>
        <p:txBody>
          <a:bodyPr wrap="square" lIns="0" tIns="0" rIns="0" bIns="0" rtlCol="0" anchor="ctr"/>
          <a:lstStyle/>
          <a:p>
            <a:pPr algn="r" indent="0" marL="0">
              <a:buNone/>
            </a:pPr>
            <a:r>
              <a:rPr lang="en-US" sz="850" dirty="0">
                <a:solidFill>
                  <a:srgbClr val="C3CBEA"/>
                </a:solidFill>
                <a:latin typeface="Courier New" pitchFamily="34" charset="0"/>
                <a:ea typeface="Courier New" pitchFamily="34" charset="-122"/>
                <a:cs typeface="Courier New" pitchFamily="34" charset="-120"/>
              </a:rPr>
              <a:t>07</a:t>
            </a:r>
            <a:endParaRPr lang="en-US" sz="850" dirty="0"/>
          </a:p>
        </p:txBody>
      </p:sp>
      <p:sp>
        <p:nvSpPr>
          <p:cNvPr id="4" name="Text 2"/>
          <p:cNvSpPr txBox="1"/>
          <p:nvPr/>
        </p:nvSpPr>
        <p:spPr>
          <a:xfrm>
            <a:off x="640080" y="548640"/>
            <a:ext cx="9144000" cy="256032"/>
          </a:xfrm>
          <a:prstGeom prst="rect">
            <a:avLst/>
          </a:prstGeom>
          <a:noFill/>
          <a:ln/>
        </p:spPr>
        <p:txBody>
          <a:bodyPr wrap="square" lIns="0" tIns="0" rIns="0" bIns="0" rtlCol="0" anchor="ctr"/>
          <a:lstStyle/>
          <a:p>
            <a:pPr indent="0" marL="0">
              <a:buNone/>
            </a:pPr>
            <a:r>
              <a:rPr lang="en-US" sz="950" spc="250" kern="0" dirty="0">
                <a:solidFill>
                  <a:srgbClr val="7C9BFF"/>
                </a:solidFill>
                <a:latin typeface="Courier New" pitchFamily="34" charset="0"/>
                <a:ea typeface="Courier New" pitchFamily="34" charset="-122"/>
                <a:cs typeface="Courier New" pitchFamily="34" charset="-120"/>
              </a:rPr>
              <a:t>06 — THE COMPANY THE RECORD KEEPS</a:t>
            </a:r>
            <a:endParaRPr lang="en-US" sz="950" dirty="0"/>
          </a:p>
        </p:txBody>
      </p:sp>
      <p:sp>
        <p:nvSpPr>
          <p:cNvPr id="5" name="Text 3"/>
          <p:cNvSpPr txBox="1"/>
          <p:nvPr/>
        </p:nvSpPr>
        <p:spPr>
          <a:xfrm>
            <a:off x="640080" y="868680"/>
            <a:ext cx="9144000" cy="510540"/>
          </a:xfrm>
          <a:prstGeom prst="rect">
            <a:avLst/>
          </a:prstGeom>
          <a:noFill/>
          <a:ln/>
        </p:spPr>
        <p:txBody>
          <a:bodyPr wrap="square" lIns="0" tIns="0" rIns="0" bIns="0" rtlCol="0" anchor="t"/>
          <a:lstStyle/>
          <a:p>
            <a:pPr algn="l" indent="0" marL="0">
              <a:lnSpc>
                <a:spcPct val="105000"/>
              </a:lnSpc>
              <a:buNone/>
            </a:pPr>
            <a:r>
              <a:rPr lang="en-US" sz="3000" dirty="0">
                <a:solidFill>
                  <a:srgbClr val="F4F5F9"/>
                </a:solidFill>
                <a:latin typeface="Cambria" pitchFamily="34" charset="0"/>
                <a:ea typeface="Cambria" pitchFamily="34" charset="-122"/>
                <a:cs typeface="Cambria" pitchFamily="34" charset="-120"/>
              </a:rPr>
              <a:t>Partnerships on the Suede Labs record.</a:t>
            </a:r>
            <a:endParaRPr lang="en-US" sz="3000" dirty="0"/>
          </a:p>
        </p:txBody>
      </p:sp>
      <p:sp>
        <p:nvSpPr>
          <p:cNvPr id="6" name="Text 4"/>
          <p:cNvSpPr txBox="1"/>
          <p:nvPr/>
        </p:nvSpPr>
        <p:spPr>
          <a:xfrm>
            <a:off x="640080" y="1783080"/>
            <a:ext cx="7772400" cy="640080"/>
          </a:xfrm>
          <a:prstGeom prst="rect">
            <a:avLst/>
          </a:prstGeom>
          <a:noFill/>
          <a:ln/>
        </p:spPr>
        <p:txBody>
          <a:bodyPr wrap="square" lIns="0" tIns="0" rIns="0" bIns="0" rtlCol="0" anchor="t"/>
          <a:lstStyle/>
          <a:p>
            <a:pPr algn="l" indent="0" marL="0">
              <a:lnSpc>
                <a:spcPct val="120000"/>
              </a:lnSpc>
              <a:buNone/>
            </a:pPr>
            <a:r>
              <a:rPr lang="en-US" sz="1400" dirty="0">
                <a:solidFill>
                  <a:srgbClr val="C3CBEA"/>
                </a:solidFill>
                <a:latin typeface="Calibri" pitchFamily="34" charset="0"/>
                <a:ea typeface="Calibri" pitchFamily="34" charset="-122"/>
                <a:cs typeface="Calibri" pitchFamily="34" charset="-120"/>
              </a:rPr>
              <a:t>Read the partnership record and supporting captures on the receipts page. Each name below is on the record, not on a wish list.</a:t>
            </a:r>
            <a:endParaRPr lang="en-US" sz="1400" dirty="0"/>
          </a:p>
        </p:txBody>
      </p:sp>
      <p:sp>
        <p:nvSpPr>
          <p:cNvPr id="7" name="Shape 5"/>
          <p:cNvSpPr/>
          <p:nvPr/>
        </p:nvSpPr>
        <p:spPr>
          <a:xfrm>
            <a:off x="640080" y="2743200"/>
            <a:ext cx="2050633" cy="822960"/>
          </a:xfrm>
          <a:prstGeom prst="roundRect">
            <a:avLst>
              <a:gd name="adj" fmla="val 8889"/>
            </a:avLst>
          </a:prstGeom>
          <a:solidFill>
            <a:srgbClr val="182452"/>
          </a:solidFill>
          <a:ln w="9525">
            <a:solidFill>
              <a:srgbClr val="34437F"/>
            </a:solidFill>
            <a:prstDash val="solid"/>
          </a:ln>
        </p:spPr>
      </p:sp>
      <p:sp>
        <p:nvSpPr>
          <p:cNvPr id="8" name="Text 6"/>
          <p:cNvSpPr txBox="1"/>
          <p:nvPr/>
        </p:nvSpPr>
        <p:spPr>
          <a:xfrm>
            <a:off x="640080" y="2743200"/>
            <a:ext cx="2050633" cy="822960"/>
          </a:xfrm>
          <a:prstGeom prst="rect">
            <a:avLst/>
          </a:prstGeom>
          <a:noFill/>
          <a:ln/>
        </p:spPr>
        <p:txBody>
          <a:bodyPr wrap="square" lIns="0" tIns="0" rIns="0" bIns="0" rtlCol="0" anchor="ctr"/>
          <a:lstStyle/>
          <a:p>
            <a:pPr algn="ctr" indent="0" marL="0">
              <a:buNone/>
            </a:pPr>
            <a:r>
              <a:rPr lang="en-US" sz="1500" b="1" dirty="0">
                <a:solidFill>
                  <a:srgbClr val="F4F5F9"/>
                </a:solidFill>
                <a:latin typeface="Calibri" pitchFamily="34" charset="0"/>
                <a:ea typeface="Calibri" pitchFamily="34" charset="-122"/>
                <a:cs typeface="Calibri" pitchFamily="34" charset="-120"/>
              </a:rPr>
              <a:t>Google Cloud</a:t>
            </a:r>
            <a:endParaRPr lang="en-US" sz="1500" dirty="0"/>
          </a:p>
        </p:txBody>
      </p:sp>
      <p:sp>
        <p:nvSpPr>
          <p:cNvPr id="9" name="Shape 7"/>
          <p:cNvSpPr/>
          <p:nvPr/>
        </p:nvSpPr>
        <p:spPr>
          <a:xfrm>
            <a:off x="2855305" y="2743200"/>
            <a:ext cx="2050633" cy="822960"/>
          </a:xfrm>
          <a:prstGeom prst="roundRect">
            <a:avLst>
              <a:gd name="adj" fmla="val 8889"/>
            </a:avLst>
          </a:prstGeom>
          <a:solidFill>
            <a:srgbClr val="182452"/>
          </a:solidFill>
          <a:ln w="9525">
            <a:solidFill>
              <a:srgbClr val="34437F"/>
            </a:solidFill>
            <a:prstDash val="solid"/>
          </a:ln>
        </p:spPr>
      </p:sp>
      <p:sp>
        <p:nvSpPr>
          <p:cNvPr id="10" name="Text 8"/>
          <p:cNvSpPr txBox="1"/>
          <p:nvPr/>
        </p:nvSpPr>
        <p:spPr>
          <a:xfrm>
            <a:off x="2855305" y="2743200"/>
            <a:ext cx="2050633" cy="822960"/>
          </a:xfrm>
          <a:prstGeom prst="rect">
            <a:avLst/>
          </a:prstGeom>
          <a:noFill/>
          <a:ln/>
        </p:spPr>
        <p:txBody>
          <a:bodyPr wrap="square" lIns="0" tIns="0" rIns="0" bIns="0" rtlCol="0" anchor="ctr"/>
          <a:lstStyle/>
          <a:p>
            <a:pPr algn="ctr" indent="0" marL="0">
              <a:buNone/>
            </a:pPr>
            <a:r>
              <a:rPr lang="en-US" sz="1500" b="1" dirty="0">
                <a:solidFill>
                  <a:srgbClr val="F4F5F9"/>
                </a:solidFill>
                <a:latin typeface="Calibri" pitchFamily="34" charset="0"/>
                <a:ea typeface="Calibri" pitchFamily="34" charset="-122"/>
                <a:cs typeface="Calibri" pitchFamily="34" charset="-120"/>
              </a:rPr>
              <a:t>Stripe</a:t>
            </a:r>
            <a:endParaRPr lang="en-US" sz="1500" dirty="0"/>
          </a:p>
        </p:txBody>
      </p:sp>
      <p:sp>
        <p:nvSpPr>
          <p:cNvPr id="11" name="Shape 9"/>
          <p:cNvSpPr/>
          <p:nvPr/>
        </p:nvSpPr>
        <p:spPr>
          <a:xfrm>
            <a:off x="5070531" y="2743200"/>
            <a:ext cx="2050633" cy="822960"/>
          </a:xfrm>
          <a:prstGeom prst="roundRect">
            <a:avLst>
              <a:gd name="adj" fmla="val 8889"/>
            </a:avLst>
          </a:prstGeom>
          <a:solidFill>
            <a:srgbClr val="182452"/>
          </a:solidFill>
          <a:ln w="9525">
            <a:solidFill>
              <a:srgbClr val="34437F"/>
            </a:solidFill>
            <a:prstDash val="solid"/>
          </a:ln>
        </p:spPr>
      </p:sp>
      <p:sp>
        <p:nvSpPr>
          <p:cNvPr id="12" name="Text 10"/>
          <p:cNvSpPr txBox="1"/>
          <p:nvPr/>
        </p:nvSpPr>
        <p:spPr>
          <a:xfrm>
            <a:off x="5070531" y="2743200"/>
            <a:ext cx="2050633" cy="822960"/>
          </a:xfrm>
          <a:prstGeom prst="rect">
            <a:avLst/>
          </a:prstGeom>
          <a:noFill/>
          <a:ln/>
        </p:spPr>
        <p:txBody>
          <a:bodyPr wrap="square" lIns="0" tIns="0" rIns="0" bIns="0" rtlCol="0" anchor="ctr"/>
          <a:lstStyle/>
          <a:p>
            <a:pPr algn="ctr" indent="0" marL="0">
              <a:buNone/>
            </a:pPr>
            <a:r>
              <a:rPr lang="en-US" sz="1500" b="1" dirty="0">
                <a:solidFill>
                  <a:srgbClr val="F4F5F9"/>
                </a:solidFill>
                <a:latin typeface="Calibri" pitchFamily="34" charset="0"/>
                <a:ea typeface="Calibri" pitchFamily="34" charset="-122"/>
                <a:cs typeface="Calibri" pitchFamily="34" charset="-120"/>
              </a:rPr>
              <a:t>Base</a:t>
            </a:r>
            <a:endParaRPr lang="en-US" sz="1500" dirty="0"/>
          </a:p>
        </p:txBody>
      </p:sp>
      <p:sp>
        <p:nvSpPr>
          <p:cNvPr id="13" name="Shape 11"/>
          <p:cNvSpPr/>
          <p:nvPr/>
        </p:nvSpPr>
        <p:spPr>
          <a:xfrm>
            <a:off x="7285756" y="2743200"/>
            <a:ext cx="2050633" cy="822960"/>
          </a:xfrm>
          <a:prstGeom prst="roundRect">
            <a:avLst>
              <a:gd name="adj" fmla="val 8889"/>
            </a:avLst>
          </a:prstGeom>
          <a:solidFill>
            <a:srgbClr val="182452"/>
          </a:solidFill>
          <a:ln w="9525">
            <a:solidFill>
              <a:srgbClr val="34437F"/>
            </a:solidFill>
            <a:prstDash val="solid"/>
          </a:ln>
        </p:spPr>
      </p:sp>
      <p:sp>
        <p:nvSpPr>
          <p:cNvPr id="14" name="Text 12"/>
          <p:cNvSpPr txBox="1"/>
          <p:nvPr/>
        </p:nvSpPr>
        <p:spPr>
          <a:xfrm>
            <a:off x="7285756" y="2743200"/>
            <a:ext cx="2050633" cy="822960"/>
          </a:xfrm>
          <a:prstGeom prst="rect">
            <a:avLst/>
          </a:prstGeom>
          <a:noFill/>
          <a:ln/>
        </p:spPr>
        <p:txBody>
          <a:bodyPr wrap="square" lIns="0" tIns="0" rIns="0" bIns="0" rtlCol="0" anchor="ctr"/>
          <a:lstStyle/>
          <a:p>
            <a:pPr algn="ctr" indent="0" marL="0">
              <a:buNone/>
            </a:pPr>
            <a:r>
              <a:rPr lang="en-US" sz="1500" b="1" dirty="0">
                <a:solidFill>
                  <a:srgbClr val="F4F5F9"/>
                </a:solidFill>
                <a:latin typeface="Calibri" pitchFamily="34" charset="0"/>
                <a:ea typeface="Calibri" pitchFamily="34" charset="-122"/>
                <a:cs typeface="Calibri" pitchFamily="34" charset="-120"/>
              </a:rPr>
              <a:t>Chainlink</a:t>
            </a:r>
            <a:endParaRPr lang="en-US" sz="1500" dirty="0"/>
          </a:p>
        </p:txBody>
      </p:sp>
      <p:sp>
        <p:nvSpPr>
          <p:cNvPr id="15" name="Shape 13"/>
          <p:cNvSpPr/>
          <p:nvPr/>
        </p:nvSpPr>
        <p:spPr>
          <a:xfrm>
            <a:off x="9500982" y="2743200"/>
            <a:ext cx="2050633" cy="822960"/>
          </a:xfrm>
          <a:prstGeom prst="roundRect">
            <a:avLst>
              <a:gd name="adj" fmla="val 8889"/>
            </a:avLst>
          </a:prstGeom>
          <a:solidFill>
            <a:srgbClr val="182452"/>
          </a:solidFill>
          <a:ln w="9525">
            <a:solidFill>
              <a:srgbClr val="34437F"/>
            </a:solidFill>
            <a:prstDash val="solid"/>
          </a:ln>
        </p:spPr>
      </p:sp>
      <p:sp>
        <p:nvSpPr>
          <p:cNvPr id="16" name="Text 14"/>
          <p:cNvSpPr txBox="1"/>
          <p:nvPr/>
        </p:nvSpPr>
        <p:spPr>
          <a:xfrm>
            <a:off x="9500982" y="2743200"/>
            <a:ext cx="2050633" cy="822960"/>
          </a:xfrm>
          <a:prstGeom prst="rect">
            <a:avLst/>
          </a:prstGeom>
          <a:noFill/>
          <a:ln/>
        </p:spPr>
        <p:txBody>
          <a:bodyPr wrap="square" lIns="0" tIns="0" rIns="0" bIns="0" rtlCol="0" anchor="ctr"/>
          <a:lstStyle/>
          <a:p>
            <a:pPr algn="ctr" indent="0" marL="0">
              <a:buNone/>
            </a:pPr>
            <a:r>
              <a:rPr lang="en-US" sz="1500" b="1" dirty="0">
                <a:solidFill>
                  <a:srgbClr val="F4F5F9"/>
                </a:solidFill>
                <a:latin typeface="Calibri" pitchFamily="34" charset="0"/>
                <a:ea typeface="Calibri" pitchFamily="34" charset="-122"/>
                <a:cs typeface="Calibri" pitchFamily="34" charset="-120"/>
              </a:rPr>
              <a:t>ChainGPT</a:t>
            </a:r>
            <a:endParaRPr lang="en-US" sz="1500" dirty="0"/>
          </a:p>
        </p:txBody>
      </p:sp>
      <p:sp>
        <p:nvSpPr>
          <p:cNvPr id="17" name="Shape 15"/>
          <p:cNvSpPr/>
          <p:nvPr/>
        </p:nvSpPr>
        <p:spPr>
          <a:xfrm>
            <a:off x="640080" y="3730752"/>
            <a:ext cx="2050633" cy="822960"/>
          </a:xfrm>
          <a:prstGeom prst="roundRect">
            <a:avLst>
              <a:gd name="adj" fmla="val 8889"/>
            </a:avLst>
          </a:prstGeom>
          <a:solidFill>
            <a:srgbClr val="182452"/>
          </a:solidFill>
          <a:ln w="9525">
            <a:solidFill>
              <a:srgbClr val="34437F"/>
            </a:solidFill>
            <a:prstDash val="solid"/>
          </a:ln>
        </p:spPr>
      </p:sp>
      <p:sp>
        <p:nvSpPr>
          <p:cNvPr id="18" name="Text 16"/>
          <p:cNvSpPr txBox="1"/>
          <p:nvPr/>
        </p:nvSpPr>
        <p:spPr>
          <a:xfrm>
            <a:off x="640080" y="3730752"/>
            <a:ext cx="2050633" cy="822960"/>
          </a:xfrm>
          <a:prstGeom prst="rect">
            <a:avLst/>
          </a:prstGeom>
          <a:noFill/>
          <a:ln/>
        </p:spPr>
        <p:txBody>
          <a:bodyPr wrap="square" lIns="0" tIns="0" rIns="0" bIns="0" rtlCol="0" anchor="ctr"/>
          <a:lstStyle/>
          <a:p>
            <a:pPr algn="ctr" indent="0" marL="0">
              <a:buNone/>
            </a:pPr>
            <a:r>
              <a:rPr lang="en-US" sz="1500" b="1" dirty="0">
                <a:solidFill>
                  <a:srgbClr val="F4F5F9"/>
                </a:solidFill>
                <a:latin typeface="Calibri" pitchFamily="34" charset="0"/>
                <a:ea typeface="Calibri" pitchFamily="34" charset="-122"/>
                <a:cs typeface="Calibri" pitchFamily="34" charset="-120"/>
              </a:rPr>
              <a:t>LayerZero</a:t>
            </a:r>
            <a:endParaRPr lang="en-US" sz="1500" dirty="0"/>
          </a:p>
        </p:txBody>
      </p:sp>
      <p:sp>
        <p:nvSpPr>
          <p:cNvPr id="19" name="Shape 17"/>
          <p:cNvSpPr/>
          <p:nvPr/>
        </p:nvSpPr>
        <p:spPr>
          <a:xfrm>
            <a:off x="2855305" y="3730752"/>
            <a:ext cx="2050633" cy="822960"/>
          </a:xfrm>
          <a:prstGeom prst="roundRect">
            <a:avLst>
              <a:gd name="adj" fmla="val 8889"/>
            </a:avLst>
          </a:prstGeom>
          <a:solidFill>
            <a:srgbClr val="182452"/>
          </a:solidFill>
          <a:ln w="9525">
            <a:solidFill>
              <a:srgbClr val="34437F"/>
            </a:solidFill>
            <a:prstDash val="solid"/>
          </a:ln>
        </p:spPr>
      </p:sp>
      <p:sp>
        <p:nvSpPr>
          <p:cNvPr id="20" name="Text 18"/>
          <p:cNvSpPr txBox="1"/>
          <p:nvPr/>
        </p:nvSpPr>
        <p:spPr>
          <a:xfrm>
            <a:off x="2855305" y="3730752"/>
            <a:ext cx="2050633" cy="822960"/>
          </a:xfrm>
          <a:prstGeom prst="rect">
            <a:avLst/>
          </a:prstGeom>
          <a:noFill/>
          <a:ln/>
        </p:spPr>
        <p:txBody>
          <a:bodyPr wrap="square" lIns="0" tIns="0" rIns="0" bIns="0" rtlCol="0" anchor="ctr"/>
          <a:lstStyle/>
          <a:p>
            <a:pPr algn="ctr" indent="0" marL="0">
              <a:buNone/>
            </a:pPr>
            <a:r>
              <a:rPr lang="en-US" sz="1500" b="1" dirty="0">
                <a:solidFill>
                  <a:srgbClr val="F4F5F9"/>
                </a:solidFill>
                <a:latin typeface="Calibri" pitchFamily="34" charset="0"/>
                <a:ea typeface="Calibri" pitchFamily="34" charset="-122"/>
                <a:cs typeface="Calibri" pitchFamily="34" charset="-120"/>
              </a:rPr>
              <a:t>Virtuals</a:t>
            </a:r>
            <a:endParaRPr lang="en-US" sz="1500" dirty="0"/>
          </a:p>
        </p:txBody>
      </p:sp>
      <p:sp>
        <p:nvSpPr>
          <p:cNvPr id="21" name="Shape 19"/>
          <p:cNvSpPr/>
          <p:nvPr/>
        </p:nvSpPr>
        <p:spPr>
          <a:xfrm>
            <a:off x="5070531" y="3730752"/>
            <a:ext cx="2050633" cy="822960"/>
          </a:xfrm>
          <a:prstGeom prst="roundRect">
            <a:avLst>
              <a:gd name="adj" fmla="val 8889"/>
            </a:avLst>
          </a:prstGeom>
          <a:solidFill>
            <a:srgbClr val="182452"/>
          </a:solidFill>
          <a:ln w="9525">
            <a:solidFill>
              <a:srgbClr val="34437F"/>
            </a:solidFill>
            <a:prstDash val="solid"/>
          </a:ln>
        </p:spPr>
      </p:sp>
      <p:sp>
        <p:nvSpPr>
          <p:cNvPr id="22" name="Text 20"/>
          <p:cNvSpPr txBox="1"/>
          <p:nvPr/>
        </p:nvSpPr>
        <p:spPr>
          <a:xfrm>
            <a:off x="5070531" y="3730752"/>
            <a:ext cx="2050633" cy="822960"/>
          </a:xfrm>
          <a:prstGeom prst="rect">
            <a:avLst/>
          </a:prstGeom>
          <a:noFill/>
          <a:ln/>
        </p:spPr>
        <p:txBody>
          <a:bodyPr wrap="square" lIns="0" tIns="0" rIns="0" bIns="0" rtlCol="0" anchor="ctr"/>
          <a:lstStyle/>
          <a:p>
            <a:pPr algn="ctr" indent="0" marL="0">
              <a:buNone/>
            </a:pPr>
            <a:r>
              <a:rPr lang="en-US" sz="1500" b="1" dirty="0">
                <a:solidFill>
                  <a:srgbClr val="F4F5F9"/>
                </a:solidFill>
                <a:latin typeface="Calibri" pitchFamily="34" charset="0"/>
                <a:ea typeface="Calibri" pitchFamily="34" charset="-122"/>
                <a:cs typeface="Calibri" pitchFamily="34" charset="-120"/>
              </a:rPr>
              <a:t>AgentCash</a:t>
            </a:r>
            <a:endParaRPr lang="en-US" sz="1500" dirty="0"/>
          </a:p>
        </p:txBody>
      </p:sp>
      <p:sp>
        <p:nvSpPr>
          <p:cNvPr id="23" name="Shape 21"/>
          <p:cNvSpPr/>
          <p:nvPr/>
        </p:nvSpPr>
        <p:spPr>
          <a:xfrm>
            <a:off x="7285756" y="3730752"/>
            <a:ext cx="2050633" cy="822960"/>
          </a:xfrm>
          <a:prstGeom prst="roundRect">
            <a:avLst>
              <a:gd name="adj" fmla="val 8889"/>
            </a:avLst>
          </a:prstGeom>
          <a:solidFill>
            <a:srgbClr val="182452"/>
          </a:solidFill>
          <a:ln w="9525">
            <a:solidFill>
              <a:srgbClr val="34437F"/>
            </a:solidFill>
            <a:prstDash val="solid"/>
          </a:ln>
        </p:spPr>
      </p:sp>
      <p:sp>
        <p:nvSpPr>
          <p:cNvPr id="24" name="Text 22"/>
          <p:cNvSpPr txBox="1"/>
          <p:nvPr/>
        </p:nvSpPr>
        <p:spPr>
          <a:xfrm>
            <a:off x="7285756" y="3730752"/>
            <a:ext cx="2050633" cy="822960"/>
          </a:xfrm>
          <a:prstGeom prst="rect">
            <a:avLst/>
          </a:prstGeom>
          <a:noFill/>
          <a:ln/>
        </p:spPr>
        <p:txBody>
          <a:bodyPr wrap="square" lIns="0" tIns="0" rIns="0" bIns="0" rtlCol="0" anchor="ctr"/>
          <a:lstStyle/>
          <a:p>
            <a:pPr algn="ctr" indent="0" marL="0">
              <a:buNone/>
            </a:pPr>
            <a:r>
              <a:rPr lang="en-US" sz="1500" b="1" dirty="0">
                <a:solidFill>
                  <a:srgbClr val="F4F5F9"/>
                </a:solidFill>
                <a:latin typeface="Calibri" pitchFamily="34" charset="0"/>
                <a:ea typeface="Calibri" pitchFamily="34" charset="-122"/>
                <a:cs typeface="Calibri" pitchFamily="34" charset="-120"/>
              </a:rPr>
              <a:t>Mario Nawfal</a:t>
            </a:r>
            <a:endParaRPr lang="en-US" sz="1500" dirty="0"/>
          </a:p>
        </p:txBody>
      </p:sp>
      <p:sp>
        <p:nvSpPr>
          <p:cNvPr id="25" name="Shape 23"/>
          <p:cNvSpPr/>
          <p:nvPr/>
        </p:nvSpPr>
        <p:spPr>
          <a:xfrm>
            <a:off x="9500982" y="3730752"/>
            <a:ext cx="2050633" cy="822960"/>
          </a:xfrm>
          <a:prstGeom prst="roundRect">
            <a:avLst>
              <a:gd name="adj" fmla="val 8889"/>
            </a:avLst>
          </a:prstGeom>
          <a:solidFill>
            <a:srgbClr val="182452"/>
          </a:solidFill>
          <a:ln w="9525">
            <a:solidFill>
              <a:srgbClr val="34437F"/>
            </a:solidFill>
            <a:prstDash val="solid"/>
          </a:ln>
        </p:spPr>
      </p:sp>
      <p:sp>
        <p:nvSpPr>
          <p:cNvPr id="26" name="Text 24"/>
          <p:cNvSpPr txBox="1"/>
          <p:nvPr/>
        </p:nvSpPr>
        <p:spPr>
          <a:xfrm>
            <a:off x="9500982" y="3730752"/>
            <a:ext cx="2050633" cy="822960"/>
          </a:xfrm>
          <a:prstGeom prst="rect">
            <a:avLst/>
          </a:prstGeom>
          <a:noFill/>
          <a:ln/>
        </p:spPr>
        <p:txBody>
          <a:bodyPr wrap="square" lIns="0" tIns="0" rIns="0" bIns="0" rtlCol="0" anchor="ctr"/>
          <a:lstStyle/>
          <a:p>
            <a:pPr algn="ctr" indent="0" marL="0">
              <a:buNone/>
            </a:pPr>
            <a:r>
              <a:rPr lang="en-US" sz="1500" b="1" dirty="0">
                <a:solidFill>
                  <a:srgbClr val="F4F5F9"/>
                </a:solidFill>
                <a:latin typeface="Calibri" pitchFamily="34" charset="0"/>
                <a:ea typeface="Calibri" pitchFamily="34" charset="-122"/>
                <a:cs typeface="Calibri" pitchFamily="34" charset="-120"/>
              </a:rPr>
              <a:t>Brave Browser</a:t>
            </a:r>
            <a:endParaRPr lang="en-US" sz="1500" dirty="0"/>
          </a:p>
        </p:txBody>
      </p:sp>
      <p:sp>
        <p:nvSpPr>
          <p:cNvPr id="27" name="Shape 25"/>
          <p:cNvSpPr/>
          <p:nvPr/>
        </p:nvSpPr>
        <p:spPr>
          <a:xfrm>
            <a:off x="640080" y="4892040"/>
            <a:ext cx="10911535" cy="0"/>
          </a:xfrm>
          <a:prstGeom prst="line">
            <a:avLst/>
          </a:prstGeom>
          <a:noFill/>
          <a:ln w="9525">
            <a:solidFill>
              <a:srgbClr val="34437F"/>
            </a:solidFill>
            <a:prstDash val="solid"/>
          </a:ln>
        </p:spPr>
      </p:sp>
      <p:sp>
        <p:nvSpPr>
          <p:cNvPr id="28" name="Text 26"/>
          <p:cNvSpPr txBox="1"/>
          <p:nvPr/>
        </p:nvSpPr>
        <p:spPr>
          <a:xfrm>
            <a:off x="640080" y="4983480"/>
            <a:ext cx="2743200" cy="685800"/>
          </a:xfrm>
          <a:prstGeom prst="rect">
            <a:avLst/>
          </a:prstGeom>
          <a:noFill/>
          <a:ln/>
        </p:spPr>
        <p:txBody>
          <a:bodyPr wrap="square" lIns="0" tIns="0" rIns="0" bIns="0" rtlCol="0" anchor="b"/>
          <a:lstStyle/>
          <a:p>
            <a:pPr indent="0" marL="0">
              <a:buNone/>
            </a:pPr>
            <a:r>
              <a:rPr lang="en-US" sz="4000" dirty="0">
                <a:solidFill>
                  <a:srgbClr val="F4F5F9"/>
                </a:solidFill>
                <a:latin typeface="Cambria" pitchFamily="34" charset="0"/>
                <a:ea typeface="Cambria" pitchFamily="34" charset="-122"/>
                <a:cs typeface="Cambria" pitchFamily="34" charset="-120"/>
              </a:rPr>
              <a:t>5.0</a:t>
            </a:r>
            <a:endParaRPr lang="en-US" sz="4000" dirty="0"/>
          </a:p>
        </p:txBody>
      </p:sp>
      <p:sp>
        <p:nvSpPr>
          <p:cNvPr id="29" name="Text 27"/>
          <p:cNvSpPr txBox="1"/>
          <p:nvPr/>
        </p:nvSpPr>
        <p:spPr>
          <a:xfrm>
            <a:off x="640080" y="5742432"/>
            <a:ext cx="2743200" cy="548640"/>
          </a:xfrm>
          <a:prstGeom prst="rect">
            <a:avLst/>
          </a:prstGeom>
          <a:noFill/>
          <a:ln/>
        </p:spPr>
        <p:txBody>
          <a:bodyPr wrap="square" lIns="0" tIns="0" rIns="0" bIns="0" rtlCol="0" anchor="t"/>
          <a:lstStyle/>
          <a:p>
            <a:pPr indent="0" marL="0">
              <a:lnSpc>
                <a:spcPct val="115000"/>
              </a:lnSpc>
              <a:buNone/>
            </a:pPr>
            <a:r>
              <a:rPr lang="en-US" sz="1100" dirty="0">
                <a:solidFill>
                  <a:srgbClr val="C3CBEA"/>
                </a:solidFill>
                <a:latin typeface="Calibri" pitchFamily="34" charset="0"/>
                <a:ea typeface="Calibri" pitchFamily="34" charset="-122"/>
                <a:cs typeface="Calibri" pitchFamily="34" charset="-120"/>
              </a:rPr>
              <a:t>rated by AI Agents Directory, from 9 reviews</a:t>
            </a:r>
            <a:endParaRPr lang="en-US" sz="1100" dirty="0"/>
          </a:p>
        </p:txBody>
      </p:sp>
      <p:sp>
        <p:nvSpPr>
          <p:cNvPr id="30" name="Text 28"/>
          <p:cNvSpPr txBox="1"/>
          <p:nvPr/>
        </p:nvSpPr>
        <p:spPr>
          <a:xfrm>
            <a:off x="3749040" y="4983480"/>
            <a:ext cx="2926080" cy="685800"/>
          </a:xfrm>
          <a:prstGeom prst="rect">
            <a:avLst/>
          </a:prstGeom>
          <a:noFill/>
          <a:ln/>
        </p:spPr>
        <p:txBody>
          <a:bodyPr wrap="square" lIns="0" tIns="0" rIns="0" bIns="0" rtlCol="0" anchor="b"/>
          <a:lstStyle/>
          <a:p>
            <a:pPr indent="0" marL="0">
              <a:buNone/>
            </a:pPr>
            <a:r>
              <a:rPr lang="en-US" sz="4000" dirty="0">
                <a:solidFill>
                  <a:srgbClr val="F4F5F9"/>
                </a:solidFill>
                <a:latin typeface="Cambria" pitchFamily="34" charset="0"/>
                <a:ea typeface="Cambria" pitchFamily="34" charset="-122"/>
                <a:cs typeface="Cambria" pitchFamily="34" charset="-120"/>
              </a:rPr>
              <a:t>#1</a:t>
            </a:r>
            <a:endParaRPr lang="en-US" sz="4000" dirty="0"/>
          </a:p>
        </p:txBody>
      </p:sp>
      <p:sp>
        <p:nvSpPr>
          <p:cNvPr id="31" name="Text 29"/>
          <p:cNvSpPr txBox="1"/>
          <p:nvPr/>
        </p:nvSpPr>
        <p:spPr>
          <a:xfrm>
            <a:off x="3749040" y="5742432"/>
            <a:ext cx="2926080" cy="548640"/>
          </a:xfrm>
          <a:prstGeom prst="rect">
            <a:avLst/>
          </a:prstGeom>
          <a:noFill/>
          <a:ln/>
        </p:spPr>
        <p:txBody>
          <a:bodyPr wrap="square" lIns="0" tIns="0" rIns="0" bIns="0" rtlCol="0" anchor="t"/>
          <a:lstStyle/>
          <a:p>
            <a:pPr indent="0" marL="0">
              <a:lnSpc>
                <a:spcPct val="115000"/>
              </a:lnSpc>
              <a:buNone/>
            </a:pPr>
            <a:r>
              <a:rPr lang="en-US" sz="1100" dirty="0">
                <a:solidFill>
                  <a:srgbClr val="C3CBEA"/>
                </a:solidFill>
                <a:latin typeface="Calibri" pitchFamily="34" charset="0"/>
                <a:ea typeface="Calibri" pitchFamily="34" charset="-122"/>
                <a:cs typeface="Calibri" pitchFamily="34" charset="-120"/>
              </a:rPr>
              <a:t>Overall Music Platform, AI Agents Directory</a:t>
            </a:r>
            <a:endParaRPr lang="en-US" sz="1100" dirty="0"/>
          </a:p>
        </p:txBody>
      </p:sp>
      <p:sp>
        <p:nvSpPr>
          <p:cNvPr id="32" name="Text 30"/>
          <p:cNvSpPr txBox="1"/>
          <p:nvPr/>
        </p:nvSpPr>
        <p:spPr>
          <a:xfrm>
            <a:off x="7040880" y="4983480"/>
            <a:ext cx="2743200" cy="685800"/>
          </a:xfrm>
          <a:prstGeom prst="rect">
            <a:avLst/>
          </a:prstGeom>
          <a:noFill/>
          <a:ln/>
        </p:spPr>
        <p:txBody>
          <a:bodyPr wrap="square" lIns="0" tIns="0" rIns="0" bIns="0" rtlCol="0" anchor="b"/>
          <a:lstStyle/>
          <a:p>
            <a:pPr indent="0" marL="0">
              <a:buNone/>
            </a:pPr>
            <a:r>
              <a:rPr lang="en-US" sz="4000" dirty="0">
                <a:solidFill>
                  <a:srgbClr val="F4F5F9"/>
                </a:solidFill>
                <a:latin typeface="Cambria" pitchFamily="34" charset="0"/>
                <a:ea typeface="Cambria" pitchFamily="34" charset="-122"/>
                <a:cs typeface="Cambria" pitchFamily="34" charset="-120"/>
              </a:rPr>
              <a:t>8</a:t>
            </a:r>
            <a:endParaRPr lang="en-US" sz="4000" dirty="0"/>
          </a:p>
        </p:txBody>
      </p:sp>
      <p:sp>
        <p:nvSpPr>
          <p:cNvPr id="33" name="Text 31"/>
          <p:cNvSpPr txBox="1"/>
          <p:nvPr/>
        </p:nvSpPr>
        <p:spPr>
          <a:xfrm>
            <a:off x="7040880" y="5742432"/>
            <a:ext cx="2743200" cy="548640"/>
          </a:xfrm>
          <a:prstGeom prst="rect">
            <a:avLst/>
          </a:prstGeom>
          <a:noFill/>
          <a:ln/>
        </p:spPr>
        <p:txBody>
          <a:bodyPr wrap="square" lIns="0" tIns="0" rIns="0" bIns="0" rtlCol="0" anchor="t"/>
          <a:lstStyle/>
          <a:p>
            <a:pPr indent="0" marL="0">
              <a:lnSpc>
                <a:spcPct val="115000"/>
              </a:lnSpc>
              <a:buNone/>
            </a:pPr>
            <a:r>
              <a:rPr lang="en-US" sz="1100" dirty="0">
                <a:solidFill>
                  <a:srgbClr val="C3CBEA"/>
                </a:solidFill>
                <a:latin typeface="Calibri" pitchFamily="34" charset="0"/>
                <a:ea typeface="Calibri" pitchFamily="34" charset="-122"/>
                <a:cs typeface="Calibri" pitchFamily="34" charset="-120"/>
              </a:rPr>
              <a:t>iOS apps live on the App Store</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6400800"/>
            <a:ext cx="8686800" cy="228600"/>
          </a:xfrm>
          <a:prstGeom prst="rect">
            <a:avLst/>
          </a:prstGeom>
          <a:noFill/>
          <a:ln/>
        </p:spPr>
        <p:txBody>
          <a:bodyPr wrap="square" lIns="0" tIns="0" rIns="0" bIns="0" rtlCol="0" anchor="ctr"/>
          <a:lstStyle/>
          <a:p>
            <a:pPr indent="0" marL="0">
              <a:buNone/>
            </a:pPr>
            <a:r>
              <a:rPr lang="en-US" sz="850" spc="100" kern="0" dirty="0">
                <a:solidFill>
                  <a:srgbClr val="4A526B"/>
                </a:solidFill>
                <a:latin typeface="Courier New" pitchFamily="34" charset="0"/>
                <a:ea typeface="Courier New" pitchFamily="34" charset="-122"/>
                <a:cs typeface="Courier New" pitchFamily="34" charset="-120"/>
              </a:rPr>
              <a:t>SUEDE SEO · SEO.SUEDEAI.AI · FULL-STACK GEO &amp; AI ENGINEERING</a:t>
            </a:r>
            <a:endParaRPr lang="en-US" sz="850" dirty="0"/>
          </a:p>
        </p:txBody>
      </p:sp>
      <p:sp>
        <p:nvSpPr>
          <p:cNvPr id="3" name="Text 1"/>
          <p:cNvSpPr txBox="1"/>
          <p:nvPr/>
        </p:nvSpPr>
        <p:spPr>
          <a:xfrm>
            <a:off x="10637215" y="6400800"/>
            <a:ext cx="914400" cy="228600"/>
          </a:xfrm>
          <a:prstGeom prst="rect">
            <a:avLst/>
          </a:prstGeom>
          <a:noFill/>
          <a:ln/>
        </p:spPr>
        <p:txBody>
          <a:bodyPr wrap="square" lIns="0" tIns="0" rIns="0" bIns="0" rtlCol="0" anchor="ctr"/>
          <a:lstStyle/>
          <a:p>
            <a:pPr algn="r" indent="0" marL="0">
              <a:buNone/>
            </a:pPr>
            <a:r>
              <a:rPr lang="en-US" sz="850" dirty="0">
                <a:solidFill>
                  <a:srgbClr val="4A526B"/>
                </a:solidFill>
                <a:latin typeface="Courier New" pitchFamily="34" charset="0"/>
                <a:ea typeface="Courier New" pitchFamily="34" charset="-122"/>
                <a:cs typeface="Courier New" pitchFamily="34" charset="-120"/>
              </a:rPr>
              <a:t>08</a:t>
            </a:r>
            <a:endParaRPr lang="en-US" sz="850" dirty="0"/>
          </a:p>
        </p:txBody>
      </p:sp>
      <p:sp>
        <p:nvSpPr>
          <p:cNvPr id="4" name="Text 2"/>
          <p:cNvSpPr txBox="1"/>
          <p:nvPr/>
        </p:nvSpPr>
        <p:spPr>
          <a:xfrm>
            <a:off x="640080" y="548640"/>
            <a:ext cx="9144000" cy="256032"/>
          </a:xfrm>
          <a:prstGeom prst="rect">
            <a:avLst/>
          </a:prstGeom>
          <a:noFill/>
          <a:ln/>
        </p:spPr>
        <p:txBody>
          <a:bodyPr wrap="square" lIns="0" tIns="0" rIns="0" bIns="0" rtlCol="0" anchor="ctr"/>
          <a:lstStyle/>
          <a:p>
            <a:pPr indent="0" marL="0">
              <a:buNone/>
            </a:pPr>
            <a:r>
              <a:rPr lang="en-US" sz="950" spc="250" kern="0" dirty="0">
                <a:solidFill>
                  <a:srgbClr val="1F3FBF"/>
                </a:solidFill>
                <a:latin typeface="Courier New" pitchFamily="34" charset="0"/>
                <a:ea typeface="Courier New" pitchFamily="34" charset="-122"/>
                <a:cs typeface="Courier New" pitchFamily="34" charset="-120"/>
              </a:rPr>
              <a:t>07 — HOW AN ENGAGEMENT RUNS</a:t>
            </a:r>
            <a:endParaRPr lang="en-US" sz="950" dirty="0"/>
          </a:p>
        </p:txBody>
      </p:sp>
      <p:sp>
        <p:nvSpPr>
          <p:cNvPr id="5" name="Text 3"/>
          <p:cNvSpPr txBox="1"/>
          <p:nvPr/>
        </p:nvSpPr>
        <p:spPr>
          <a:xfrm>
            <a:off x="640080" y="868680"/>
            <a:ext cx="10058400" cy="929640"/>
          </a:xfrm>
          <a:prstGeom prst="rect">
            <a:avLst/>
          </a:prstGeom>
          <a:noFill/>
          <a:ln/>
        </p:spPr>
        <p:txBody>
          <a:bodyPr wrap="square" lIns="0" tIns="0" rIns="0" bIns="0" rtlCol="0" anchor="t"/>
          <a:lstStyle/>
          <a:p>
            <a:pPr algn="l" indent="0" marL="0">
              <a:lnSpc>
                <a:spcPct val="105000"/>
              </a:lnSpc>
              <a:buNone/>
            </a:pPr>
            <a:r>
              <a:rPr lang="en-US" sz="3000" dirty="0">
                <a:solidFill>
                  <a:srgbClr val="161A2B"/>
                </a:solidFill>
                <a:latin typeface="Cambria" pitchFamily="34" charset="0"/>
                <a:ea typeface="Cambria" pitchFamily="34" charset="-122"/>
                <a:cs typeface="Cambria" pitchFamily="34" charset="-120"/>
              </a:rPr>
              <a:t>Retainer for the visibility work. A fixed clock for the engineering.</a:t>
            </a:r>
            <a:endParaRPr lang="en-US" sz="3000" dirty="0"/>
          </a:p>
        </p:txBody>
      </p:sp>
      <p:sp>
        <p:nvSpPr>
          <p:cNvPr id="6" name="Shape 4"/>
          <p:cNvSpPr/>
          <p:nvPr/>
        </p:nvSpPr>
        <p:spPr>
          <a:xfrm>
            <a:off x="640080" y="2240280"/>
            <a:ext cx="3484778" cy="3383280"/>
          </a:xfrm>
          <a:prstGeom prst="roundRect">
            <a:avLst>
              <a:gd name="adj" fmla="val 3243"/>
            </a:avLst>
          </a:prstGeom>
          <a:solidFill>
            <a:srgbClr val="F4F6FC"/>
          </a:solidFill>
          <a:ln w="9525">
            <a:solidFill>
              <a:srgbClr val="D6DCF0"/>
            </a:solidFill>
            <a:prstDash val="solid"/>
          </a:ln>
          <a:effectLst>
            <a:outerShdw sx="100000" sy="100000" kx="0" ky="0" algn="bl" rotWithShape="0" blurRad="152400" dist="38100" dir="5400000">
              <a:srgbClr val="000000">
                <a:alpha val="8000"/>
              </a:srgbClr>
            </a:outerShdw>
          </a:effectLst>
        </p:spPr>
      </p:sp>
      <p:sp>
        <p:nvSpPr>
          <p:cNvPr id="7" name="Text 5"/>
          <p:cNvSpPr txBox="1"/>
          <p:nvPr/>
        </p:nvSpPr>
        <p:spPr>
          <a:xfrm>
            <a:off x="914400" y="2468880"/>
            <a:ext cx="2936138" cy="256032"/>
          </a:xfrm>
          <a:prstGeom prst="rect">
            <a:avLst/>
          </a:prstGeom>
          <a:noFill/>
          <a:ln/>
        </p:spPr>
        <p:txBody>
          <a:bodyPr wrap="square" lIns="0" tIns="0" rIns="0" bIns="0" rtlCol="0" anchor="ctr"/>
          <a:lstStyle/>
          <a:p>
            <a:pPr indent="0" marL="0">
              <a:buNone/>
            </a:pPr>
            <a:r>
              <a:rPr lang="en-US" sz="950" spc="250" kern="0" dirty="0">
                <a:solidFill>
                  <a:srgbClr val="1F3FBF"/>
                </a:solidFill>
                <a:latin typeface="Courier New" pitchFamily="34" charset="0"/>
                <a:ea typeface="Courier New" pitchFamily="34" charset="-122"/>
                <a:cs typeface="Courier New" pitchFamily="34" charset="-120"/>
              </a:rPr>
              <a:t>RETAINER</a:t>
            </a:r>
            <a:endParaRPr lang="en-US" sz="950" dirty="0"/>
          </a:p>
        </p:txBody>
      </p:sp>
      <p:sp>
        <p:nvSpPr>
          <p:cNvPr id="8" name="Text 6"/>
          <p:cNvSpPr txBox="1"/>
          <p:nvPr/>
        </p:nvSpPr>
        <p:spPr>
          <a:xfrm>
            <a:off x="914400" y="2743200"/>
            <a:ext cx="2936138" cy="731520"/>
          </a:xfrm>
          <a:prstGeom prst="rect">
            <a:avLst/>
          </a:prstGeom>
          <a:noFill/>
          <a:ln/>
        </p:spPr>
        <p:txBody>
          <a:bodyPr wrap="square" lIns="0" tIns="0" rIns="0" bIns="0" rtlCol="0" anchor="t"/>
          <a:lstStyle/>
          <a:p>
            <a:pPr algn="l" indent="0" marL="0">
              <a:lnSpc>
                <a:spcPct val="105000"/>
              </a:lnSpc>
              <a:buNone/>
            </a:pPr>
            <a:r>
              <a:rPr lang="en-US" sz="1900" dirty="0">
                <a:solidFill>
                  <a:srgbClr val="161A2B"/>
                </a:solidFill>
                <a:latin typeface="Cambria" pitchFamily="34" charset="0"/>
                <a:ea typeface="Cambria" pitchFamily="34" charset="-122"/>
                <a:cs typeface="Cambria" pitchFamily="34" charset="-120"/>
              </a:rPr>
              <a:t>Full-stack GEO</a:t>
            </a:r>
            <a:endParaRPr lang="en-US" sz="1900" dirty="0"/>
          </a:p>
        </p:txBody>
      </p:sp>
      <p:sp>
        <p:nvSpPr>
          <p:cNvPr id="9" name="Text 7"/>
          <p:cNvSpPr txBox="1"/>
          <p:nvPr/>
        </p:nvSpPr>
        <p:spPr>
          <a:xfrm>
            <a:off x="914400" y="3566160"/>
            <a:ext cx="2936138" cy="1920240"/>
          </a:xfrm>
          <a:prstGeom prst="rect">
            <a:avLst/>
          </a:prstGeom>
          <a:noFill/>
          <a:ln/>
        </p:spPr>
        <p:txBody>
          <a:bodyPr wrap="square" lIns="0" tIns="0" rIns="0" bIns="0" rtlCol="0" anchor="t"/>
          <a:lstStyle/>
          <a:p>
            <a:pPr marL="177800" indent="-177800">
              <a:lnSpc>
                <a:spcPct val="115000"/>
              </a:lnSpc>
              <a:spcAft>
                <a:spcPts val="600"/>
              </a:spcAft>
              <a:buSzPct val="100000"/>
              <a:buChar char="•"/>
            </a:pPr>
            <a:r>
              <a:rPr lang="en-US" sz="1200" dirty="0">
                <a:solidFill>
                  <a:srgbClr val="4A526B"/>
                </a:solidFill>
                <a:latin typeface="Calibri" pitchFamily="34" charset="0"/>
                <a:ea typeface="Calibri" pitchFamily="34" charset="-122"/>
                <a:cs typeface="Calibri" pitchFamily="34" charset="-120"/>
              </a:rPr>
              <a:t>Dated captures across four engines</a:t>
            </a:r>
            <a:endParaRPr lang="en-US" sz="1200" dirty="0"/>
          </a:p>
          <a:p>
            <a:pPr marL="177800" indent="-177800">
              <a:lnSpc>
                <a:spcPct val="115000"/>
              </a:lnSpc>
              <a:spcAft>
                <a:spcPts val="600"/>
              </a:spcAft>
              <a:buSzPct val="100000"/>
              <a:buChar char="•"/>
            </a:pPr>
            <a:r>
              <a:rPr lang="en-US" sz="1200" dirty="0">
                <a:solidFill>
                  <a:srgbClr val="4A526B"/>
                </a:solidFill>
                <a:latin typeface="Calibri" pitchFamily="34" charset="0"/>
                <a:ea typeface="Calibri" pitchFamily="34" charset="-122"/>
                <a:cs typeface="Calibri" pitchFamily="34" charset="-120"/>
              </a:rPr>
              <a:t>Page and entity-record repair</a:t>
            </a:r>
            <a:endParaRPr lang="en-US" sz="1200" dirty="0"/>
          </a:p>
          <a:p>
            <a:pPr marL="177800" indent="-177800">
              <a:lnSpc>
                <a:spcPct val="115000"/>
              </a:lnSpc>
              <a:spcAft>
                <a:spcPts val="600"/>
              </a:spcAft>
              <a:buSzPct val="100000"/>
              <a:buChar char="•"/>
            </a:pPr>
            <a:r>
              <a:rPr lang="en-US" sz="1200" dirty="0">
                <a:solidFill>
                  <a:srgbClr val="4A526B"/>
                </a:solidFill>
                <a:latin typeface="Calibri" pitchFamily="34" charset="0"/>
                <a:ea typeface="Calibri" pitchFamily="34" charset="-122"/>
                <a:cs typeface="Calibri" pitchFamily="34" charset="-120"/>
              </a:rPr>
              <a:t>Press pitch and newsroom</a:t>
            </a:r>
            <a:endParaRPr lang="en-US" sz="1200" dirty="0"/>
          </a:p>
          <a:p>
            <a:pPr marL="177800" indent="-177800">
              <a:lnSpc>
                <a:spcPct val="115000"/>
              </a:lnSpc>
              <a:spcAft>
                <a:spcPts val="600"/>
              </a:spcAft>
              <a:buSzPct val="100000"/>
              <a:buChar char="•"/>
            </a:pPr>
            <a:r>
              <a:rPr lang="en-US" sz="1200" dirty="0">
                <a:solidFill>
                  <a:srgbClr val="4A526B"/>
                </a:solidFill>
                <a:latin typeface="Calibri" pitchFamily="34" charset="0"/>
                <a:ea typeface="Calibri" pitchFamily="34" charset="-122"/>
                <a:cs typeface="Calibri" pitchFamily="34" charset="-120"/>
              </a:rPr>
              <a:t>Monthly re-capture and receipts</a:t>
            </a:r>
            <a:endParaRPr lang="en-US" sz="1200" dirty="0"/>
          </a:p>
        </p:txBody>
      </p:sp>
      <p:sp>
        <p:nvSpPr>
          <p:cNvPr id="10" name="Shape 8"/>
          <p:cNvSpPr/>
          <p:nvPr/>
        </p:nvSpPr>
        <p:spPr>
          <a:xfrm>
            <a:off x="4353458" y="2240280"/>
            <a:ext cx="3484778" cy="3383280"/>
          </a:xfrm>
          <a:prstGeom prst="roundRect">
            <a:avLst>
              <a:gd name="adj" fmla="val 3243"/>
            </a:avLst>
          </a:prstGeom>
          <a:solidFill>
            <a:srgbClr val="F4F6FC"/>
          </a:solidFill>
          <a:ln w="9525">
            <a:solidFill>
              <a:srgbClr val="D6DCF0"/>
            </a:solidFill>
            <a:prstDash val="solid"/>
          </a:ln>
          <a:effectLst>
            <a:outerShdw sx="100000" sy="100000" kx="0" ky="0" algn="bl" rotWithShape="0" blurRad="152400" dist="38100" dir="5400000">
              <a:srgbClr val="000000">
                <a:alpha val="8000"/>
              </a:srgbClr>
            </a:outerShdw>
          </a:effectLst>
        </p:spPr>
      </p:sp>
      <p:sp>
        <p:nvSpPr>
          <p:cNvPr id="11" name="Text 9"/>
          <p:cNvSpPr txBox="1"/>
          <p:nvPr/>
        </p:nvSpPr>
        <p:spPr>
          <a:xfrm>
            <a:off x="4627778" y="2468880"/>
            <a:ext cx="2936138" cy="256032"/>
          </a:xfrm>
          <a:prstGeom prst="rect">
            <a:avLst/>
          </a:prstGeom>
          <a:noFill/>
          <a:ln/>
        </p:spPr>
        <p:txBody>
          <a:bodyPr wrap="square" lIns="0" tIns="0" rIns="0" bIns="0" rtlCol="0" anchor="ctr"/>
          <a:lstStyle/>
          <a:p>
            <a:pPr indent="0" marL="0">
              <a:buNone/>
            </a:pPr>
            <a:r>
              <a:rPr lang="en-US" sz="950" spc="250" kern="0" dirty="0">
                <a:solidFill>
                  <a:srgbClr val="1F3FBF"/>
                </a:solidFill>
                <a:latin typeface="Courier New" pitchFamily="34" charset="0"/>
                <a:ea typeface="Courier New" pitchFamily="34" charset="-122"/>
                <a:cs typeface="Courier New" pitchFamily="34" charset="-120"/>
              </a:rPr>
              <a:t>RETAINER</a:t>
            </a:r>
            <a:endParaRPr lang="en-US" sz="950" dirty="0"/>
          </a:p>
        </p:txBody>
      </p:sp>
      <p:sp>
        <p:nvSpPr>
          <p:cNvPr id="12" name="Text 10"/>
          <p:cNvSpPr txBox="1"/>
          <p:nvPr/>
        </p:nvSpPr>
        <p:spPr>
          <a:xfrm>
            <a:off x="4627778" y="2743200"/>
            <a:ext cx="2936138" cy="731520"/>
          </a:xfrm>
          <a:prstGeom prst="rect">
            <a:avLst/>
          </a:prstGeom>
          <a:noFill/>
          <a:ln/>
        </p:spPr>
        <p:txBody>
          <a:bodyPr wrap="square" lIns="0" tIns="0" rIns="0" bIns="0" rtlCol="0" anchor="t"/>
          <a:lstStyle/>
          <a:p>
            <a:pPr algn="l" indent="0" marL="0">
              <a:lnSpc>
                <a:spcPct val="105000"/>
              </a:lnSpc>
              <a:buNone/>
            </a:pPr>
            <a:r>
              <a:rPr lang="en-US" sz="1900" dirty="0">
                <a:solidFill>
                  <a:srgbClr val="161A2B"/>
                </a:solidFill>
                <a:latin typeface="Cambria" pitchFamily="34" charset="0"/>
                <a:ea typeface="Cambria" pitchFamily="34" charset="-122"/>
                <a:cs typeface="Cambria" pitchFamily="34" charset="-120"/>
              </a:rPr>
              <a:t>Managed agents &amp; AI operations</a:t>
            </a:r>
            <a:endParaRPr lang="en-US" sz="1900" dirty="0"/>
          </a:p>
        </p:txBody>
      </p:sp>
      <p:sp>
        <p:nvSpPr>
          <p:cNvPr id="13" name="Text 11"/>
          <p:cNvSpPr txBox="1"/>
          <p:nvPr/>
        </p:nvSpPr>
        <p:spPr>
          <a:xfrm>
            <a:off x="4627778" y="3566160"/>
            <a:ext cx="2936138" cy="1920240"/>
          </a:xfrm>
          <a:prstGeom prst="rect">
            <a:avLst/>
          </a:prstGeom>
          <a:noFill/>
          <a:ln/>
        </p:spPr>
        <p:txBody>
          <a:bodyPr wrap="square" lIns="0" tIns="0" rIns="0" bIns="0" rtlCol="0" anchor="t"/>
          <a:lstStyle/>
          <a:p>
            <a:pPr marL="177800" indent="-177800">
              <a:lnSpc>
                <a:spcPct val="115000"/>
              </a:lnSpc>
              <a:spcAft>
                <a:spcPts val="600"/>
              </a:spcAft>
              <a:buSzPct val="100000"/>
              <a:buChar char="•"/>
            </a:pPr>
            <a:r>
              <a:rPr lang="en-US" sz="1200" dirty="0">
                <a:solidFill>
                  <a:srgbClr val="4A526B"/>
                </a:solidFill>
                <a:latin typeface="Calibri" pitchFamily="34" charset="0"/>
                <a:ea typeface="Calibri" pitchFamily="34" charset="-122"/>
                <a:cs typeface="Calibri" pitchFamily="34" charset="-120"/>
              </a:rPr>
              <a:t>Named agents, built and run by Suede</a:t>
            </a:r>
            <a:endParaRPr lang="en-US" sz="1200" dirty="0"/>
          </a:p>
          <a:p>
            <a:pPr marL="177800" indent="-177800">
              <a:lnSpc>
                <a:spcPct val="115000"/>
              </a:lnSpc>
              <a:spcAft>
                <a:spcPts val="600"/>
              </a:spcAft>
              <a:buSzPct val="100000"/>
              <a:buChar char="•"/>
            </a:pPr>
            <a:r>
              <a:rPr lang="en-US" sz="1200" dirty="0">
                <a:solidFill>
                  <a:srgbClr val="4A526B"/>
                </a:solidFill>
                <a:latin typeface="Calibri" pitchFamily="34" charset="0"/>
                <a:ea typeface="Calibri" pitchFamily="34" charset="-122"/>
                <a:cs typeface="Calibri" pitchFamily="34" charset="-120"/>
              </a:rPr>
              <a:t>One agreed KPI per lane</a:t>
            </a:r>
            <a:endParaRPr lang="en-US" sz="1200" dirty="0"/>
          </a:p>
          <a:p>
            <a:pPr marL="177800" indent="-177800">
              <a:lnSpc>
                <a:spcPct val="115000"/>
              </a:lnSpc>
              <a:spcAft>
                <a:spcPts val="600"/>
              </a:spcAft>
              <a:buSzPct val="100000"/>
              <a:buChar char="•"/>
            </a:pPr>
            <a:r>
              <a:rPr lang="en-US" sz="1200" dirty="0">
                <a:solidFill>
                  <a:srgbClr val="4A526B"/>
                </a:solidFill>
                <a:latin typeface="Calibri" pitchFamily="34" charset="0"/>
                <a:ea typeface="Calibri" pitchFamily="34" charset="-122"/>
                <a:cs typeface="Calibri" pitchFamily="34" charset="-120"/>
              </a:rPr>
              <a:t>Written guardrails and a human owner</a:t>
            </a:r>
            <a:endParaRPr lang="en-US" sz="1200" dirty="0"/>
          </a:p>
          <a:p>
            <a:pPr marL="177800" indent="-177800">
              <a:lnSpc>
                <a:spcPct val="115000"/>
              </a:lnSpc>
              <a:spcAft>
                <a:spcPts val="600"/>
              </a:spcAft>
              <a:buSzPct val="100000"/>
              <a:buChar char="•"/>
            </a:pPr>
            <a:r>
              <a:rPr lang="en-US" sz="1200" dirty="0">
                <a:solidFill>
                  <a:srgbClr val="4A526B"/>
                </a:solidFill>
                <a:latin typeface="Calibri" pitchFamily="34" charset="0"/>
                <a:ea typeface="Calibri" pitchFamily="34" charset="-122"/>
                <a:cs typeface="Calibri" pitchFamily="34" charset="-120"/>
              </a:rPr>
              <a:t>Watch the run in Agent Studio</a:t>
            </a:r>
            <a:endParaRPr lang="en-US" sz="1200" dirty="0"/>
          </a:p>
        </p:txBody>
      </p:sp>
      <p:sp>
        <p:nvSpPr>
          <p:cNvPr id="14" name="Shape 12"/>
          <p:cNvSpPr/>
          <p:nvPr/>
        </p:nvSpPr>
        <p:spPr>
          <a:xfrm>
            <a:off x="8066837" y="2240280"/>
            <a:ext cx="3484778" cy="3383280"/>
          </a:xfrm>
          <a:prstGeom prst="roundRect">
            <a:avLst>
              <a:gd name="adj" fmla="val 3243"/>
            </a:avLst>
          </a:prstGeom>
          <a:solidFill>
            <a:srgbClr val="F4F6FC"/>
          </a:solidFill>
          <a:ln w="9525">
            <a:solidFill>
              <a:srgbClr val="D6DCF0"/>
            </a:solidFill>
            <a:prstDash val="solid"/>
          </a:ln>
          <a:effectLst>
            <a:outerShdw sx="100000" sy="100000" kx="0" ky="0" algn="bl" rotWithShape="0" blurRad="152400" dist="38100" dir="5400000">
              <a:srgbClr val="000000">
                <a:alpha val="8000"/>
              </a:srgbClr>
            </a:outerShdw>
          </a:effectLst>
        </p:spPr>
      </p:sp>
      <p:sp>
        <p:nvSpPr>
          <p:cNvPr id="15" name="Text 13"/>
          <p:cNvSpPr txBox="1"/>
          <p:nvPr/>
        </p:nvSpPr>
        <p:spPr>
          <a:xfrm>
            <a:off x="8341157" y="2468880"/>
            <a:ext cx="2936138" cy="256032"/>
          </a:xfrm>
          <a:prstGeom prst="rect">
            <a:avLst/>
          </a:prstGeom>
          <a:noFill/>
          <a:ln/>
        </p:spPr>
        <p:txBody>
          <a:bodyPr wrap="square" lIns="0" tIns="0" rIns="0" bIns="0" rtlCol="0" anchor="ctr"/>
          <a:lstStyle/>
          <a:p>
            <a:pPr indent="0" marL="0">
              <a:buNone/>
            </a:pPr>
            <a:r>
              <a:rPr lang="en-US" sz="950" spc="250" kern="0" dirty="0">
                <a:solidFill>
                  <a:srgbClr val="1F3FBF"/>
                </a:solidFill>
                <a:latin typeface="Courier New" pitchFamily="34" charset="0"/>
                <a:ea typeface="Courier New" pitchFamily="34" charset="-122"/>
                <a:cs typeface="Courier New" pitchFamily="34" charset="-120"/>
              </a:rPr>
              <a:t>FIXED CLOCK</a:t>
            </a:r>
            <a:endParaRPr lang="en-US" sz="950" dirty="0"/>
          </a:p>
        </p:txBody>
      </p:sp>
      <p:sp>
        <p:nvSpPr>
          <p:cNvPr id="16" name="Text 14"/>
          <p:cNvSpPr txBox="1"/>
          <p:nvPr/>
        </p:nvSpPr>
        <p:spPr>
          <a:xfrm>
            <a:off x="8341157" y="2743200"/>
            <a:ext cx="2936138" cy="731520"/>
          </a:xfrm>
          <a:prstGeom prst="rect">
            <a:avLst/>
          </a:prstGeom>
          <a:noFill/>
          <a:ln/>
        </p:spPr>
        <p:txBody>
          <a:bodyPr wrap="square" lIns="0" tIns="0" rIns="0" bIns="0" rtlCol="0" anchor="t"/>
          <a:lstStyle/>
          <a:p>
            <a:pPr algn="l" indent="0" marL="0">
              <a:lnSpc>
                <a:spcPct val="105000"/>
              </a:lnSpc>
              <a:buNone/>
            </a:pPr>
            <a:r>
              <a:rPr lang="en-US" sz="1900" dirty="0">
                <a:solidFill>
                  <a:srgbClr val="161A2B"/>
                </a:solidFill>
                <a:latin typeface="Cambria" pitchFamily="34" charset="0"/>
                <a:ea typeface="Cambria" pitchFamily="34" charset="-122"/>
                <a:cs typeface="Cambria" pitchFamily="34" charset="-120"/>
              </a:rPr>
              <a:t>Forward deployed engineer</a:t>
            </a:r>
            <a:endParaRPr lang="en-US" sz="1900" dirty="0"/>
          </a:p>
        </p:txBody>
      </p:sp>
      <p:sp>
        <p:nvSpPr>
          <p:cNvPr id="17" name="Text 15"/>
          <p:cNvSpPr txBox="1"/>
          <p:nvPr/>
        </p:nvSpPr>
        <p:spPr>
          <a:xfrm>
            <a:off x="8341157" y="3566160"/>
            <a:ext cx="2936138" cy="1920240"/>
          </a:xfrm>
          <a:prstGeom prst="rect">
            <a:avLst/>
          </a:prstGeom>
          <a:noFill/>
          <a:ln/>
        </p:spPr>
        <p:txBody>
          <a:bodyPr wrap="square" lIns="0" tIns="0" rIns="0" bIns="0" rtlCol="0" anchor="t"/>
          <a:lstStyle/>
          <a:p>
            <a:pPr marL="177800" indent="-177800">
              <a:lnSpc>
                <a:spcPct val="115000"/>
              </a:lnSpc>
              <a:spcAft>
                <a:spcPts val="600"/>
              </a:spcAft>
              <a:buSzPct val="100000"/>
              <a:buChar char="•"/>
            </a:pPr>
            <a:r>
              <a:rPr lang="en-US" sz="1200" dirty="0">
                <a:solidFill>
                  <a:srgbClr val="4A526B"/>
                </a:solidFill>
                <a:latin typeface="Calibri" pitchFamily="34" charset="0"/>
                <a:ea typeface="Calibri" pitchFamily="34" charset="-122"/>
                <a:cs typeface="Calibri" pitchFamily="34" charset="-120"/>
              </a:rPr>
              <a:t>Triage: broken vs merely loud</a:t>
            </a:r>
            <a:endParaRPr lang="en-US" sz="1200" dirty="0"/>
          </a:p>
          <a:p>
            <a:pPr marL="177800" indent="-177800">
              <a:lnSpc>
                <a:spcPct val="115000"/>
              </a:lnSpc>
              <a:spcAft>
                <a:spcPts val="600"/>
              </a:spcAft>
              <a:buSzPct val="100000"/>
              <a:buChar char="•"/>
            </a:pPr>
            <a:r>
              <a:rPr lang="en-US" sz="1200" dirty="0">
                <a:solidFill>
                  <a:srgbClr val="4A526B"/>
                </a:solidFill>
                <a:latin typeface="Calibri" pitchFamily="34" charset="0"/>
                <a:ea typeface="Calibri" pitchFamily="34" charset="-122"/>
                <a:cs typeface="Calibri" pitchFamily="34" charset="-120"/>
              </a:rPr>
              <a:t>A ranked list of what to fix</a:t>
            </a:r>
            <a:endParaRPr lang="en-US" sz="1200" dirty="0"/>
          </a:p>
          <a:p>
            <a:pPr marL="177800" indent="-177800">
              <a:lnSpc>
                <a:spcPct val="115000"/>
              </a:lnSpc>
              <a:spcAft>
                <a:spcPts val="600"/>
              </a:spcAft>
              <a:buSzPct val="100000"/>
              <a:buChar char="•"/>
            </a:pPr>
            <a:r>
              <a:rPr lang="en-US" sz="1200" dirty="0">
                <a:solidFill>
                  <a:srgbClr val="4A526B"/>
                </a:solidFill>
                <a:latin typeface="Calibri" pitchFamily="34" charset="0"/>
                <a:ea typeface="Calibri" pitchFamily="34" charset="-122"/>
                <a:cs typeface="Calibri" pitchFamily="34" charset="-120"/>
              </a:rPr>
              <a:t>The fixes, shipped</a:t>
            </a:r>
            <a:endParaRPr lang="en-US" sz="1200" dirty="0"/>
          </a:p>
          <a:p>
            <a:pPr marL="177800" indent="-177800">
              <a:lnSpc>
                <a:spcPct val="115000"/>
              </a:lnSpc>
              <a:spcAft>
                <a:spcPts val="600"/>
              </a:spcAft>
              <a:buSzPct val="100000"/>
              <a:buChar char="•"/>
            </a:pPr>
            <a:r>
              <a:rPr lang="en-US" sz="1200" dirty="0">
                <a:solidFill>
                  <a:srgbClr val="4A526B"/>
                </a:solidFill>
                <a:latin typeface="Calibri" pitchFamily="34" charset="0"/>
                <a:ea typeface="Calibri" pitchFamily="34" charset="-122"/>
                <a:cs typeface="Calibri" pitchFamily="34" charset="-120"/>
              </a:rPr>
              <a:t>Consulting is the entry motion only</a:t>
            </a:r>
            <a:endParaRPr lang="en-US" sz="1200" dirty="0"/>
          </a:p>
        </p:txBody>
      </p:sp>
      <p:sp>
        <p:nvSpPr>
          <p:cNvPr id="18" name="Text 16"/>
          <p:cNvSpPr txBox="1"/>
          <p:nvPr/>
        </p:nvSpPr>
        <p:spPr>
          <a:xfrm>
            <a:off x="640080" y="5852160"/>
            <a:ext cx="10058400" cy="274320"/>
          </a:xfrm>
          <a:prstGeom prst="rect">
            <a:avLst/>
          </a:prstGeom>
          <a:noFill/>
          <a:ln/>
        </p:spPr>
        <p:txBody>
          <a:bodyPr wrap="square" lIns="0" tIns="0" rIns="0" bIns="0" rtlCol="0" anchor="t"/>
          <a:lstStyle/>
          <a:p>
            <a:pPr algn="l" indent="0" marL="0">
              <a:lnSpc>
                <a:spcPct val="125000"/>
              </a:lnSpc>
              <a:buNone/>
            </a:pPr>
            <a:r>
              <a:rPr lang="en-US" sz="1000" dirty="0">
                <a:solidFill>
                  <a:srgbClr val="1F3FBF"/>
                </a:solidFill>
                <a:latin typeface="Courier New" pitchFamily="34" charset="0"/>
                <a:ea typeface="Courier New" pitchFamily="34" charset="-122"/>
                <a:cs typeface="Courier New" pitchFamily="34" charset="-120"/>
              </a:rPr>
              <a:t>Each engagement is scoped and priced in a reply. No public price ladder, no guarantees we cannot date.</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6400800"/>
            <a:ext cx="8686800" cy="228600"/>
          </a:xfrm>
          <a:prstGeom prst="rect">
            <a:avLst/>
          </a:prstGeom>
          <a:noFill/>
          <a:ln/>
        </p:spPr>
        <p:txBody>
          <a:bodyPr wrap="square" lIns="0" tIns="0" rIns="0" bIns="0" rtlCol="0" anchor="ctr"/>
          <a:lstStyle/>
          <a:p>
            <a:pPr indent="0" marL="0">
              <a:buNone/>
            </a:pPr>
            <a:r>
              <a:rPr lang="en-US" sz="850" spc="100" kern="0" dirty="0">
                <a:solidFill>
                  <a:srgbClr val="C3CBEA"/>
                </a:solidFill>
                <a:latin typeface="Courier New" pitchFamily="34" charset="0"/>
                <a:ea typeface="Courier New" pitchFamily="34" charset="-122"/>
                <a:cs typeface="Courier New" pitchFamily="34" charset="-120"/>
              </a:rPr>
              <a:t>SUEDE SEO · SEO.SUEDEAI.AI · FULL-STACK GEO &amp; AI ENGINEERING</a:t>
            </a:r>
            <a:endParaRPr lang="en-US" sz="850" dirty="0"/>
          </a:p>
        </p:txBody>
      </p:sp>
      <p:sp>
        <p:nvSpPr>
          <p:cNvPr id="3" name="Text 1"/>
          <p:cNvSpPr txBox="1"/>
          <p:nvPr/>
        </p:nvSpPr>
        <p:spPr>
          <a:xfrm>
            <a:off x="10637215" y="6400800"/>
            <a:ext cx="914400" cy="228600"/>
          </a:xfrm>
          <a:prstGeom prst="rect">
            <a:avLst/>
          </a:prstGeom>
          <a:noFill/>
          <a:ln/>
        </p:spPr>
        <p:txBody>
          <a:bodyPr wrap="square" lIns="0" tIns="0" rIns="0" bIns="0" rtlCol="0" anchor="ctr"/>
          <a:lstStyle/>
          <a:p>
            <a:pPr algn="r" indent="0" marL="0">
              <a:buNone/>
            </a:pPr>
            <a:r>
              <a:rPr lang="en-US" sz="850" dirty="0">
                <a:solidFill>
                  <a:srgbClr val="C3CBEA"/>
                </a:solidFill>
                <a:latin typeface="Courier New" pitchFamily="34" charset="0"/>
                <a:ea typeface="Courier New" pitchFamily="34" charset="-122"/>
                <a:cs typeface="Courier New" pitchFamily="34" charset="-120"/>
              </a:rPr>
              <a:t>09</a:t>
            </a:r>
            <a:endParaRPr lang="en-US" sz="850" dirty="0"/>
          </a:p>
        </p:txBody>
      </p:sp>
      <p:sp>
        <p:nvSpPr>
          <p:cNvPr id="4" name="Text 2"/>
          <p:cNvSpPr txBox="1"/>
          <p:nvPr/>
        </p:nvSpPr>
        <p:spPr>
          <a:xfrm>
            <a:off x="640080" y="548640"/>
            <a:ext cx="9144000" cy="256032"/>
          </a:xfrm>
          <a:prstGeom prst="rect">
            <a:avLst/>
          </a:prstGeom>
          <a:noFill/>
          <a:ln/>
        </p:spPr>
        <p:txBody>
          <a:bodyPr wrap="square" lIns="0" tIns="0" rIns="0" bIns="0" rtlCol="0" anchor="ctr"/>
          <a:lstStyle/>
          <a:p>
            <a:pPr indent="0" marL="0">
              <a:buNone/>
            </a:pPr>
            <a:r>
              <a:rPr lang="en-US" sz="950" spc="250" kern="0" dirty="0">
                <a:solidFill>
                  <a:srgbClr val="7C9BFF"/>
                </a:solidFill>
                <a:latin typeface="Courier New" pitchFamily="34" charset="0"/>
                <a:ea typeface="Courier New" pitchFamily="34" charset="-122"/>
                <a:cs typeface="Courier New" pitchFamily="34" charset="-120"/>
              </a:rPr>
              <a:t>08 — WHO OPENS A FILE</a:t>
            </a:r>
            <a:endParaRPr lang="en-US" sz="950" dirty="0"/>
          </a:p>
        </p:txBody>
      </p:sp>
      <p:sp>
        <p:nvSpPr>
          <p:cNvPr id="5" name="Text 3"/>
          <p:cNvSpPr txBox="1"/>
          <p:nvPr/>
        </p:nvSpPr>
        <p:spPr>
          <a:xfrm>
            <a:off x="640080" y="868680"/>
            <a:ext cx="9601200" cy="929640"/>
          </a:xfrm>
          <a:prstGeom prst="rect">
            <a:avLst/>
          </a:prstGeom>
          <a:noFill/>
          <a:ln/>
        </p:spPr>
        <p:txBody>
          <a:bodyPr wrap="square" lIns="0" tIns="0" rIns="0" bIns="0" rtlCol="0" anchor="t"/>
          <a:lstStyle/>
          <a:p>
            <a:pPr algn="l" indent="0" marL="0">
              <a:lnSpc>
                <a:spcPct val="105000"/>
              </a:lnSpc>
              <a:buNone/>
            </a:pPr>
            <a:r>
              <a:rPr lang="en-US" sz="3000" dirty="0">
                <a:solidFill>
                  <a:srgbClr val="F4F5F9"/>
                </a:solidFill>
                <a:latin typeface="Cambria" pitchFamily="34" charset="0"/>
                <a:ea typeface="Cambria" pitchFamily="34" charset="-122"/>
                <a:cs typeface="Cambria" pitchFamily="34" charset="-120"/>
              </a:rPr>
              <a:t>Built for the people who just found out what ChatGPT says about them.</a:t>
            </a:r>
            <a:endParaRPr lang="en-US" sz="3000" dirty="0"/>
          </a:p>
        </p:txBody>
      </p:sp>
      <p:sp>
        <p:nvSpPr>
          <p:cNvPr id="6" name="Text 4"/>
          <p:cNvSpPr txBox="1"/>
          <p:nvPr/>
        </p:nvSpPr>
        <p:spPr>
          <a:xfrm>
            <a:off x="640080" y="2240280"/>
            <a:ext cx="5669280" cy="2194560"/>
          </a:xfrm>
          <a:prstGeom prst="rect">
            <a:avLst/>
          </a:prstGeom>
          <a:noFill/>
          <a:ln/>
        </p:spPr>
        <p:txBody>
          <a:bodyPr wrap="square" lIns="0" tIns="0" rIns="0" bIns="0" rtlCol="0" anchor="t"/>
          <a:lstStyle/>
          <a:p>
            <a:pPr marL="177800" indent="-177800">
              <a:lnSpc>
                <a:spcPct val="115000"/>
              </a:lnSpc>
              <a:spcAft>
                <a:spcPts val="600"/>
              </a:spcAft>
              <a:buSzPct val="100000"/>
              <a:buChar char="•"/>
            </a:pPr>
            <a:r>
              <a:rPr lang="en-US" sz="1350" dirty="0">
                <a:solidFill>
                  <a:srgbClr val="C3CBEA"/>
                </a:solidFill>
                <a:latin typeface="Calibri" pitchFamily="34" charset="0"/>
                <a:ea typeface="Calibri" pitchFamily="34" charset="-122"/>
                <a:cs typeface="Calibri" pitchFamily="34" charset="-120"/>
              </a:rPr>
              <a:t>Founders and executives whose category is answered without them</a:t>
            </a:r>
            <a:endParaRPr lang="en-US" sz="1350" dirty="0"/>
          </a:p>
          <a:p>
            <a:pPr marL="177800" indent="-177800">
              <a:lnSpc>
                <a:spcPct val="115000"/>
              </a:lnSpc>
              <a:spcAft>
                <a:spcPts val="600"/>
              </a:spcAft>
              <a:buSzPct val="100000"/>
              <a:buChar char="•"/>
            </a:pPr>
            <a:r>
              <a:rPr lang="en-US" sz="1350" dirty="0">
                <a:solidFill>
                  <a:srgbClr val="C3CBEA"/>
                </a:solidFill>
                <a:latin typeface="Calibri" pitchFamily="34" charset="0"/>
                <a:ea typeface="Calibri" pitchFamily="34" charset="-122"/>
                <a:cs typeface="Calibri" pitchFamily="34" charset="-120"/>
              </a:rPr>
              <a:t>Marketing leaders who need evidence before an engagement, not a pitch</a:t>
            </a:r>
            <a:endParaRPr lang="en-US" sz="1350" dirty="0"/>
          </a:p>
          <a:p>
            <a:pPr marL="177800" indent="-177800">
              <a:lnSpc>
                <a:spcPct val="115000"/>
              </a:lnSpc>
              <a:spcAft>
                <a:spcPts val="600"/>
              </a:spcAft>
              <a:buSzPct val="100000"/>
              <a:buChar char="•"/>
            </a:pPr>
            <a:r>
              <a:rPr lang="en-US" sz="1350" dirty="0">
                <a:solidFill>
                  <a:srgbClr val="C3CBEA"/>
                </a:solidFill>
                <a:latin typeface="Calibri" pitchFamily="34" charset="0"/>
                <a:ea typeface="Calibri" pitchFamily="34" charset="-122"/>
                <a:cs typeface="Calibri" pitchFamily="34" charset="-120"/>
              </a:rPr>
              <a:t>Sales-led operations that want agents run for them, with one number per lane</a:t>
            </a:r>
            <a:endParaRPr lang="en-US" sz="1350" dirty="0"/>
          </a:p>
          <a:p>
            <a:pPr marL="177800" indent="-177800">
              <a:lnSpc>
                <a:spcPct val="115000"/>
              </a:lnSpc>
              <a:spcAft>
                <a:spcPts val="600"/>
              </a:spcAft>
              <a:buSzPct val="100000"/>
              <a:buChar char="•"/>
            </a:pPr>
            <a:r>
              <a:rPr lang="en-US" sz="1350" dirty="0">
                <a:solidFill>
                  <a:srgbClr val="C3CBEA"/>
                </a:solidFill>
                <a:latin typeface="Calibri" pitchFamily="34" charset="0"/>
                <a:ea typeface="Calibri" pitchFamily="34" charset="-122"/>
                <a:cs typeface="Calibri" pitchFamily="34" charset="-120"/>
              </a:rPr>
              <a:t>Teams that need a serious engineer inside the operation for a few weeks</a:t>
            </a:r>
            <a:endParaRPr lang="en-US" sz="1350" dirty="0"/>
          </a:p>
        </p:txBody>
      </p:sp>
      <p:sp>
        <p:nvSpPr>
          <p:cNvPr id="7" name="Shape 5"/>
          <p:cNvSpPr/>
          <p:nvPr/>
        </p:nvSpPr>
        <p:spPr>
          <a:xfrm>
            <a:off x="640080" y="4572000"/>
            <a:ext cx="5669280" cy="0"/>
          </a:xfrm>
          <a:prstGeom prst="line">
            <a:avLst/>
          </a:prstGeom>
          <a:noFill/>
          <a:ln w="9525">
            <a:solidFill>
              <a:srgbClr val="34437F"/>
            </a:solidFill>
            <a:prstDash val="solid"/>
          </a:ln>
        </p:spPr>
      </p:sp>
      <p:sp>
        <p:nvSpPr>
          <p:cNvPr id="8" name="Text 6"/>
          <p:cNvSpPr txBox="1"/>
          <p:nvPr/>
        </p:nvSpPr>
        <p:spPr>
          <a:xfrm>
            <a:off x="640080" y="4709160"/>
            <a:ext cx="3657600" cy="411480"/>
          </a:xfrm>
          <a:prstGeom prst="rect">
            <a:avLst/>
          </a:prstGeom>
          <a:noFill/>
          <a:ln/>
        </p:spPr>
        <p:txBody>
          <a:bodyPr wrap="square" lIns="0" tIns="0" rIns="0" bIns="0" rtlCol="0" anchor="t"/>
          <a:lstStyle/>
          <a:p>
            <a:pPr algn="l" indent="0" marL="0">
              <a:lnSpc>
                <a:spcPct val="105000"/>
              </a:lnSpc>
              <a:buNone/>
            </a:pPr>
            <a:r>
              <a:rPr lang="en-US" sz="2000" dirty="0">
                <a:solidFill>
                  <a:srgbClr val="F4F5F9"/>
                </a:solidFill>
                <a:latin typeface="Cambria" pitchFamily="34" charset="0"/>
                <a:ea typeface="Cambria" pitchFamily="34" charset="-122"/>
                <a:cs typeface="Cambria" pitchFamily="34" charset="-120"/>
              </a:rPr>
              <a:t>The Screenshot</a:t>
            </a:r>
            <a:endParaRPr lang="en-US" sz="2000" dirty="0"/>
          </a:p>
        </p:txBody>
      </p:sp>
      <p:sp>
        <p:nvSpPr>
          <p:cNvPr id="9" name="Text 7"/>
          <p:cNvSpPr txBox="1"/>
          <p:nvPr/>
        </p:nvSpPr>
        <p:spPr>
          <a:xfrm>
            <a:off x="640080" y="5120640"/>
            <a:ext cx="5669280" cy="914400"/>
          </a:xfrm>
          <a:prstGeom prst="rect">
            <a:avLst/>
          </a:prstGeom>
          <a:noFill/>
          <a:ln/>
        </p:spPr>
        <p:txBody>
          <a:bodyPr wrap="square" lIns="0" tIns="0" rIns="0" bIns="0" rtlCol="0" anchor="t"/>
          <a:lstStyle/>
          <a:p>
            <a:pPr algn="l" indent="0" marL="0">
              <a:lnSpc>
                <a:spcPct val="120000"/>
              </a:lnSpc>
              <a:buNone/>
            </a:pPr>
            <a:r>
              <a:rPr lang="en-US" sz="1200" dirty="0">
                <a:solidFill>
                  <a:srgbClr val="C3CBEA"/>
                </a:solidFill>
                <a:latin typeface="Calibri" pitchFamily="34" charset="0"/>
                <a:ea typeface="Calibri" pitchFamily="34" charset="-122"/>
                <a:cs typeface="Calibri" pitchFamily="34" charset="-120"/>
              </a:rPr>
              <a:t>The book behind the practice, read free on the site: why the engines say what they say, and the page that owns the exact question “why does ChatGPT recommend your competitors?”</a:t>
            </a:r>
            <a:endParaRPr lang="en-US" sz="1200" dirty="0"/>
          </a:p>
        </p:txBody>
      </p:sp>
      <p:sp>
        <p:nvSpPr>
          <p:cNvPr id="10" name="Shape 8"/>
          <p:cNvSpPr/>
          <p:nvPr/>
        </p:nvSpPr>
        <p:spPr>
          <a:xfrm>
            <a:off x="6766560" y="2194560"/>
            <a:ext cx="4800600" cy="3657600"/>
          </a:xfrm>
          <a:prstGeom prst="roundRect">
            <a:avLst>
              <a:gd name="adj" fmla="val 3000"/>
            </a:avLst>
          </a:prstGeom>
          <a:solidFill>
            <a:srgbClr val="0B1236"/>
          </a:solidFill>
          <a:ln w="9525">
            <a:solidFill>
              <a:srgbClr val="2B3A75"/>
            </a:solidFill>
            <a:prstDash val="solid"/>
          </a:ln>
          <a:effectLst>
            <a:outerShdw sx="100000" sy="100000" kx="0" ky="0" algn="bl" rotWithShape="0" blurRad="152400" dist="38100" dir="5400000">
              <a:srgbClr val="000000">
                <a:alpha val="35000"/>
              </a:srgbClr>
            </a:outerShdw>
          </a:effectLst>
        </p:spPr>
      </p:sp>
      <p:sp>
        <p:nvSpPr>
          <p:cNvPr id="11" name="Text 9"/>
          <p:cNvSpPr txBox="1"/>
          <p:nvPr/>
        </p:nvSpPr>
        <p:spPr>
          <a:xfrm>
            <a:off x="7040880" y="2359152"/>
            <a:ext cx="4251960" cy="228600"/>
          </a:xfrm>
          <a:prstGeom prst="rect">
            <a:avLst/>
          </a:prstGeom>
          <a:noFill/>
          <a:ln/>
        </p:spPr>
        <p:txBody>
          <a:bodyPr wrap="square" lIns="0" tIns="0" rIns="0" bIns="0" rtlCol="0" anchor="ctr"/>
          <a:lstStyle/>
          <a:p>
            <a:pPr indent="0" marL="0">
              <a:buNone/>
            </a:pPr>
            <a:r>
              <a:rPr lang="en-US" sz="850" spc="250" kern="0" dirty="0">
                <a:solidFill>
                  <a:srgbClr val="8FB0FF"/>
                </a:solidFill>
                <a:latin typeface="Courier New" pitchFamily="34" charset="0"/>
                <a:ea typeface="Courier New" pitchFamily="34" charset="-122"/>
                <a:cs typeface="Courier New" pitchFamily="34" charset="-120"/>
              </a:rPr>
              <a:t>PAGE MAP</a:t>
            </a:r>
            <a:endParaRPr lang="en-US" sz="850" dirty="0"/>
          </a:p>
        </p:txBody>
      </p:sp>
      <p:sp>
        <p:nvSpPr>
          <p:cNvPr id="12" name="Shape 10"/>
          <p:cNvSpPr/>
          <p:nvPr/>
        </p:nvSpPr>
        <p:spPr>
          <a:xfrm>
            <a:off x="7040880" y="2697480"/>
            <a:ext cx="4251960" cy="0"/>
          </a:xfrm>
          <a:prstGeom prst="line">
            <a:avLst/>
          </a:prstGeom>
          <a:noFill/>
          <a:ln w="9525">
            <a:solidFill>
              <a:srgbClr val="2B3A75"/>
            </a:solidFill>
            <a:prstDash val="solid"/>
          </a:ln>
        </p:spPr>
      </p:sp>
      <p:sp>
        <p:nvSpPr>
          <p:cNvPr id="13" name="Text 11"/>
          <p:cNvSpPr txBox="1"/>
          <p:nvPr/>
        </p:nvSpPr>
        <p:spPr>
          <a:xfrm>
            <a:off x="7040880" y="2788920"/>
            <a:ext cx="3097530" cy="374904"/>
          </a:xfrm>
          <a:prstGeom prst="rect">
            <a:avLst/>
          </a:prstGeom>
          <a:noFill/>
          <a:ln/>
        </p:spPr>
        <p:txBody>
          <a:bodyPr wrap="square" lIns="0" tIns="0" rIns="0" bIns="0" rtlCol="0" anchor="ctr"/>
          <a:lstStyle/>
          <a:p>
            <a:pPr indent="0" marL="0">
              <a:buNone/>
            </a:pPr>
            <a:r>
              <a:rPr lang="en-US" sz="1100" dirty="0">
                <a:solidFill>
                  <a:srgbClr val="E6E8F0"/>
                </a:solidFill>
                <a:latin typeface="Calibri" pitchFamily="34" charset="0"/>
                <a:ea typeface="Calibri" pitchFamily="34" charset="-122"/>
                <a:cs typeface="Calibri" pitchFamily="34" charset="-120"/>
              </a:rPr>
              <a:t>seo.suedeai.ai/full-stack-geo</a:t>
            </a:r>
            <a:endParaRPr lang="en-US" sz="1100" dirty="0"/>
          </a:p>
        </p:txBody>
      </p:sp>
      <p:sp>
        <p:nvSpPr>
          <p:cNvPr id="14" name="Text 12"/>
          <p:cNvSpPr txBox="1"/>
          <p:nvPr/>
        </p:nvSpPr>
        <p:spPr>
          <a:xfrm>
            <a:off x="10229850" y="2788920"/>
            <a:ext cx="1062990" cy="374904"/>
          </a:xfrm>
          <a:prstGeom prst="rect">
            <a:avLst/>
          </a:prstGeom>
          <a:noFill/>
          <a:ln/>
        </p:spPr>
        <p:txBody>
          <a:bodyPr wrap="square" lIns="0" tIns="0" rIns="0" bIns="0" rtlCol="0" anchor="ctr"/>
          <a:lstStyle/>
          <a:p>
            <a:pPr algn="r" indent="0" marL="0">
              <a:buNone/>
            </a:pPr>
            <a:r>
              <a:rPr lang="en-US" sz="850" dirty="0">
                <a:solidFill>
                  <a:srgbClr val="8FB0FF"/>
                </a:solidFill>
                <a:latin typeface="Courier New" pitchFamily="34" charset="0"/>
                <a:ea typeface="Courier New" pitchFamily="34" charset="-122"/>
                <a:cs typeface="Courier New" pitchFamily="34" charset="-120"/>
              </a:rPr>
              <a:t>practice</a:t>
            </a:r>
            <a:endParaRPr lang="en-US" sz="850" dirty="0"/>
          </a:p>
        </p:txBody>
      </p:sp>
      <p:sp>
        <p:nvSpPr>
          <p:cNvPr id="15" name="Shape 13"/>
          <p:cNvSpPr/>
          <p:nvPr/>
        </p:nvSpPr>
        <p:spPr>
          <a:xfrm>
            <a:off x="7040880" y="3200400"/>
            <a:ext cx="4251960" cy="0"/>
          </a:xfrm>
          <a:prstGeom prst="line">
            <a:avLst/>
          </a:prstGeom>
          <a:noFill/>
          <a:ln w="9525">
            <a:solidFill>
              <a:srgbClr val="2B3A75"/>
            </a:solidFill>
            <a:prstDash val="solid"/>
          </a:ln>
        </p:spPr>
      </p:sp>
      <p:sp>
        <p:nvSpPr>
          <p:cNvPr id="16" name="Text 14"/>
          <p:cNvSpPr txBox="1"/>
          <p:nvPr/>
        </p:nvSpPr>
        <p:spPr>
          <a:xfrm>
            <a:off x="7040880" y="3291840"/>
            <a:ext cx="3097530" cy="374904"/>
          </a:xfrm>
          <a:prstGeom prst="rect">
            <a:avLst/>
          </a:prstGeom>
          <a:noFill/>
          <a:ln/>
        </p:spPr>
        <p:txBody>
          <a:bodyPr wrap="square" lIns="0" tIns="0" rIns="0" bIns="0" rtlCol="0" anchor="ctr"/>
          <a:lstStyle/>
          <a:p>
            <a:pPr indent="0" marL="0">
              <a:buNone/>
            </a:pPr>
            <a:r>
              <a:rPr lang="en-US" sz="1100" dirty="0">
                <a:solidFill>
                  <a:srgbClr val="E6E8F0"/>
                </a:solidFill>
                <a:latin typeface="Calibri" pitchFamily="34" charset="0"/>
                <a:ea typeface="Calibri" pitchFamily="34" charset="-122"/>
                <a:cs typeface="Calibri" pitchFamily="34" charset="-120"/>
              </a:rPr>
              <a:t>seo.suedeai.ai/ai-operations</a:t>
            </a:r>
            <a:endParaRPr lang="en-US" sz="1100" dirty="0"/>
          </a:p>
        </p:txBody>
      </p:sp>
      <p:sp>
        <p:nvSpPr>
          <p:cNvPr id="17" name="Text 15"/>
          <p:cNvSpPr txBox="1"/>
          <p:nvPr/>
        </p:nvSpPr>
        <p:spPr>
          <a:xfrm>
            <a:off x="10229850" y="3291840"/>
            <a:ext cx="1062990" cy="374904"/>
          </a:xfrm>
          <a:prstGeom prst="rect">
            <a:avLst/>
          </a:prstGeom>
          <a:noFill/>
          <a:ln/>
        </p:spPr>
        <p:txBody>
          <a:bodyPr wrap="square" lIns="0" tIns="0" rIns="0" bIns="0" rtlCol="0" anchor="ctr"/>
          <a:lstStyle/>
          <a:p>
            <a:pPr algn="r" indent="0" marL="0">
              <a:buNone/>
            </a:pPr>
            <a:r>
              <a:rPr lang="en-US" sz="850" dirty="0">
                <a:solidFill>
                  <a:srgbClr val="8FB0FF"/>
                </a:solidFill>
                <a:latin typeface="Courier New" pitchFamily="34" charset="0"/>
                <a:ea typeface="Courier New" pitchFamily="34" charset="-122"/>
                <a:cs typeface="Courier New" pitchFamily="34" charset="-120"/>
              </a:rPr>
              <a:t>umbrella</a:t>
            </a:r>
            <a:endParaRPr lang="en-US" sz="850" dirty="0"/>
          </a:p>
        </p:txBody>
      </p:sp>
      <p:sp>
        <p:nvSpPr>
          <p:cNvPr id="18" name="Shape 16"/>
          <p:cNvSpPr/>
          <p:nvPr/>
        </p:nvSpPr>
        <p:spPr>
          <a:xfrm>
            <a:off x="7040880" y="3703320"/>
            <a:ext cx="4251960" cy="0"/>
          </a:xfrm>
          <a:prstGeom prst="line">
            <a:avLst/>
          </a:prstGeom>
          <a:noFill/>
          <a:ln w="9525">
            <a:solidFill>
              <a:srgbClr val="2B3A75"/>
            </a:solidFill>
            <a:prstDash val="solid"/>
          </a:ln>
        </p:spPr>
      </p:sp>
      <p:sp>
        <p:nvSpPr>
          <p:cNvPr id="19" name="Text 17"/>
          <p:cNvSpPr txBox="1"/>
          <p:nvPr/>
        </p:nvSpPr>
        <p:spPr>
          <a:xfrm>
            <a:off x="7040880" y="3794760"/>
            <a:ext cx="3097530" cy="374904"/>
          </a:xfrm>
          <a:prstGeom prst="rect">
            <a:avLst/>
          </a:prstGeom>
          <a:noFill/>
          <a:ln/>
        </p:spPr>
        <p:txBody>
          <a:bodyPr wrap="square" lIns="0" tIns="0" rIns="0" bIns="0" rtlCol="0" anchor="ctr"/>
          <a:lstStyle/>
          <a:p>
            <a:pPr indent="0" marL="0">
              <a:buNone/>
            </a:pPr>
            <a:r>
              <a:rPr lang="en-US" sz="1100" dirty="0">
                <a:solidFill>
                  <a:srgbClr val="E6E8F0"/>
                </a:solidFill>
                <a:latin typeface="Calibri" pitchFamily="34" charset="0"/>
                <a:ea typeface="Calibri" pitchFamily="34" charset="-122"/>
                <a:cs typeface="Calibri" pitchFamily="34" charset="-120"/>
              </a:rPr>
              <a:t>seo.suedeai.ai/managed-ai-agents</a:t>
            </a:r>
            <a:endParaRPr lang="en-US" sz="1100" dirty="0"/>
          </a:p>
        </p:txBody>
      </p:sp>
      <p:sp>
        <p:nvSpPr>
          <p:cNvPr id="20" name="Text 18"/>
          <p:cNvSpPr txBox="1"/>
          <p:nvPr/>
        </p:nvSpPr>
        <p:spPr>
          <a:xfrm>
            <a:off x="10229850" y="3794760"/>
            <a:ext cx="1062990" cy="374904"/>
          </a:xfrm>
          <a:prstGeom prst="rect">
            <a:avLst/>
          </a:prstGeom>
          <a:noFill/>
          <a:ln/>
        </p:spPr>
        <p:txBody>
          <a:bodyPr wrap="square" lIns="0" tIns="0" rIns="0" bIns="0" rtlCol="0" anchor="ctr"/>
          <a:lstStyle/>
          <a:p>
            <a:pPr algn="r" indent="0" marL="0">
              <a:buNone/>
            </a:pPr>
            <a:r>
              <a:rPr lang="en-US" sz="850" dirty="0">
                <a:solidFill>
                  <a:srgbClr val="8FB0FF"/>
                </a:solidFill>
                <a:latin typeface="Courier New" pitchFamily="34" charset="0"/>
                <a:ea typeface="Courier New" pitchFamily="34" charset="-122"/>
                <a:cs typeface="Courier New" pitchFamily="34" charset="-120"/>
              </a:rPr>
              <a:t>lane</a:t>
            </a:r>
            <a:endParaRPr lang="en-US" sz="850" dirty="0"/>
          </a:p>
        </p:txBody>
      </p:sp>
      <p:sp>
        <p:nvSpPr>
          <p:cNvPr id="21" name="Shape 19"/>
          <p:cNvSpPr/>
          <p:nvPr/>
        </p:nvSpPr>
        <p:spPr>
          <a:xfrm>
            <a:off x="7040880" y="4206240"/>
            <a:ext cx="4251960" cy="0"/>
          </a:xfrm>
          <a:prstGeom prst="line">
            <a:avLst/>
          </a:prstGeom>
          <a:noFill/>
          <a:ln w="9525">
            <a:solidFill>
              <a:srgbClr val="2B3A75"/>
            </a:solidFill>
            <a:prstDash val="solid"/>
          </a:ln>
        </p:spPr>
      </p:sp>
      <p:sp>
        <p:nvSpPr>
          <p:cNvPr id="22" name="Text 20"/>
          <p:cNvSpPr txBox="1"/>
          <p:nvPr/>
        </p:nvSpPr>
        <p:spPr>
          <a:xfrm>
            <a:off x="7040880" y="4297680"/>
            <a:ext cx="3097530" cy="374904"/>
          </a:xfrm>
          <a:prstGeom prst="rect">
            <a:avLst/>
          </a:prstGeom>
          <a:noFill/>
          <a:ln/>
        </p:spPr>
        <p:txBody>
          <a:bodyPr wrap="square" lIns="0" tIns="0" rIns="0" bIns="0" rtlCol="0" anchor="ctr"/>
          <a:lstStyle/>
          <a:p>
            <a:pPr indent="0" marL="0">
              <a:buNone/>
            </a:pPr>
            <a:r>
              <a:rPr lang="en-US" sz="1100" dirty="0">
                <a:solidFill>
                  <a:srgbClr val="E6E8F0"/>
                </a:solidFill>
                <a:latin typeface="Calibri" pitchFamily="34" charset="0"/>
                <a:ea typeface="Calibri" pitchFamily="34" charset="-122"/>
                <a:cs typeface="Calibri" pitchFamily="34" charset="-120"/>
              </a:rPr>
              <a:t>seo.suedeai.ai/forward-deployed-engineer</a:t>
            </a:r>
            <a:endParaRPr lang="en-US" sz="1100" dirty="0"/>
          </a:p>
        </p:txBody>
      </p:sp>
      <p:sp>
        <p:nvSpPr>
          <p:cNvPr id="23" name="Text 21"/>
          <p:cNvSpPr txBox="1"/>
          <p:nvPr/>
        </p:nvSpPr>
        <p:spPr>
          <a:xfrm>
            <a:off x="10229850" y="4297680"/>
            <a:ext cx="1062990" cy="374904"/>
          </a:xfrm>
          <a:prstGeom prst="rect">
            <a:avLst/>
          </a:prstGeom>
          <a:noFill/>
          <a:ln/>
        </p:spPr>
        <p:txBody>
          <a:bodyPr wrap="square" lIns="0" tIns="0" rIns="0" bIns="0" rtlCol="0" anchor="ctr"/>
          <a:lstStyle/>
          <a:p>
            <a:pPr algn="r" indent="0" marL="0">
              <a:buNone/>
            </a:pPr>
            <a:r>
              <a:rPr lang="en-US" sz="850" dirty="0">
                <a:solidFill>
                  <a:srgbClr val="8FB0FF"/>
                </a:solidFill>
                <a:latin typeface="Courier New" pitchFamily="34" charset="0"/>
                <a:ea typeface="Courier New" pitchFamily="34" charset="-122"/>
                <a:cs typeface="Courier New" pitchFamily="34" charset="-120"/>
              </a:rPr>
              <a:t>offer</a:t>
            </a:r>
            <a:endParaRPr lang="en-US" sz="850" dirty="0"/>
          </a:p>
        </p:txBody>
      </p:sp>
      <p:sp>
        <p:nvSpPr>
          <p:cNvPr id="24" name="Shape 22"/>
          <p:cNvSpPr/>
          <p:nvPr/>
        </p:nvSpPr>
        <p:spPr>
          <a:xfrm>
            <a:off x="7040880" y="4709160"/>
            <a:ext cx="4251960" cy="0"/>
          </a:xfrm>
          <a:prstGeom prst="line">
            <a:avLst/>
          </a:prstGeom>
          <a:noFill/>
          <a:ln w="9525">
            <a:solidFill>
              <a:srgbClr val="2B3A75"/>
            </a:solidFill>
            <a:prstDash val="solid"/>
          </a:ln>
        </p:spPr>
      </p:sp>
      <p:sp>
        <p:nvSpPr>
          <p:cNvPr id="25" name="Text 23"/>
          <p:cNvSpPr txBox="1"/>
          <p:nvPr/>
        </p:nvSpPr>
        <p:spPr>
          <a:xfrm>
            <a:off x="7040880" y="4800600"/>
            <a:ext cx="3097530" cy="374904"/>
          </a:xfrm>
          <a:prstGeom prst="rect">
            <a:avLst/>
          </a:prstGeom>
          <a:noFill/>
          <a:ln/>
        </p:spPr>
        <p:txBody>
          <a:bodyPr wrap="square" lIns="0" tIns="0" rIns="0" bIns="0" rtlCol="0" anchor="ctr"/>
          <a:lstStyle/>
          <a:p>
            <a:pPr indent="0" marL="0">
              <a:buNone/>
            </a:pPr>
            <a:r>
              <a:rPr lang="en-US" sz="1100" dirty="0">
                <a:solidFill>
                  <a:srgbClr val="E6E8F0"/>
                </a:solidFill>
                <a:latin typeface="Calibri" pitchFamily="34" charset="0"/>
                <a:ea typeface="Calibri" pitchFamily="34" charset="-122"/>
                <a:cs typeface="Calibri" pitchFamily="34" charset="-120"/>
              </a:rPr>
              <a:t>seo.suedeai.ai/evidence</a:t>
            </a:r>
            <a:endParaRPr lang="en-US" sz="1100" dirty="0"/>
          </a:p>
        </p:txBody>
      </p:sp>
      <p:sp>
        <p:nvSpPr>
          <p:cNvPr id="26" name="Text 24"/>
          <p:cNvSpPr txBox="1"/>
          <p:nvPr/>
        </p:nvSpPr>
        <p:spPr>
          <a:xfrm>
            <a:off x="10229850" y="4800600"/>
            <a:ext cx="1062990" cy="374904"/>
          </a:xfrm>
          <a:prstGeom prst="rect">
            <a:avLst/>
          </a:prstGeom>
          <a:noFill/>
          <a:ln/>
        </p:spPr>
        <p:txBody>
          <a:bodyPr wrap="square" lIns="0" tIns="0" rIns="0" bIns="0" rtlCol="0" anchor="ctr"/>
          <a:lstStyle/>
          <a:p>
            <a:pPr algn="r" indent="0" marL="0">
              <a:buNone/>
            </a:pPr>
            <a:r>
              <a:rPr lang="en-US" sz="850" dirty="0">
                <a:solidFill>
                  <a:srgbClr val="8FB0FF"/>
                </a:solidFill>
                <a:latin typeface="Courier New" pitchFamily="34" charset="0"/>
                <a:ea typeface="Courier New" pitchFamily="34" charset="-122"/>
                <a:cs typeface="Courier New" pitchFamily="34" charset="-120"/>
              </a:rPr>
              <a:t>receipts</a:t>
            </a:r>
            <a:endParaRPr lang="en-US" sz="850" dirty="0"/>
          </a:p>
        </p:txBody>
      </p:sp>
      <p:sp>
        <p:nvSpPr>
          <p:cNvPr id="27" name="Shape 25"/>
          <p:cNvSpPr/>
          <p:nvPr/>
        </p:nvSpPr>
        <p:spPr>
          <a:xfrm>
            <a:off x="7040880" y="5212080"/>
            <a:ext cx="4251960" cy="0"/>
          </a:xfrm>
          <a:prstGeom prst="line">
            <a:avLst/>
          </a:prstGeom>
          <a:noFill/>
          <a:ln w="9525">
            <a:solidFill>
              <a:srgbClr val="2B3A75"/>
            </a:solidFill>
            <a:prstDash val="solid"/>
          </a:ln>
        </p:spPr>
      </p:sp>
      <p:sp>
        <p:nvSpPr>
          <p:cNvPr id="28" name="Text 26"/>
          <p:cNvSpPr txBox="1"/>
          <p:nvPr/>
        </p:nvSpPr>
        <p:spPr>
          <a:xfrm>
            <a:off x="7040880" y="5303520"/>
            <a:ext cx="3097530" cy="374904"/>
          </a:xfrm>
          <a:prstGeom prst="rect">
            <a:avLst/>
          </a:prstGeom>
          <a:noFill/>
          <a:ln/>
        </p:spPr>
        <p:txBody>
          <a:bodyPr wrap="square" lIns="0" tIns="0" rIns="0" bIns="0" rtlCol="0" anchor="ctr"/>
          <a:lstStyle/>
          <a:p>
            <a:pPr indent="0" marL="0">
              <a:buNone/>
            </a:pPr>
            <a:r>
              <a:rPr lang="en-US" sz="1100" dirty="0">
                <a:solidFill>
                  <a:srgbClr val="E6E8F0"/>
                </a:solidFill>
                <a:latin typeface="Calibri" pitchFamily="34" charset="0"/>
                <a:ea typeface="Calibri" pitchFamily="34" charset="-122"/>
                <a:cs typeface="Calibri" pitchFamily="34" charset="-120"/>
              </a:rPr>
              <a:t>seo.suedeai.ai/book</a:t>
            </a:r>
            <a:endParaRPr lang="en-US" sz="1100" dirty="0"/>
          </a:p>
        </p:txBody>
      </p:sp>
      <p:sp>
        <p:nvSpPr>
          <p:cNvPr id="29" name="Text 27"/>
          <p:cNvSpPr txBox="1"/>
          <p:nvPr/>
        </p:nvSpPr>
        <p:spPr>
          <a:xfrm>
            <a:off x="10229850" y="5303520"/>
            <a:ext cx="1062990" cy="374904"/>
          </a:xfrm>
          <a:prstGeom prst="rect">
            <a:avLst/>
          </a:prstGeom>
          <a:noFill/>
          <a:ln/>
        </p:spPr>
        <p:txBody>
          <a:bodyPr wrap="square" lIns="0" tIns="0" rIns="0" bIns="0" rtlCol="0" anchor="ctr"/>
          <a:lstStyle/>
          <a:p>
            <a:pPr algn="r" indent="0" marL="0">
              <a:buNone/>
            </a:pPr>
            <a:r>
              <a:rPr lang="en-US" sz="850" dirty="0">
                <a:solidFill>
                  <a:srgbClr val="8FB0FF"/>
                </a:solidFill>
                <a:latin typeface="Courier New" pitchFamily="34" charset="0"/>
                <a:ea typeface="Courier New" pitchFamily="34" charset="-122"/>
                <a:cs typeface="Courier New" pitchFamily="34" charset="-120"/>
              </a:rPr>
              <a:t>the book</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tmp/claude-0/-home-user--github/fb5f43e6-83cf-528a-bc77-62840775cbad/scratchpad/decks/assets/logo-light.png">    </p:cNvPr>
          <p:cNvPicPr>
            <a:picLocks noChangeAspect="1"/>
          </p:cNvPicPr>
          <p:nvPr/>
        </p:nvPicPr>
        <p:blipFill>
          <a:blip r:embed="rId2"/>
          <a:stretch>
            <a:fillRect/>
          </a:stretch>
        </p:blipFill>
        <p:spPr>
          <a:xfrm>
            <a:off x="640080" y="548640"/>
            <a:ext cx="502920" cy="502920"/>
          </a:xfrm>
          <a:prstGeom prst="rect">
            <a:avLst/>
          </a:prstGeom>
        </p:spPr>
      </p:pic>
      <p:sp>
        <p:nvSpPr>
          <p:cNvPr id="3" name="Text 0"/>
          <p:cNvSpPr txBox="1"/>
          <p:nvPr/>
        </p:nvSpPr>
        <p:spPr>
          <a:xfrm>
            <a:off x="640080" y="1920240"/>
            <a:ext cx="6035040" cy="256032"/>
          </a:xfrm>
          <a:prstGeom prst="rect">
            <a:avLst/>
          </a:prstGeom>
          <a:noFill/>
          <a:ln/>
        </p:spPr>
        <p:txBody>
          <a:bodyPr wrap="square" lIns="0" tIns="0" rIns="0" bIns="0" rtlCol="0" anchor="ctr"/>
          <a:lstStyle/>
          <a:p>
            <a:pPr indent="0" marL="0">
              <a:buNone/>
            </a:pPr>
            <a:r>
              <a:rPr lang="en-US" sz="950" spc="250" kern="0" dirty="0">
                <a:solidFill>
                  <a:srgbClr val="7C9BFF"/>
                </a:solidFill>
                <a:latin typeface="Courier New" pitchFamily="34" charset="0"/>
                <a:ea typeface="Courier New" pitchFamily="34" charset="-122"/>
                <a:cs typeface="Courier New" pitchFamily="34" charset="-120"/>
              </a:rPr>
              <a:t>DIRECT LINE</a:t>
            </a:r>
            <a:endParaRPr lang="en-US" sz="950" dirty="0"/>
          </a:p>
        </p:txBody>
      </p:sp>
      <p:sp>
        <p:nvSpPr>
          <p:cNvPr id="4" name="Text 1"/>
          <p:cNvSpPr txBox="1"/>
          <p:nvPr/>
        </p:nvSpPr>
        <p:spPr>
          <a:xfrm>
            <a:off x="640080" y="2286000"/>
            <a:ext cx="6035040" cy="745744"/>
          </a:xfrm>
          <a:prstGeom prst="rect">
            <a:avLst/>
          </a:prstGeom>
          <a:noFill/>
          <a:ln/>
        </p:spPr>
        <p:txBody>
          <a:bodyPr wrap="square" lIns="0" tIns="0" rIns="0" bIns="0" rtlCol="0" anchor="t"/>
          <a:lstStyle/>
          <a:p>
            <a:pPr algn="l" indent="0" marL="0">
              <a:lnSpc>
                <a:spcPct val="105000"/>
              </a:lnSpc>
              <a:buNone/>
            </a:pPr>
            <a:r>
              <a:rPr lang="en-US" sz="4600" dirty="0">
                <a:solidFill>
                  <a:srgbClr val="F4F5F9"/>
                </a:solidFill>
                <a:latin typeface="Cambria" pitchFamily="34" charset="0"/>
                <a:ea typeface="Cambria" pitchFamily="34" charset="-122"/>
                <a:cs typeface="Cambria" pitchFamily="34" charset="-120"/>
              </a:rPr>
              <a:t>Open a file.</a:t>
            </a:r>
            <a:endParaRPr lang="en-US" sz="4600" dirty="0"/>
          </a:p>
        </p:txBody>
      </p:sp>
      <p:sp>
        <p:nvSpPr>
          <p:cNvPr id="5" name="Text 2"/>
          <p:cNvSpPr txBox="1"/>
          <p:nvPr/>
        </p:nvSpPr>
        <p:spPr>
          <a:xfrm>
            <a:off x="640080" y="3306064"/>
            <a:ext cx="6035040" cy="1188720"/>
          </a:xfrm>
          <a:prstGeom prst="rect">
            <a:avLst/>
          </a:prstGeom>
          <a:noFill/>
          <a:ln/>
        </p:spPr>
        <p:txBody>
          <a:bodyPr wrap="square" lIns="0" tIns="0" rIns="0" bIns="0" rtlCol="0" anchor="t"/>
          <a:lstStyle/>
          <a:p>
            <a:pPr algn="l" indent="0" marL="0">
              <a:lnSpc>
                <a:spcPct val="120000"/>
              </a:lnSpc>
              <a:buNone/>
            </a:pPr>
            <a:r>
              <a:rPr lang="en-US" sz="1500" dirty="0">
                <a:solidFill>
                  <a:srgbClr val="C3CBEA"/>
                </a:solidFill>
                <a:latin typeface="Calibri" pitchFamily="34" charset="0"/>
                <a:ea typeface="Calibri" pitchFamily="34" charset="-122"/>
                <a:cs typeface="Calibri" pitchFamily="34" charset="-120"/>
              </a:rPr>
              <a:t>Name, email, site. Enough for Jason to look at your category. He reads these himself and answers by email.</a:t>
            </a:r>
            <a:endParaRPr lang="en-US" sz="1500" dirty="0"/>
          </a:p>
        </p:txBody>
      </p:sp>
      <p:sp>
        <p:nvSpPr>
          <p:cNvPr id="6" name="Shape 3"/>
          <p:cNvSpPr/>
          <p:nvPr/>
        </p:nvSpPr>
        <p:spPr>
          <a:xfrm>
            <a:off x="7071055" y="2011680"/>
            <a:ext cx="4480560" cy="2761488"/>
          </a:xfrm>
          <a:prstGeom prst="roundRect">
            <a:avLst>
              <a:gd name="adj" fmla="val 3974"/>
            </a:avLst>
          </a:prstGeom>
          <a:solidFill>
            <a:srgbClr val="0B1236"/>
          </a:solidFill>
          <a:ln w="9525">
            <a:solidFill>
              <a:srgbClr val="2B3A75"/>
            </a:solidFill>
            <a:prstDash val="solid"/>
          </a:ln>
          <a:effectLst>
            <a:outerShdw sx="100000" sy="100000" kx="0" ky="0" algn="bl" rotWithShape="0" blurRad="152400" dist="38100" dir="5400000">
              <a:srgbClr val="000000">
                <a:alpha val="35000"/>
              </a:srgbClr>
            </a:outerShdw>
          </a:effectLst>
        </p:spPr>
      </p:sp>
      <p:sp>
        <p:nvSpPr>
          <p:cNvPr id="7" name="Text 4"/>
          <p:cNvSpPr txBox="1"/>
          <p:nvPr/>
        </p:nvSpPr>
        <p:spPr>
          <a:xfrm>
            <a:off x="7345375" y="2176272"/>
            <a:ext cx="3931920" cy="228600"/>
          </a:xfrm>
          <a:prstGeom prst="rect">
            <a:avLst/>
          </a:prstGeom>
          <a:noFill/>
          <a:ln/>
        </p:spPr>
        <p:txBody>
          <a:bodyPr wrap="square" lIns="0" tIns="0" rIns="0" bIns="0" rtlCol="0" anchor="ctr"/>
          <a:lstStyle/>
          <a:p>
            <a:pPr indent="0" marL="0">
              <a:buNone/>
            </a:pPr>
            <a:r>
              <a:rPr lang="en-US" sz="850" spc="250" kern="0" dirty="0">
                <a:solidFill>
                  <a:srgbClr val="8FB0FF"/>
                </a:solidFill>
                <a:latin typeface="Courier New" pitchFamily="34" charset="0"/>
                <a:ea typeface="Courier New" pitchFamily="34" charset="-122"/>
                <a:cs typeface="Courier New" pitchFamily="34" charset="-120"/>
              </a:rPr>
              <a:t>DIRECT LINE</a:t>
            </a:r>
            <a:endParaRPr lang="en-US" sz="850" dirty="0"/>
          </a:p>
        </p:txBody>
      </p:sp>
      <p:sp>
        <p:nvSpPr>
          <p:cNvPr id="8" name="Shape 5"/>
          <p:cNvSpPr/>
          <p:nvPr/>
        </p:nvSpPr>
        <p:spPr>
          <a:xfrm>
            <a:off x="7345375" y="2514600"/>
            <a:ext cx="3931920" cy="0"/>
          </a:xfrm>
          <a:prstGeom prst="line">
            <a:avLst/>
          </a:prstGeom>
          <a:noFill/>
          <a:ln w="9525">
            <a:solidFill>
              <a:srgbClr val="2B3A75"/>
            </a:solidFill>
            <a:prstDash val="solid"/>
          </a:ln>
        </p:spPr>
      </p:sp>
      <p:sp>
        <p:nvSpPr>
          <p:cNvPr id="9" name="Text 6"/>
          <p:cNvSpPr txBox="1"/>
          <p:nvPr/>
        </p:nvSpPr>
        <p:spPr>
          <a:xfrm>
            <a:off x="7345375" y="2606040"/>
            <a:ext cx="1324051" cy="402336"/>
          </a:xfrm>
          <a:prstGeom prst="rect">
            <a:avLst/>
          </a:prstGeom>
          <a:noFill/>
          <a:ln/>
        </p:spPr>
        <p:txBody>
          <a:bodyPr wrap="square" lIns="0" tIns="0" rIns="0" bIns="0" rtlCol="0" anchor="ctr"/>
          <a:lstStyle/>
          <a:p>
            <a:pPr indent="0" marL="0">
              <a:buNone/>
            </a:pPr>
            <a:r>
              <a:rPr lang="en-US" sz="1200" dirty="0">
                <a:solidFill>
                  <a:srgbClr val="E6E8F0"/>
                </a:solidFill>
                <a:latin typeface="Calibri" pitchFamily="34" charset="0"/>
                <a:ea typeface="Calibri" pitchFamily="34" charset="-122"/>
                <a:cs typeface="Calibri" pitchFamily="34" charset="-120"/>
              </a:rPr>
              <a:t>Email</a:t>
            </a:r>
            <a:endParaRPr lang="en-US" sz="1200" dirty="0"/>
          </a:p>
        </p:txBody>
      </p:sp>
      <p:sp>
        <p:nvSpPr>
          <p:cNvPr id="10" name="Text 7"/>
          <p:cNvSpPr txBox="1"/>
          <p:nvPr/>
        </p:nvSpPr>
        <p:spPr>
          <a:xfrm>
            <a:off x="8760866" y="2606040"/>
            <a:ext cx="2516429" cy="402336"/>
          </a:xfrm>
          <a:prstGeom prst="rect">
            <a:avLst/>
          </a:prstGeom>
          <a:noFill/>
          <a:ln/>
        </p:spPr>
        <p:txBody>
          <a:bodyPr wrap="square" lIns="0" tIns="0" rIns="0" bIns="0" rtlCol="0" anchor="ctr"/>
          <a:lstStyle/>
          <a:p>
            <a:pPr algn="r" indent="0" marL="0">
              <a:buNone/>
            </a:pPr>
            <a:r>
              <a:rPr lang="en-US" sz="950" dirty="0">
                <a:solidFill>
                  <a:srgbClr val="8FB0FF"/>
                </a:solidFill>
                <a:latin typeface="Courier New" pitchFamily="34" charset="0"/>
                <a:ea typeface="Courier New" pitchFamily="34" charset="-122"/>
                <a:cs typeface="Courier New" pitchFamily="34" charset="-120"/>
              </a:rPr>
              <a:t>info@suedeai.ai</a:t>
            </a:r>
            <a:endParaRPr lang="en-US" sz="950" dirty="0"/>
          </a:p>
        </p:txBody>
      </p:sp>
      <p:sp>
        <p:nvSpPr>
          <p:cNvPr id="11" name="Shape 8"/>
          <p:cNvSpPr/>
          <p:nvPr/>
        </p:nvSpPr>
        <p:spPr>
          <a:xfrm>
            <a:off x="7345375" y="3044952"/>
            <a:ext cx="3931920" cy="0"/>
          </a:xfrm>
          <a:prstGeom prst="line">
            <a:avLst/>
          </a:prstGeom>
          <a:noFill/>
          <a:ln w="9525">
            <a:solidFill>
              <a:srgbClr val="2B3A75"/>
            </a:solidFill>
            <a:prstDash val="solid"/>
          </a:ln>
        </p:spPr>
      </p:sp>
      <p:sp>
        <p:nvSpPr>
          <p:cNvPr id="12" name="Text 9"/>
          <p:cNvSpPr txBox="1"/>
          <p:nvPr/>
        </p:nvSpPr>
        <p:spPr>
          <a:xfrm>
            <a:off x="7345375" y="3136392"/>
            <a:ext cx="1324051" cy="402336"/>
          </a:xfrm>
          <a:prstGeom prst="rect">
            <a:avLst/>
          </a:prstGeom>
          <a:noFill/>
          <a:ln/>
        </p:spPr>
        <p:txBody>
          <a:bodyPr wrap="square" lIns="0" tIns="0" rIns="0" bIns="0" rtlCol="0" anchor="ctr"/>
          <a:lstStyle/>
          <a:p>
            <a:pPr indent="0" marL="0">
              <a:buNone/>
            </a:pPr>
            <a:r>
              <a:rPr lang="en-US" sz="1200" dirty="0">
                <a:solidFill>
                  <a:srgbClr val="E6E8F0"/>
                </a:solidFill>
                <a:latin typeface="Calibri" pitchFamily="34" charset="0"/>
                <a:ea typeface="Calibri" pitchFamily="34" charset="-122"/>
                <a:cs typeface="Calibri" pitchFamily="34" charset="-120"/>
              </a:rPr>
              <a:t>Scope form</a:t>
            </a:r>
            <a:endParaRPr lang="en-US" sz="1200" dirty="0"/>
          </a:p>
        </p:txBody>
      </p:sp>
      <p:sp>
        <p:nvSpPr>
          <p:cNvPr id="13" name="Text 10"/>
          <p:cNvSpPr txBox="1"/>
          <p:nvPr/>
        </p:nvSpPr>
        <p:spPr>
          <a:xfrm>
            <a:off x="8760866" y="3136392"/>
            <a:ext cx="2516429" cy="402336"/>
          </a:xfrm>
          <a:prstGeom prst="rect">
            <a:avLst/>
          </a:prstGeom>
          <a:noFill/>
          <a:ln/>
        </p:spPr>
        <p:txBody>
          <a:bodyPr wrap="square" lIns="0" tIns="0" rIns="0" bIns="0" rtlCol="0" anchor="ctr"/>
          <a:lstStyle/>
          <a:p>
            <a:pPr algn="r" indent="0" marL="0">
              <a:buNone/>
            </a:pPr>
            <a:r>
              <a:rPr lang="en-US" sz="950" dirty="0">
                <a:solidFill>
                  <a:srgbClr val="8FB0FF"/>
                </a:solidFill>
                <a:latin typeface="Courier New" pitchFamily="34" charset="0"/>
                <a:ea typeface="Courier New" pitchFamily="34" charset="-122"/>
                <a:cs typeface="Courier New" pitchFamily="34" charset="-120"/>
              </a:rPr>
              <a:t>seo.suedeai.ai</a:t>
            </a:r>
            <a:endParaRPr lang="en-US" sz="950" dirty="0"/>
          </a:p>
        </p:txBody>
      </p:sp>
      <p:sp>
        <p:nvSpPr>
          <p:cNvPr id="14" name="Shape 11"/>
          <p:cNvSpPr/>
          <p:nvPr/>
        </p:nvSpPr>
        <p:spPr>
          <a:xfrm>
            <a:off x="7345375" y="3575304"/>
            <a:ext cx="3931920" cy="0"/>
          </a:xfrm>
          <a:prstGeom prst="line">
            <a:avLst/>
          </a:prstGeom>
          <a:noFill/>
          <a:ln w="9525">
            <a:solidFill>
              <a:srgbClr val="2B3A75"/>
            </a:solidFill>
            <a:prstDash val="solid"/>
          </a:ln>
        </p:spPr>
      </p:sp>
      <p:sp>
        <p:nvSpPr>
          <p:cNvPr id="15" name="Text 12"/>
          <p:cNvSpPr txBox="1"/>
          <p:nvPr/>
        </p:nvSpPr>
        <p:spPr>
          <a:xfrm>
            <a:off x="7345375" y="3666744"/>
            <a:ext cx="1324051" cy="402336"/>
          </a:xfrm>
          <a:prstGeom prst="rect">
            <a:avLst/>
          </a:prstGeom>
          <a:noFill/>
          <a:ln/>
        </p:spPr>
        <p:txBody>
          <a:bodyPr wrap="square" lIns="0" tIns="0" rIns="0" bIns="0" rtlCol="0" anchor="ctr"/>
          <a:lstStyle/>
          <a:p>
            <a:pPr indent="0" marL="0">
              <a:buNone/>
            </a:pPr>
            <a:r>
              <a:rPr lang="en-US" sz="1200" dirty="0">
                <a:solidFill>
                  <a:srgbClr val="E6E8F0"/>
                </a:solidFill>
                <a:latin typeface="Calibri" pitchFamily="34" charset="0"/>
                <a:ea typeface="Calibri" pitchFamily="34" charset="-122"/>
                <a:cs typeface="Calibri" pitchFamily="34" charset="-120"/>
              </a:rPr>
              <a:t>Evidence</a:t>
            </a:r>
            <a:endParaRPr lang="en-US" sz="1200" dirty="0"/>
          </a:p>
        </p:txBody>
      </p:sp>
      <p:sp>
        <p:nvSpPr>
          <p:cNvPr id="16" name="Text 13"/>
          <p:cNvSpPr txBox="1"/>
          <p:nvPr/>
        </p:nvSpPr>
        <p:spPr>
          <a:xfrm>
            <a:off x="8760866" y="3666744"/>
            <a:ext cx="2516429" cy="402336"/>
          </a:xfrm>
          <a:prstGeom prst="rect">
            <a:avLst/>
          </a:prstGeom>
          <a:noFill/>
          <a:ln/>
        </p:spPr>
        <p:txBody>
          <a:bodyPr wrap="square" lIns="0" tIns="0" rIns="0" bIns="0" rtlCol="0" anchor="ctr"/>
          <a:lstStyle/>
          <a:p>
            <a:pPr algn="r" indent="0" marL="0">
              <a:buNone/>
            </a:pPr>
            <a:r>
              <a:rPr lang="en-US" sz="950" dirty="0">
                <a:solidFill>
                  <a:srgbClr val="8FB0FF"/>
                </a:solidFill>
                <a:latin typeface="Courier New" pitchFamily="34" charset="0"/>
                <a:ea typeface="Courier New" pitchFamily="34" charset="-122"/>
                <a:cs typeface="Courier New" pitchFamily="34" charset="-120"/>
              </a:rPr>
              <a:t>/evidence</a:t>
            </a:r>
            <a:endParaRPr lang="en-US" sz="950" dirty="0"/>
          </a:p>
        </p:txBody>
      </p:sp>
      <p:sp>
        <p:nvSpPr>
          <p:cNvPr id="17" name="Shape 14"/>
          <p:cNvSpPr/>
          <p:nvPr/>
        </p:nvSpPr>
        <p:spPr>
          <a:xfrm>
            <a:off x="7345375" y="4105656"/>
            <a:ext cx="3931920" cy="0"/>
          </a:xfrm>
          <a:prstGeom prst="line">
            <a:avLst/>
          </a:prstGeom>
          <a:noFill/>
          <a:ln w="9525">
            <a:solidFill>
              <a:srgbClr val="2B3A75"/>
            </a:solidFill>
            <a:prstDash val="solid"/>
          </a:ln>
        </p:spPr>
      </p:sp>
      <p:sp>
        <p:nvSpPr>
          <p:cNvPr id="18" name="Text 15"/>
          <p:cNvSpPr txBox="1"/>
          <p:nvPr/>
        </p:nvSpPr>
        <p:spPr>
          <a:xfrm>
            <a:off x="7345375" y="4197096"/>
            <a:ext cx="1324051" cy="402336"/>
          </a:xfrm>
          <a:prstGeom prst="rect">
            <a:avLst/>
          </a:prstGeom>
          <a:noFill/>
          <a:ln/>
        </p:spPr>
        <p:txBody>
          <a:bodyPr wrap="square" lIns="0" tIns="0" rIns="0" bIns="0" rtlCol="0" anchor="ctr"/>
          <a:lstStyle/>
          <a:p>
            <a:pPr indent="0" marL="0">
              <a:buNone/>
            </a:pPr>
            <a:r>
              <a:rPr lang="en-US" sz="1200" dirty="0">
                <a:solidFill>
                  <a:srgbClr val="E6E8F0"/>
                </a:solidFill>
                <a:latin typeface="Calibri" pitchFamily="34" charset="0"/>
                <a:ea typeface="Calibri" pitchFamily="34" charset="-122"/>
                <a:cs typeface="Calibri" pitchFamily="34" charset="-120"/>
              </a:rPr>
              <a:t>Founder</a:t>
            </a:r>
            <a:endParaRPr lang="en-US" sz="1200" dirty="0"/>
          </a:p>
        </p:txBody>
      </p:sp>
      <p:sp>
        <p:nvSpPr>
          <p:cNvPr id="19" name="Text 16"/>
          <p:cNvSpPr txBox="1"/>
          <p:nvPr/>
        </p:nvSpPr>
        <p:spPr>
          <a:xfrm>
            <a:off x="8760866" y="4197096"/>
            <a:ext cx="2516429" cy="402336"/>
          </a:xfrm>
          <a:prstGeom prst="rect">
            <a:avLst/>
          </a:prstGeom>
          <a:noFill/>
          <a:ln/>
        </p:spPr>
        <p:txBody>
          <a:bodyPr wrap="square" lIns="0" tIns="0" rIns="0" bIns="0" rtlCol="0" anchor="ctr"/>
          <a:lstStyle/>
          <a:p>
            <a:pPr algn="r" indent="0" marL="0">
              <a:buNone/>
            </a:pPr>
            <a:r>
              <a:rPr lang="en-US" sz="950" dirty="0">
                <a:solidFill>
                  <a:srgbClr val="8FB0FF"/>
                </a:solidFill>
                <a:latin typeface="Courier New" pitchFamily="34" charset="0"/>
                <a:ea typeface="Courier New" pitchFamily="34" charset="-122"/>
                <a:cs typeface="Courier New" pitchFamily="34" charset="-120"/>
              </a:rPr>
              <a:t>x.com/johnnysuede</a:t>
            </a:r>
            <a:endParaRPr lang="en-US" sz="950" dirty="0"/>
          </a:p>
        </p:txBody>
      </p:sp>
      <p:sp>
        <p:nvSpPr>
          <p:cNvPr id="20" name="Shape 17"/>
          <p:cNvSpPr/>
          <p:nvPr/>
        </p:nvSpPr>
        <p:spPr>
          <a:xfrm>
            <a:off x="640080" y="5989320"/>
            <a:ext cx="10911535" cy="0"/>
          </a:xfrm>
          <a:prstGeom prst="line">
            <a:avLst/>
          </a:prstGeom>
          <a:noFill/>
          <a:ln w="9525">
            <a:solidFill>
              <a:srgbClr val="34437F"/>
            </a:solidFill>
            <a:prstDash val="solid"/>
          </a:ln>
        </p:spPr>
      </p:sp>
      <p:sp>
        <p:nvSpPr>
          <p:cNvPr id="21" name="Text 18"/>
          <p:cNvSpPr txBox="1"/>
          <p:nvPr/>
        </p:nvSpPr>
        <p:spPr>
          <a:xfrm>
            <a:off x="640080" y="6126480"/>
            <a:ext cx="5486400" cy="274320"/>
          </a:xfrm>
          <a:prstGeom prst="rect">
            <a:avLst/>
          </a:prstGeom>
          <a:noFill/>
          <a:ln/>
        </p:spPr>
        <p:txBody>
          <a:bodyPr wrap="square" lIns="0" tIns="0" rIns="0" bIns="0" rtlCol="0" anchor="t"/>
          <a:lstStyle/>
          <a:p>
            <a:pPr algn="l" indent="0" marL="0">
              <a:lnSpc>
                <a:spcPct val="125000"/>
              </a:lnSpc>
              <a:buNone/>
            </a:pPr>
            <a:r>
              <a:rPr lang="en-US" sz="1000" spc="200" kern="0" dirty="0">
                <a:solidFill>
                  <a:srgbClr val="7C9BFF"/>
                </a:solidFill>
                <a:latin typeface="Courier New" pitchFamily="34" charset="0"/>
                <a:ea typeface="Courier New" pitchFamily="34" charset="-122"/>
                <a:cs typeface="Courier New" pitchFamily="34" charset="-120"/>
              </a:rPr>
              <a:t>SEO.SUEDEAI.AI · REQUEST A SCOPE</a:t>
            </a:r>
            <a:endParaRPr lang="en-US" sz="1000" dirty="0"/>
          </a:p>
        </p:txBody>
      </p:sp>
      <p:sp>
        <p:nvSpPr>
          <p:cNvPr id="22" name="Text 19"/>
          <p:cNvSpPr txBox="1"/>
          <p:nvPr/>
        </p:nvSpPr>
        <p:spPr>
          <a:xfrm>
            <a:off x="6065215" y="6126480"/>
            <a:ext cx="5486400" cy="274320"/>
          </a:xfrm>
          <a:prstGeom prst="rect">
            <a:avLst/>
          </a:prstGeom>
          <a:noFill/>
          <a:ln/>
        </p:spPr>
        <p:txBody>
          <a:bodyPr wrap="square" lIns="0" tIns="0" rIns="0" bIns="0" rtlCol="0" anchor="t"/>
          <a:lstStyle/>
          <a:p>
            <a:pPr algn="r" indent="0" marL="0">
              <a:lnSpc>
                <a:spcPct val="125000"/>
              </a:lnSpc>
              <a:buNone/>
            </a:pPr>
            <a:r>
              <a:rPr lang="en-US" sz="950" spc="100" kern="0" dirty="0">
                <a:solidFill>
                  <a:srgbClr val="C3CBEA"/>
                </a:solidFill>
                <a:latin typeface="Courier New" pitchFamily="34" charset="0"/>
                <a:ea typeface="Courier New" pitchFamily="34" charset="-122"/>
                <a:cs typeface="Courier New" pitchFamily="34" charset="-120"/>
              </a:rPr>
              <a:t>Suede Labs AI · Jason Colapietro, Founder &amp; CEO</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Suede Labs 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Suede SEO — AI engineering &amp; full-stack GEO</dc:title>
  <dc:subject>PptxGenJS Presentation</dc:subject>
  <dc:creator>Suede Labs AI</dc:creator>
  <cp:lastModifiedBy>Suede Labs AI</cp:lastModifiedBy>
  <cp:revision>1</cp:revision>
  <dcterms:created xsi:type="dcterms:W3CDTF">2026-09-09T01:41:11Z</dcterms:created>
  <dcterms:modified xsi:type="dcterms:W3CDTF">2026-09-09T01:41:11Z</dcterms:modified>
</cp:coreProperties>
</file>