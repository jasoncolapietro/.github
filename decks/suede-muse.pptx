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user--github/fb5f43e6-83cf-528a-bc77-62840775cbad/scratchpad/decks/assets/logo-light.png">    </p:cNvPr>
          <p:cNvPicPr>
            <a:picLocks noChangeAspect="1"/>
          </p:cNvPicPr>
          <p:nvPr/>
        </p:nvPicPr>
        <p:blipFill>
          <a:blip r:embed="rId2"/>
          <a:stretch>
            <a:fillRect/>
          </a:stretch>
        </p:blipFill>
        <p:spPr>
          <a:xfrm>
            <a:off x="640080" y="548640"/>
            <a:ext cx="502920" cy="502920"/>
          </a:xfrm>
          <a:prstGeom prst="rect">
            <a:avLst/>
          </a:prstGeom>
        </p:spPr>
      </p:pic>
      <p:sp>
        <p:nvSpPr>
          <p:cNvPr id="3" name="Text 0"/>
          <p:cNvSpPr txBox="1"/>
          <p:nvPr/>
        </p:nvSpPr>
        <p:spPr>
          <a:xfrm>
            <a:off x="1280160" y="548640"/>
            <a:ext cx="4572000" cy="502920"/>
          </a:xfrm>
          <a:prstGeom prst="rect">
            <a:avLst/>
          </a:prstGeom>
          <a:noFill/>
          <a:ln/>
        </p:spPr>
        <p:txBody>
          <a:bodyPr wrap="square" lIns="0" tIns="0" rIns="0" bIns="0" rtlCol="0" anchor="ctr"/>
          <a:lstStyle/>
          <a:p>
            <a:pPr indent="0" marL="0">
              <a:buNone/>
            </a:pPr>
            <a:r>
              <a:rPr lang="en-US" sz="1000" spc="250" kern="0" dirty="0">
                <a:solidFill>
                  <a:srgbClr val="C9C3E3"/>
                </a:solidFill>
                <a:latin typeface="Courier New" pitchFamily="34" charset="0"/>
                <a:ea typeface="Courier New" pitchFamily="34" charset="-122"/>
                <a:cs typeface="Courier New" pitchFamily="34" charset="-120"/>
              </a:rPr>
              <a:t>Suede Labs AI</a:t>
            </a:r>
            <a:endParaRPr lang="en-US" sz="1000" dirty="0"/>
          </a:p>
        </p:txBody>
      </p:sp>
      <p:sp>
        <p:nvSpPr>
          <p:cNvPr id="4" name="Text 1"/>
          <p:cNvSpPr txBox="1"/>
          <p:nvPr/>
        </p:nvSpPr>
        <p:spPr>
          <a:xfrm>
            <a:off x="640080" y="1874520"/>
            <a:ext cx="10515600" cy="256032"/>
          </a:xfrm>
          <a:prstGeom prst="rect">
            <a:avLst/>
          </a:prstGeom>
          <a:noFill/>
          <a:ln/>
        </p:spPr>
        <p:txBody>
          <a:bodyPr wrap="square" lIns="0" tIns="0" rIns="0" bIns="0" rtlCol="0" anchor="ctr"/>
          <a:lstStyle/>
          <a:p>
            <a:pPr indent="0" marL="0">
              <a:buNone/>
            </a:pPr>
            <a:r>
              <a:rPr lang="en-US" sz="950" spc="250" kern="0" dirty="0">
                <a:solidFill>
                  <a:srgbClr val="C4B5FD"/>
                </a:solidFill>
                <a:latin typeface="Courier New" pitchFamily="34" charset="0"/>
                <a:ea typeface="Courier New" pitchFamily="34" charset="-122"/>
                <a:cs typeface="Courier New" pitchFamily="34" charset="-120"/>
              </a:rPr>
              <a:t>MUSE.SUEDEAI.AI · THE HOUSE DECK · IOS AND WEB</a:t>
            </a:r>
            <a:endParaRPr lang="en-US" sz="950" dirty="0"/>
          </a:p>
        </p:txBody>
      </p:sp>
      <p:sp>
        <p:nvSpPr>
          <p:cNvPr id="5" name="Text 2"/>
          <p:cNvSpPr txBox="1"/>
          <p:nvPr/>
        </p:nvSpPr>
        <p:spPr>
          <a:xfrm>
            <a:off x="640080" y="2194560"/>
            <a:ext cx="9692640" cy="1371600"/>
          </a:xfrm>
          <a:prstGeom prst="rect">
            <a:avLst/>
          </a:prstGeom>
          <a:noFill/>
          <a:ln/>
        </p:spPr>
        <p:txBody>
          <a:bodyPr wrap="square" lIns="0" tIns="0" rIns="0" bIns="0" rtlCol="0" anchor="t"/>
          <a:lstStyle/>
          <a:p>
            <a:pPr algn="l" indent="0" marL="0">
              <a:lnSpc>
                <a:spcPct val="105000"/>
              </a:lnSpc>
              <a:buNone/>
            </a:pPr>
            <a:r>
              <a:rPr lang="en-US" sz="4500" dirty="0">
                <a:solidFill>
                  <a:srgbClr val="F4F5F9"/>
                </a:solidFill>
                <a:latin typeface="Cambria" pitchFamily="34" charset="0"/>
                <a:ea typeface="Cambria" pitchFamily="34" charset="-122"/>
                <a:cs typeface="Cambria" pitchFamily="34" charset="-120"/>
              </a:rPr>
              <a:t>Tonight's card. Same one for every musician on earth.</a:t>
            </a:r>
            <a:endParaRPr lang="en-US" sz="4500" dirty="0"/>
          </a:p>
        </p:txBody>
      </p:sp>
      <p:sp>
        <p:nvSpPr>
          <p:cNvPr id="6" name="Text 3"/>
          <p:cNvSpPr txBox="1"/>
          <p:nvPr/>
        </p:nvSpPr>
        <p:spPr>
          <a:xfrm>
            <a:off x="640080" y="3794760"/>
            <a:ext cx="7498080" cy="1097280"/>
          </a:xfrm>
          <a:prstGeom prst="rect">
            <a:avLst/>
          </a:prstGeom>
          <a:noFill/>
          <a:ln/>
        </p:spPr>
        <p:txBody>
          <a:bodyPr wrap="square" lIns="0" tIns="0" rIns="0" bIns="0" rtlCol="0" anchor="t"/>
          <a:lstStyle/>
          <a:p>
            <a:pPr algn="l" indent="0" marL="0">
              <a:lnSpc>
                <a:spcPct val="125000"/>
              </a:lnSpc>
              <a:buNone/>
            </a:pPr>
            <a:r>
              <a:rPr lang="en-US" sz="1600" dirty="0">
                <a:solidFill>
                  <a:srgbClr val="C9C3E3"/>
                </a:solidFill>
                <a:latin typeface="Calibri" pitchFamily="34" charset="0"/>
                <a:ea typeface="Calibri" pitchFamily="34" charset="-122"/>
                <a:cs typeface="Calibri" pitchFamily="34" charset="-120"/>
              </a:rPr>
              <a:t>One creative constraint a night, dealt at midnight. Flip it and talk it through with Muse, the bandmate who listens. Free every night, or $4.99 a month.</a:t>
            </a:r>
            <a:endParaRPr lang="en-US" sz="1600" dirty="0"/>
          </a:p>
        </p:txBody>
      </p:sp>
      <p:sp>
        <p:nvSpPr>
          <p:cNvPr id="7" name="Shape 4"/>
          <p:cNvSpPr/>
          <p:nvPr/>
        </p:nvSpPr>
        <p:spPr>
          <a:xfrm>
            <a:off x="640080" y="5989320"/>
            <a:ext cx="10911535" cy="0"/>
          </a:xfrm>
          <a:prstGeom prst="line">
            <a:avLst/>
          </a:prstGeom>
          <a:noFill/>
          <a:ln w="9525">
            <a:solidFill>
              <a:srgbClr val="3A3260"/>
            </a:solidFill>
            <a:prstDash val="solid"/>
          </a:ln>
        </p:spPr>
      </p:sp>
      <p:sp>
        <p:nvSpPr>
          <p:cNvPr id="8" name="Text 5"/>
          <p:cNvSpPr txBox="1"/>
          <p:nvPr/>
        </p:nvSpPr>
        <p:spPr>
          <a:xfrm>
            <a:off x="640080" y="6126480"/>
            <a:ext cx="5486400" cy="274320"/>
          </a:xfrm>
          <a:prstGeom prst="rect">
            <a:avLst/>
          </a:prstGeom>
          <a:noFill/>
          <a:ln/>
        </p:spPr>
        <p:txBody>
          <a:bodyPr wrap="square" lIns="0" tIns="0" rIns="0" bIns="0" rtlCol="0" anchor="t"/>
          <a:lstStyle/>
          <a:p>
            <a:pPr algn="l" indent="0" marL="0">
              <a:lnSpc>
                <a:spcPct val="125000"/>
              </a:lnSpc>
              <a:buNone/>
            </a:pPr>
            <a:r>
              <a:rPr lang="en-US" sz="1000" spc="200" kern="0" dirty="0">
                <a:solidFill>
                  <a:srgbClr val="C4B5FD"/>
                </a:solidFill>
                <a:latin typeface="Courier New" pitchFamily="34" charset="0"/>
                <a:ea typeface="Courier New" pitchFamily="34" charset="-122"/>
                <a:cs typeface="Courier New" pitchFamily="34" charset="-120"/>
              </a:rPr>
              <a:t>MUSE.SUEDEAI.AI</a:t>
            </a:r>
            <a:endParaRPr lang="en-US" sz="1000" dirty="0"/>
          </a:p>
        </p:txBody>
      </p:sp>
      <p:sp>
        <p:nvSpPr>
          <p:cNvPr id="9" name="Text 6"/>
          <p:cNvSpPr txBox="1"/>
          <p:nvPr/>
        </p:nvSpPr>
        <p:spPr>
          <a:xfrm>
            <a:off x="7894015" y="6126480"/>
            <a:ext cx="3657600" cy="274320"/>
          </a:xfrm>
          <a:prstGeom prst="rect">
            <a:avLst/>
          </a:prstGeom>
          <a:noFill/>
          <a:ln/>
        </p:spPr>
        <p:txBody>
          <a:bodyPr wrap="square" lIns="0" tIns="0" rIns="0" bIns="0" rtlCol="0" anchor="t"/>
          <a:lstStyle/>
          <a:p>
            <a:pPr algn="r" indent="0" marL="0">
              <a:lnSpc>
                <a:spcPct val="125000"/>
              </a:lnSpc>
              <a:buNone/>
            </a:pPr>
            <a:r>
              <a:rPr lang="en-US" sz="1000" spc="200" kern="0" dirty="0">
                <a:solidFill>
                  <a:srgbClr val="C9C3E3"/>
                </a:solidFill>
                <a:latin typeface="Courier New" pitchFamily="34" charset="0"/>
                <a:ea typeface="Courier New" pitchFamily="34" charset="-122"/>
                <a:cs typeface="Courier New" pitchFamily="34" charset="-120"/>
              </a:rPr>
              <a:t>September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6400800"/>
            <a:ext cx="8686800" cy="228600"/>
          </a:xfrm>
          <a:prstGeom prst="rect">
            <a:avLst/>
          </a:prstGeom>
          <a:noFill/>
          <a:ln/>
        </p:spPr>
        <p:txBody>
          <a:bodyPr wrap="square" lIns="0" tIns="0" rIns="0" bIns="0" rtlCol="0" anchor="ctr"/>
          <a:lstStyle/>
          <a:p>
            <a:pPr indent="0" marL="0">
              <a:buNone/>
            </a:pPr>
            <a:r>
              <a:rPr lang="en-US" sz="850" spc="100" kern="0" dirty="0">
                <a:solidFill>
                  <a:srgbClr val="C9C3E3"/>
                </a:solidFill>
                <a:latin typeface="Courier New" pitchFamily="34" charset="0"/>
                <a:ea typeface="Courier New" pitchFamily="34" charset="-122"/>
                <a:cs typeface="Courier New" pitchFamily="34" charset="-120"/>
              </a:rPr>
              <a:t>SUEDE MUSE · MUSE.SUEDEAI.AI · ONE CREATIVE CONSTRAINT A NIGHT</a:t>
            </a:r>
            <a:endParaRPr lang="en-US" sz="850" dirty="0"/>
          </a:p>
        </p:txBody>
      </p:sp>
      <p:sp>
        <p:nvSpPr>
          <p:cNvPr id="3" name="Text 1"/>
          <p:cNvSpPr txBox="1"/>
          <p:nvPr/>
        </p:nvSpPr>
        <p:spPr>
          <a:xfrm>
            <a:off x="10637215" y="6400800"/>
            <a:ext cx="914400" cy="228600"/>
          </a:xfrm>
          <a:prstGeom prst="rect">
            <a:avLst/>
          </a:prstGeom>
          <a:noFill/>
          <a:ln/>
        </p:spPr>
        <p:txBody>
          <a:bodyPr wrap="square" lIns="0" tIns="0" rIns="0" bIns="0" rtlCol="0" anchor="ctr"/>
          <a:lstStyle/>
          <a:p>
            <a:pPr algn="r" indent="0" marL="0">
              <a:buNone/>
            </a:pPr>
            <a:r>
              <a:rPr lang="en-US" sz="850" dirty="0">
                <a:solidFill>
                  <a:srgbClr val="C9C3E3"/>
                </a:solidFill>
                <a:latin typeface="Courier New" pitchFamily="34" charset="0"/>
                <a:ea typeface="Courier New" pitchFamily="34" charset="-122"/>
                <a:cs typeface="Courier New" pitchFamily="34" charset="-120"/>
              </a:rPr>
              <a:t>02</a:t>
            </a:r>
            <a:endParaRPr lang="en-US" sz="850" dirty="0"/>
          </a:p>
        </p:txBody>
      </p:sp>
      <p:sp>
        <p:nvSpPr>
          <p:cNvPr id="4" name="Text 2"/>
          <p:cNvSpPr txBox="1"/>
          <p:nvPr/>
        </p:nvSpPr>
        <p:spPr>
          <a:xfrm>
            <a:off x="640080" y="548640"/>
            <a:ext cx="9144000" cy="256032"/>
          </a:xfrm>
          <a:prstGeom prst="rect">
            <a:avLst/>
          </a:prstGeom>
          <a:noFill/>
          <a:ln/>
        </p:spPr>
        <p:txBody>
          <a:bodyPr wrap="square" lIns="0" tIns="0" rIns="0" bIns="0" rtlCol="0" anchor="ctr"/>
          <a:lstStyle/>
          <a:p>
            <a:pPr indent="0" marL="0">
              <a:buNone/>
            </a:pPr>
            <a:r>
              <a:rPr lang="en-US" sz="950" spc="250" kern="0" dirty="0">
                <a:solidFill>
                  <a:srgbClr val="C4B5FD"/>
                </a:solidFill>
                <a:latin typeface="Courier New" pitchFamily="34" charset="0"/>
                <a:ea typeface="Courier New" pitchFamily="34" charset="-122"/>
                <a:cs typeface="Courier New" pitchFamily="34" charset="-120"/>
              </a:rPr>
              <a:t>01 — THE RUT</a:t>
            </a:r>
            <a:endParaRPr lang="en-US" sz="950" dirty="0"/>
          </a:p>
        </p:txBody>
      </p:sp>
      <p:sp>
        <p:nvSpPr>
          <p:cNvPr id="5" name="Text 3"/>
          <p:cNvSpPr txBox="1"/>
          <p:nvPr/>
        </p:nvSpPr>
        <p:spPr>
          <a:xfrm>
            <a:off x="640080" y="868680"/>
            <a:ext cx="9601200" cy="496570"/>
          </a:xfrm>
          <a:prstGeom prst="rect">
            <a:avLst/>
          </a:prstGeom>
          <a:noFill/>
          <a:ln/>
        </p:spPr>
        <p:txBody>
          <a:bodyPr wrap="square" lIns="0" tIns="0" rIns="0" bIns="0" rtlCol="0" anchor="t"/>
          <a:lstStyle/>
          <a:p>
            <a:pPr algn="l" indent="0" marL="0">
              <a:lnSpc>
                <a:spcPct val="105000"/>
              </a:lnSpc>
              <a:buNone/>
            </a:pPr>
            <a:r>
              <a:rPr lang="en-US" sz="2900" dirty="0">
                <a:solidFill>
                  <a:srgbClr val="F4F5F9"/>
                </a:solidFill>
                <a:latin typeface="Cambria" pitchFamily="34" charset="0"/>
                <a:ea typeface="Cambria" pitchFamily="34" charset="-122"/>
                <a:cs typeface="Cambria" pitchFamily="34" charset="-120"/>
              </a:rPr>
              <a:t>Four ways to get stuck. One card for each.</a:t>
            </a:r>
            <a:endParaRPr lang="en-US" sz="2900" dirty="0"/>
          </a:p>
        </p:txBody>
      </p:sp>
      <p:sp>
        <p:nvSpPr>
          <p:cNvPr id="6" name="Shape 4"/>
          <p:cNvSpPr/>
          <p:nvPr/>
        </p:nvSpPr>
        <p:spPr>
          <a:xfrm>
            <a:off x="640080" y="1874520"/>
            <a:ext cx="2556434" cy="2103120"/>
          </a:xfrm>
          <a:prstGeom prst="roundRect">
            <a:avLst>
              <a:gd name="adj" fmla="val 5217"/>
            </a:avLst>
          </a:prstGeom>
          <a:solidFill>
            <a:srgbClr val="1D1836"/>
          </a:solidFill>
          <a:ln w="9525">
            <a:solidFill>
              <a:srgbClr val="3A3260"/>
            </a:solidFill>
            <a:prstDash val="solid"/>
          </a:ln>
          <a:effectLst>
            <a:outerShdw sx="100000" sy="100000" kx="0" ky="0" algn="bl" rotWithShape="0" blurRad="152400" dist="38100" dir="5400000">
              <a:srgbClr val="000000">
                <a:alpha val="35000"/>
              </a:srgbClr>
            </a:outerShdw>
          </a:effectLst>
        </p:spPr>
      </p:sp>
      <p:sp>
        <p:nvSpPr>
          <p:cNvPr id="7" name="Shape 5"/>
          <p:cNvSpPr/>
          <p:nvPr/>
        </p:nvSpPr>
        <p:spPr>
          <a:xfrm>
            <a:off x="896112" y="2130552"/>
            <a:ext cx="347472" cy="347472"/>
          </a:xfrm>
          <a:prstGeom prst="ellipse">
            <a:avLst/>
          </a:prstGeom>
          <a:solidFill>
            <a:srgbClr val="C4B5FD"/>
          </a:solidFill>
          <a:ln w="12700">
            <a:solidFill>
              <a:srgbClr val="C4B5FD"/>
            </a:solidFill>
            <a:prstDash val="solid"/>
          </a:ln>
        </p:spPr>
      </p:sp>
      <p:sp>
        <p:nvSpPr>
          <p:cNvPr id="8" name="Text 6"/>
          <p:cNvSpPr txBox="1"/>
          <p:nvPr/>
        </p:nvSpPr>
        <p:spPr>
          <a:xfrm>
            <a:off x="896112" y="2130552"/>
            <a:ext cx="347472" cy="347472"/>
          </a:xfrm>
          <a:prstGeom prst="rect">
            <a:avLst/>
          </a:prstGeom>
          <a:noFill/>
          <a:ln/>
        </p:spPr>
        <p:txBody>
          <a:bodyPr wrap="square" lIns="0" tIns="0" rIns="0" bIns="0" rtlCol="0" anchor="ctr"/>
          <a:lstStyle/>
          <a:p>
            <a:pPr algn="ctr" indent="0" marL="0">
              <a:buNone/>
            </a:pPr>
            <a:r>
              <a:rPr lang="en-US" sz="900" b="1" dirty="0">
                <a:solidFill>
                  <a:srgbClr val="14102A"/>
                </a:solidFill>
                <a:latin typeface="Courier New" pitchFamily="34" charset="0"/>
                <a:ea typeface="Courier New" pitchFamily="34" charset="-122"/>
                <a:cs typeface="Courier New" pitchFamily="34" charset="-120"/>
              </a:rPr>
              <a:t>01</a:t>
            </a:r>
            <a:endParaRPr lang="en-US" sz="900" dirty="0"/>
          </a:p>
        </p:txBody>
      </p:sp>
      <p:sp>
        <p:nvSpPr>
          <p:cNvPr id="9" name="Text 7"/>
          <p:cNvSpPr txBox="1"/>
          <p:nvPr/>
        </p:nvSpPr>
        <p:spPr>
          <a:xfrm>
            <a:off x="896112" y="2633472"/>
            <a:ext cx="2044370" cy="318262"/>
          </a:xfrm>
          <a:prstGeom prst="rect">
            <a:avLst/>
          </a:prstGeom>
          <a:noFill/>
          <a:ln/>
        </p:spPr>
        <p:txBody>
          <a:bodyPr wrap="square" lIns="0" tIns="0" rIns="0" bIns="0" rtlCol="0" anchor="t"/>
          <a:lstStyle/>
          <a:p>
            <a:pPr indent="0" marL="0">
              <a:buNone/>
            </a:pPr>
            <a:r>
              <a:rPr lang="en-US" sz="1700" dirty="0">
                <a:solidFill>
                  <a:srgbClr val="F4F5F9"/>
                </a:solidFill>
                <a:latin typeface="Cambria" pitchFamily="34" charset="0"/>
                <a:ea typeface="Cambria" pitchFamily="34" charset="-122"/>
                <a:cs typeface="Cambria" pitchFamily="34" charset="-120"/>
              </a:rPr>
              <a:t>Words</a:t>
            </a:r>
            <a:endParaRPr lang="en-US" sz="1700" dirty="0"/>
          </a:p>
        </p:txBody>
      </p:sp>
      <p:sp>
        <p:nvSpPr>
          <p:cNvPr id="10" name="Text 8"/>
          <p:cNvSpPr txBox="1"/>
          <p:nvPr/>
        </p:nvSpPr>
        <p:spPr>
          <a:xfrm>
            <a:off x="896112" y="3024886"/>
            <a:ext cx="2044370" cy="751586"/>
          </a:xfrm>
          <a:prstGeom prst="rect">
            <a:avLst/>
          </a:prstGeom>
          <a:noFill/>
          <a:ln/>
        </p:spPr>
        <p:txBody>
          <a:bodyPr wrap="square" lIns="0" tIns="0" rIns="0" bIns="0" rtlCol="0" anchor="t"/>
          <a:lstStyle/>
          <a:p>
            <a:pPr indent="0" marL="0">
              <a:lnSpc>
                <a:spcPct val="118000"/>
              </a:lnSpc>
              <a:buNone/>
            </a:pPr>
            <a:r>
              <a:rPr lang="en-US" sz="1200" dirty="0">
                <a:solidFill>
                  <a:srgbClr val="C9C3E3"/>
                </a:solidFill>
                <a:latin typeface="Calibri" pitchFamily="34" charset="0"/>
                <a:ea typeface="Calibri" pitchFamily="34" charset="-122"/>
                <a:cs typeface="Calibri" pitchFamily="34" charset="-120"/>
              </a:rPr>
              <a:t>For when every line sounds like a greeting card.</a:t>
            </a:r>
            <a:endParaRPr lang="en-US" sz="1200" dirty="0"/>
          </a:p>
        </p:txBody>
      </p:sp>
      <p:sp>
        <p:nvSpPr>
          <p:cNvPr id="11" name="Shape 9"/>
          <p:cNvSpPr/>
          <p:nvPr/>
        </p:nvSpPr>
        <p:spPr>
          <a:xfrm>
            <a:off x="3425114" y="1874520"/>
            <a:ext cx="2556434" cy="2103120"/>
          </a:xfrm>
          <a:prstGeom prst="roundRect">
            <a:avLst>
              <a:gd name="adj" fmla="val 5217"/>
            </a:avLst>
          </a:prstGeom>
          <a:solidFill>
            <a:srgbClr val="1D1836"/>
          </a:solidFill>
          <a:ln w="9525">
            <a:solidFill>
              <a:srgbClr val="3A3260"/>
            </a:solidFill>
            <a:prstDash val="solid"/>
          </a:ln>
          <a:effectLst>
            <a:outerShdw sx="100000" sy="100000" kx="0" ky="0" algn="bl" rotWithShape="0" blurRad="152400" dist="38100" dir="5400000">
              <a:srgbClr val="000000">
                <a:alpha val="35000"/>
              </a:srgbClr>
            </a:outerShdw>
          </a:effectLst>
        </p:spPr>
      </p:sp>
      <p:sp>
        <p:nvSpPr>
          <p:cNvPr id="12" name="Shape 10"/>
          <p:cNvSpPr/>
          <p:nvPr/>
        </p:nvSpPr>
        <p:spPr>
          <a:xfrm>
            <a:off x="3681146" y="2130552"/>
            <a:ext cx="347472" cy="347472"/>
          </a:xfrm>
          <a:prstGeom prst="ellipse">
            <a:avLst/>
          </a:prstGeom>
          <a:solidFill>
            <a:srgbClr val="C4B5FD"/>
          </a:solidFill>
          <a:ln w="12700">
            <a:solidFill>
              <a:srgbClr val="C4B5FD"/>
            </a:solidFill>
            <a:prstDash val="solid"/>
          </a:ln>
        </p:spPr>
      </p:sp>
      <p:sp>
        <p:nvSpPr>
          <p:cNvPr id="13" name="Text 11"/>
          <p:cNvSpPr txBox="1"/>
          <p:nvPr/>
        </p:nvSpPr>
        <p:spPr>
          <a:xfrm>
            <a:off x="3681146" y="2130552"/>
            <a:ext cx="347472" cy="347472"/>
          </a:xfrm>
          <a:prstGeom prst="rect">
            <a:avLst/>
          </a:prstGeom>
          <a:noFill/>
          <a:ln/>
        </p:spPr>
        <p:txBody>
          <a:bodyPr wrap="square" lIns="0" tIns="0" rIns="0" bIns="0" rtlCol="0" anchor="ctr"/>
          <a:lstStyle/>
          <a:p>
            <a:pPr algn="ctr" indent="0" marL="0">
              <a:buNone/>
            </a:pPr>
            <a:r>
              <a:rPr lang="en-US" sz="900" b="1" dirty="0">
                <a:solidFill>
                  <a:srgbClr val="14102A"/>
                </a:solidFill>
                <a:latin typeface="Courier New" pitchFamily="34" charset="0"/>
                <a:ea typeface="Courier New" pitchFamily="34" charset="-122"/>
                <a:cs typeface="Courier New" pitchFamily="34" charset="-120"/>
              </a:rPr>
              <a:t>02</a:t>
            </a:r>
            <a:endParaRPr lang="en-US" sz="900" dirty="0"/>
          </a:p>
        </p:txBody>
      </p:sp>
      <p:sp>
        <p:nvSpPr>
          <p:cNvPr id="14" name="Text 12"/>
          <p:cNvSpPr txBox="1"/>
          <p:nvPr/>
        </p:nvSpPr>
        <p:spPr>
          <a:xfrm>
            <a:off x="3681146" y="2633472"/>
            <a:ext cx="2044370" cy="581660"/>
          </a:xfrm>
          <a:prstGeom prst="rect">
            <a:avLst/>
          </a:prstGeom>
          <a:noFill/>
          <a:ln/>
        </p:spPr>
        <p:txBody>
          <a:bodyPr wrap="square" lIns="0" tIns="0" rIns="0" bIns="0" rtlCol="0" anchor="t"/>
          <a:lstStyle/>
          <a:p>
            <a:pPr indent="0" marL="0">
              <a:buNone/>
            </a:pPr>
            <a:r>
              <a:rPr lang="en-US" sz="1700" dirty="0">
                <a:solidFill>
                  <a:srgbClr val="F4F5F9"/>
                </a:solidFill>
                <a:latin typeface="Cambria" pitchFamily="34" charset="0"/>
                <a:ea typeface="Cambria" pitchFamily="34" charset="-122"/>
                <a:cs typeface="Cambria" pitchFamily="34" charset="-120"/>
              </a:rPr>
              <a:t>Melody and harmony</a:t>
            </a:r>
            <a:endParaRPr lang="en-US" sz="1700" dirty="0"/>
          </a:p>
        </p:txBody>
      </p:sp>
      <p:sp>
        <p:nvSpPr>
          <p:cNvPr id="15" name="Text 13"/>
          <p:cNvSpPr txBox="1"/>
          <p:nvPr/>
        </p:nvSpPr>
        <p:spPr>
          <a:xfrm>
            <a:off x="3681146" y="3288284"/>
            <a:ext cx="2044370" cy="488188"/>
          </a:xfrm>
          <a:prstGeom prst="rect">
            <a:avLst/>
          </a:prstGeom>
          <a:noFill/>
          <a:ln/>
        </p:spPr>
        <p:txBody>
          <a:bodyPr wrap="square" lIns="0" tIns="0" rIns="0" bIns="0" rtlCol="0" anchor="t"/>
          <a:lstStyle/>
          <a:p>
            <a:pPr indent="0" marL="0">
              <a:lnSpc>
                <a:spcPct val="118000"/>
              </a:lnSpc>
              <a:buNone/>
            </a:pPr>
            <a:r>
              <a:rPr lang="en-US" sz="1200" dirty="0">
                <a:solidFill>
                  <a:srgbClr val="C9C3E3"/>
                </a:solidFill>
                <a:latin typeface="Calibri" pitchFamily="34" charset="0"/>
                <a:ea typeface="Calibri" pitchFamily="34" charset="-122"/>
                <a:cs typeface="Calibri" pitchFamily="34" charset="-120"/>
              </a:rPr>
              <a:t>For when your fingers keep playing yesterday's song.</a:t>
            </a:r>
            <a:endParaRPr lang="en-US" sz="1200" dirty="0"/>
          </a:p>
        </p:txBody>
      </p:sp>
      <p:sp>
        <p:nvSpPr>
          <p:cNvPr id="16" name="Shape 14"/>
          <p:cNvSpPr/>
          <p:nvPr/>
        </p:nvSpPr>
        <p:spPr>
          <a:xfrm>
            <a:off x="6210148" y="1874520"/>
            <a:ext cx="2556434" cy="2103120"/>
          </a:xfrm>
          <a:prstGeom prst="roundRect">
            <a:avLst>
              <a:gd name="adj" fmla="val 5217"/>
            </a:avLst>
          </a:prstGeom>
          <a:solidFill>
            <a:srgbClr val="1D1836"/>
          </a:solidFill>
          <a:ln w="9525">
            <a:solidFill>
              <a:srgbClr val="3A3260"/>
            </a:solidFill>
            <a:prstDash val="solid"/>
          </a:ln>
          <a:effectLst>
            <a:outerShdw sx="100000" sy="100000" kx="0" ky="0" algn="bl" rotWithShape="0" blurRad="152400" dist="38100" dir="5400000">
              <a:srgbClr val="000000">
                <a:alpha val="35000"/>
              </a:srgbClr>
            </a:outerShdw>
          </a:effectLst>
        </p:spPr>
      </p:sp>
      <p:sp>
        <p:nvSpPr>
          <p:cNvPr id="17" name="Shape 15"/>
          <p:cNvSpPr/>
          <p:nvPr/>
        </p:nvSpPr>
        <p:spPr>
          <a:xfrm>
            <a:off x="6466180" y="2130552"/>
            <a:ext cx="347472" cy="347472"/>
          </a:xfrm>
          <a:prstGeom prst="ellipse">
            <a:avLst/>
          </a:prstGeom>
          <a:solidFill>
            <a:srgbClr val="C4B5FD"/>
          </a:solidFill>
          <a:ln w="12700">
            <a:solidFill>
              <a:srgbClr val="C4B5FD"/>
            </a:solidFill>
            <a:prstDash val="solid"/>
          </a:ln>
        </p:spPr>
      </p:sp>
      <p:sp>
        <p:nvSpPr>
          <p:cNvPr id="18" name="Text 16"/>
          <p:cNvSpPr txBox="1"/>
          <p:nvPr/>
        </p:nvSpPr>
        <p:spPr>
          <a:xfrm>
            <a:off x="6466180" y="2130552"/>
            <a:ext cx="347472" cy="347472"/>
          </a:xfrm>
          <a:prstGeom prst="rect">
            <a:avLst/>
          </a:prstGeom>
          <a:noFill/>
          <a:ln/>
        </p:spPr>
        <p:txBody>
          <a:bodyPr wrap="square" lIns="0" tIns="0" rIns="0" bIns="0" rtlCol="0" anchor="ctr"/>
          <a:lstStyle/>
          <a:p>
            <a:pPr algn="ctr" indent="0" marL="0">
              <a:buNone/>
            </a:pPr>
            <a:r>
              <a:rPr lang="en-US" sz="900" b="1" dirty="0">
                <a:solidFill>
                  <a:srgbClr val="14102A"/>
                </a:solidFill>
                <a:latin typeface="Courier New" pitchFamily="34" charset="0"/>
                <a:ea typeface="Courier New" pitchFamily="34" charset="-122"/>
                <a:cs typeface="Courier New" pitchFamily="34" charset="-120"/>
              </a:rPr>
              <a:t>03</a:t>
            </a:r>
            <a:endParaRPr lang="en-US" sz="900" dirty="0"/>
          </a:p>
        </p:txBody>
      </p:sp>
      <p:sp>
        <p:nvSpPr>
          <p:cNvPr id="19" name="Text 17"/>
          <p:cNvSpPr txBox="1"/>
          <p:nvPr/>
        </p:nvSpPr>
        <p:spPr>
          <a:xfrm>
            <a:off x="6466180" y="2633472"/>
            <a:ext cx="2044370" cy="581660"/>
          </a:xfrm>
          <a:prstGeom prst="rect">
            <a:avLst/>
          </a:prstGeom>
          <a:noFill/>
          <a:ln/>
        </p:spPr>
        <p:txBody>
          <a:bodyPr wrap="square" lIns="0" tIns="0" rIns="0" bIns="0" rtlCol="0" anchor="t"/>
          <a:lstStyle/>
          <a:p>
            <a:pPr indent="0" marL="0">
              <a:buNone/>
            </a:pPr>
            <a:r>
              <a:rPr lang="en-US" sz="1700" dirty="0">
                <a:solidFill>
                  <a:srgbClr val="F4F5F9"/>
                </a:solidFill>
                <a:latin typeface="Cambria" pitchFamily="34" charset="0"/>
                <a:ea typeface="Cambria" pitchFamily="34" charset="-122"/>
                <a:cs typeface="Cambria" pitchFamily="34" charset="-120"/>
              </a:rPr>
              <a:t>Rhythm and groove</a:t>
            </a:r>
            <a:endParaRPr lang="en-US" sz="1700" dirty="0"/>
          </a:p>
        </p:txBody>
      </p:sp>
      <p:sp>
        <p:nvSpPr>
          <p:cNvPr id="20" name="Text 18"/>
          <p:cNvSpPr txBox="1"/>
          <p:nvPr/>
        </p:nvSpPr>
        <p:spPr>
          <a:xfrm>
            <a:off x="6466180" y="3288284"/>
            <a:ext cx="2044370" cy="488188"/>
          </a:xfrm>
          <a:prstGeom prst="rect">
            <a:avLst/>
          </a:prstGeom>
          <a:noFill/>
          <a:ln/>
        </p:spPr>
        <p:txBody>
          <a:bodyPr wrap="square" lIns="0" tIns="0" rIns="0" bIns="0" rtlCol="0" anchor="t"/>
          <a:lstStyle/>
          <a:p>
            <a:pPr indent="0" marL="0">
              <a:lnSpc>
                <a:spcPct val="118000"/>
              </a:lnSpc>
              <a:buNone/>
            </a:pPr>
            <a:r>
              <a:rPr lang="en-US" sz="1200" dirty="0">
                <a:solidFill>
                  <a:srgbClr val="C9C3E3"/>
                </a:solidFill>
                <a:latin typeface="Calibri" pitchFamily="34" charset="0"/>
                <a:ea typeface="Calibri" pitchFamily="34" charset="-122"/>
                <a:cs typeface="Calibri" pitchFamily="34" charset="-120"/>
              </a:rPr>
              <a:t>For when everything you make marches in place.</a:t>
            </a:r>
            <a:endParaRPr lang="en-US" sz="1200" dirty="0"/>
          </a:p>
        </p:txBody>
      </p:sp>
      <p:sp>
        <p:nvSpPr>
          <p:cNvPr id="21" name="Shape 19"/>
          <p:cNvSpPr/>
          <p:nvPr/>
        </p:nvSpPr>
        <p:spPr>
          <a:xfrm>
            <a:off x="8995181" y="1874520"/>
            <a:ext cx="2556434" cy="2103120"/>
          </a:xfrm>
          <a:prstGeom prst="roundRect">
            <a:avLst>
              <a:gd name="adj" fmla="val 5217"/>
            </a:avLst>
          </a:prstGeom>
          <a:solidFill>
            <a:srgbClr val="1D1836"/>
          </a:solidFill>
          <a:ln w="9525">
            <a:solidFill>
              <a:srgbClr val="3A3260"/>
            </a:solidFill>
            <a:prstDash val="solid"/>
          </a:ln>
          <a:effectLst>
            <a:outerShdw sx="100000" sy="100000" kx="0" ky="0" algn="bl" rotWithShape="0" blurRad="152400" dist="38100" dir="5400000">
              <a:srgbClr val="000000">
                <a:alpha val="35000"/>
              </a:srgbClr>
            </a:outerShdw>
          </a:effectLst>
        </p:spPr>
      </p:sp>
      <p:sp>
        <p:nvSpPr>
          <p:cNvPr id="22" name="Shape 20"/>
          <p:cNvSpPr/>
          <p:nvPr/>
        </p:nvSpPr>
        <p:spPr>
          <a:xfrm>
            <a:off x="9251213" y="2130552"/>
            <a:ext cx="347472" cy="347472"/>
          </a:xfrm>
          <a:prstGeom prst="ellipse">
            <a:avLst/>
          </a:prstGeom>
          <a:solidFill>
            <a:srgbClr val="C4B5FD"/>
          </a:solidFill>
          <a:ln w="12700">
            <a:solidFill>
              <a:srgbClr val="C4B5FD"/>
            </a:solidFill>
            <a:prstDash val="solid"/>
          </a:ln>
        </p:spPr>
      </p:sp>
      <p:sp>
        <p:nvSpPr>
          <p:cNvPr id="23" name="Text 21"/>
          <p:cNvSpPr txBox="1"/>
          <p:nvPr/>
        </p:nvSpPr>
        <p:spPr>
          <a:xfrm>
            <a:off x="9251213" y="2130552"/>
            <a:ext cx="347472" cy="347472"/>
          </a:xfrm>
          <a:prstGeom prst="rect">
            <a:avLst/>
          </a:prstGeom>
          <a:noFill/>
          <a:ln/>
        </p:spPr>
        <p:txBody>
          <a:bodyPr wrap="square" lIns="0" tIns="0" rIns="0" bIns="0" rtlCol="0" anchor="ctr"/>
          <a:lstStyle/>
          <a:p>
            <a:pPr algn="ctr" indent="0" marL="0">
              <a:buNone/>
            </a:pPr>
            <a:r>
              <a:rPr lang="en-US" sz="900" b="1" dirty="0">
                <a:solidFill>
                  <a:srgbClr val="14102A"/>
                </a:solidFill>
                <a:latin typeface="Courier New" pitchFamily="34" charset="0"/>
                <a:ea typeface="Courier New" pitchFamily="34" charset="-122"/>
                <a:cs typeface="Courier New" pitchFamily="34" charset="-120"/>
              </a:rPr>
              <a:t>04</a:t>
            </a:r>
            <a:endParaRPr lang="en-US" sz="900" dirty="0"/>
          </a:p>
        </p:txBody>
      </p:sp>
      <p:sp>
        <p:nvSpPr>
          <p:cNvPr id="24" name="Text 22"/>
          <p:cNvSpPr txBox="1"/>
          <p:nvPr/>
        </p:nvSpPr>
        <p:spPr>
          <a:xfrm>
            <a:off x="9251213" y="2633472"/>
            <a:ext cx="2044370" cy="581660"/>
          </a:xfrm>
          <a:prstGeom prst="rect">
            <a:avLst/>
          </a:prstGeom>
          <a:noFill/>
          <a:ln/>
        </p:spPr>
        <p:txBody>
          <a:bodyPr wrap="square" lIns="0" tIns="0" rIns="0" bIns="0" rtlCol="0" anchor="t"/>
          <a:lstStyle/>
          <a:p>
            <a:pPr indent="0" marL="0">
              <a:buNone/>
            </a:pPr>
            <a:r>
              <a:rPr lang="en-US" sz="1700" dirty="0">
                <a:solidFill>
                  <a:srgbClr val="F4F5F9"/>
                </a:solidFill>
                <a:latin typeface="Cambria" pitchFamily="34" charset="0"/>
                <a:ea typeface="Cambria" pitchFamily="34" charset="-122"/>
                <a:cs typeface="Cambria" pitchFamily="34" charset="-120"/>
              </a:rPr>
              <a:t>Tone and texture</a:t>
            </a:r>
            <a:endParaRPr lang="en-US" sz="1700" dirty="0"/>
          </a:p>
        </p:txBody>
      </p:sp>
      <p:sp>
        <p:nvSpPr>
          <p:cNvPr id="25" name="Text 23"/>
          <p:cNvSpPr txBox="1"/>
          <p:nvPr/>
        </p:nvSpPr>
        <p:spPr>
          <a:xfrm>
            <a:off x="9251213" y="3288284"/>
            <a:ext cx="2044370" cy="488188"/>
          </a:xfrm>
          <a:prstGeom prst="rect">
            <a:avLst/>
          </a:prstGeom>
          <a:noFill/>
          <a:ln/>
        </p:spPr>
        <p:txBody>
          <a:bodyPr wrap="square" lIns="0" tIns="0" rIns="0" bIns="0" rtlCol="0" anchor="t"/>
          <a:lstStyle/>
          <a:p>
            <a:pPr indent="0" marL="0">
              <a:lnSpc>
                <a:spcPct val="118000"/>
              </a:lnSpc>
              <a:buNone/>
            </a:pPr>
            <a:r>
              <a:rPr lang="en-US" sz="1200" dirty="0">
                <a:solidFill>
                  <a:srgbClr val="C9C3E3"/>
                </a:solidFill>
                <a:latin typeface="Calibri" pitchFamily="34" charset="0"/>
                <a:ea typeface="Calibri" pitchFamily="34" charset="-122"/>
                <a:cs typeface="Calibri" pitchFamily="34" charset="-120"/>
              </a:rPr>
              <a:t>For when the sound is clean and dead.</a:t>
            </a:r>
            <a:endParaRPr lang="en-US" sz="1200" dirty="0"/>
          </a:p>
        </p:txBody>
      </p:sp>
      <p:sp>
        <p:nvSpPr>
          <p:cNvPr id="26" name="Text 24"/>
          <p:cNvSpPr txBox="1"/>
          <p:nvPr/>
        </p:nvSpPr>
        <p:spPr>
          <a:xfrm>
            <a:off x="640080" y="4297680"/>
            <a:ext cx="10515600" cy="822960"/>
          </a:xfrm>
          <a:prstGeom prst="rect">
            <a:avLst/>
          </a:prstGeom>
          <a:noFill/>
          <a:ln/>
        </p:spPr>
        <p:txBody>
          <a:bodyPr wrap="square" lIns="0" tIns="0" rIns="0" bIns="0" rtlCol="0" anchor="t"/>
          <a:lstStyle/>
          <a:p>
            <a:pPr algn="l" indent="0" marL="0">
              <a:lnSpc>
                <a:spcPct val="120000"/>
              </a:lnSpc>
              <a:buNone/>
            </a:pPr>
            <a:r>
              <a:rPr lang="en-US" sz="1350" dirty="0">
                <a:solidFill>
                  <a:srgbClr val="C9C3E3"/>
                </a:solidFill>
                <a:latin typeface="Calibri" pitchFamily="34" charset="0"/>
                <a:ea typeface="Calibri" pitchFamily="34" charset="-122"/>
                <a:cs typeface="Calibri" pitchFamily="34" charset="-120"/>
              </a:rPr>
              <a:t>Adaptive creative training: daily AI-powered constraints target your weakest creative dimension, track your progress, and capture provenance for every session.</a:t>
            </a:r>
            <a:endParaRPr lang="en-US" sz="1350" dirty="0"/>
          </a:p>
        </p:txBody>
      </p:sp>
      <p:sp>
        <p:nvSpPr>
          <p:cNvPr id="27" name="Text 25"/>
          <p:cNvSpPr txBox="1"/>
          <p:nvPr/>
        </p:nvSpPr>
        <p:spPr>
          <a:xfrm>
            <a:off x="640080" y="5257800"/>
            <a:ext cx="10972800" cy="274320"/>
          </a:xfrm>
          <a:prstGeom prst="rect">
            <a:avLst/>
          </a:prstGeom>
          <a:noFill/>
          <a:ln/>
        </p:spPr>
        <p:txBody>
          <a:bodyPr wrap="square" lIns="0" tIns="0" rIns="0" bIns="0" rtlCol="0" anchor="t"/>
          <a:lstStyle/>
          <a:p>
            <a:pPr algn="l" indent="0" marL="0">
              <a:lnSpc>
                <a:spcPct val="125000"/>
              </a:lnSpc>
              <a:buNone/>
            </a:pPr>
            <a:r>
              <a:rPr lang="en-US" sz="950" dirty="0">
                <a:solidFill>
                  <a:srgbClr val="C4B5FD"/>
                </a:solidFill>
                <a:latin typeface="Courier New" pitchFamily="34" charset="0"/>
                <a:ea typeface="Courier New" pitchFamily="34" charset="-122"/>
                <a:cs typeface="Courier New" pitchFamily="34" charset="-120"/>
              </a:rPr>
              <a:t>Category: Music / Education · Bundle ai.suede.muse · iOS 17 and up · web at muse.suedeai.ai</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6400800"/>
            <a:ext cx="8686800" cy="228600"/>
          </a:xfrm>
          <a:prstGeom prst="rect">
            <a:avLst/>
          </a:prstGeom>
          <a:noFill/>
          <a:ln/>
        </p:spPr>
        <p:txBody>
          <a:bodyPr wrap="square" lIns="0" tIns="0" rIns="0" bIns="0" rtlCol="0" anchor="ctr"/>
          <a:lstStyle/>
          <a:p>
            <a:pPr indent="0" marL="0">
              <a:buNone/>
            </a:pPr>
            <a:r>
              <a:rPr lang="en-US" sz="850" spc="100" kern="0" dirty="0">
                <a:solidFill>
                  <a:srgbClr val="C9C3E3"/>
                </a:solidFill>
                <a:latin typeface="Courier New" pitchFamily="34" charset="0"/>
                <a:ea typeface="Courier New" pitchFamily="34" charset="-122"/>
                <a:cs typeface="Courier New" pitchFamily="34" charset="-120"/>
              </a:rPr>
              <a:t>SUEDE MUSE · MUSE.SUEDEAI.AI · ONE CREATIVE CONSTRAINT A NIGHT</a:t>
            </a:r>
            <a:endParaRPr lang="en-US" sz="850" dirty="0"/>
          </a:p>
        </p:txBody>
      </p:sp>
      <p:sp>
        <p:nvSpPr>
          <p:cNvPr id="3" name="Text 1"/>
          <p:cNvSpPr txBox="1"/>
          <p:nvPr/>
        </p:nvSpPr>
        <p:spPr>
          <a:xfrm>
            <a:off x="10637215" y="6400800"/>
            <a:ext cx="914400" cy="228600"/>
          </a:xfrm>
          <a:prstGeom prst="rect">
            <a:avLst/>
          </a:prstGeom>
          <a:noFill/>
          <a:ln/>
        </p:spPr>
        <p:txBody>
          <a:bodyPr wrap="square" lIns="0" tIns="0" rIns="0" bIns="0" rtlCol="0" anchor="ctr"/>
          <a:lstStyle/>
          <a:p>
            <a:pPr algn="r" indent="0" marL="0">
              <a:buNone/>
            </a:pPr>
            <a:r>
              <a:rPr lang="en-US" sz="850" dirty="0">
                <a:solidFill>
                  <a:srgbClr val="C9C3E3"/>
                </a:solidFill>
                <a:latin typeface="Courier New" pitchFamily="34" charset="0"/>
                <a:ea typeface="Courier New" pitchFamily="34" charset="-122"/>
                <a:cs typeface="Courier New" pitchFamily="34" charset="-120"/>
              </a:rPr>
              <a:t>03</a:t>
            </a:r>
            <a:endParaRPr lang="en-US" sz="850" dirty="0"/>
          </a:p>
        </p:txBody>
      </p:sp>
      <p:sp>
        <p:nvSpPr>
          <p:cNvPr id="4" name="Text 2"/>
          <p:cNvSpPr txBox="1"/>
          <p:nvPr/>
        </p:nvSpPr>
        <p:spPr>
          <a:xfrm>
            <a:off x="640080" y="548640"/>
            <a:ext cx="9144000" cy="256032"/>
          </a:xfrm>
          <a:prstGeom prst="rect">
            <a:avLst/>
          </a:prstGeom>
          <a:noFill/>
          <a:ln/>
        </p:spPr>
        <p:txBody>
          <a:bodyPr wrap="square" lIns="0" tIns="0" rIns="0" bIns="0" rtlCol="0" anchor="ctr"/>
          <a:lstStyle/>
          <a:p>
            <a:pPr indent="0" marL="0">
              <a:buNone/>
            </a:pPr>
            <a:r>
              <a:rPr lang="en-US" sz="950" spc="250" kern="0" dirty="0">
                <a:solidFill>
                  <a:srgbClr val="C4B5FD"/>
                </a:solidFill>
                <a:latin typeface="Courier New" pitchFamily="34" charset="0"/>
                <a:ea typeface="Courier New" pitchFamily="34" charset="-122"/>
                <a:cs typeface="Courier New" pitchFamily="34" charset="-120"/>
              </a:rPr>
              <a:t>02 — WHAT IT IS</a:t>
            </a:r>
            <a:endParaRPr lang="en-US" sz="950" dirty="0"/>
          </a:p>
        </p:txBody>
      </p:sp>
      <p:sp>
        <p:nvSpPr>
          <p:cNvPr id="5" name="Text 3"/>
          <p:cNvSpPr txBox="1"/>
          <p:nvPr/>
        </p:nvSpPr>
        <p:spPr>
          <a:xfrm>
            <a:off x="640080" y="868680"/>
            <a:ext cx="9144000" cy="468630"/>
          </a:xfrm>
          <a:prstGeom prst="rect">
            <a:avLst/>
          </a:prstGeom>
          <a:noFill/>
          <a:ln/>
        </p:spPr>
        <p:txBody>
          <a:bodyPr wrap="square" lIns="0" tIns="0" rIns="0" bIns="0" rtlCol="0" anchor="t"/>
          <a:lstStyle/>
          <a:p>
            <a:pPr algn="l" indent="0" marL="0">
              <a:lnSpc>
                <a:spcPct val="105000"/>
              </a:lnSpc>
              <a:buNone/>
            </a:pPr>
            <a:r>
              <a:rPr lang="en-US" sz="2700" dirty="0">
                <a:solidFill>
                  <a:srgbClr val="F4F5F9"/>
                </a:solidFill>
                <a:latin typeface="Cambria" pitchFamily="34" charset="0"/>
                <a:ea typeface="Cambria" pitchFamily="34" charset="-122"/>
                <a:cs typeface="Cambria" pitchFamily="34" charset="-120"/>
              </a:rPr>
              <a:t>The House Deck, and a bandmate who listens.</a:t>
            </a:r>
            <a:endParaRPr lang="en-US" sz="2700" dirty="0"/>
          </a:p>
        </p:txBody>
      </p:sp>
      <p:sp>
        <p:nvSpPr>
          <p:cNvPr id="6" name="Text 4"/>
          <p:cNvSpPr txBox="1"/>
          <p:nvPr/>
        </p:nvSpPr>
        <p:spPr>
          <a:xfrm>
            <a:off x="640080" y="1783080"/>
            <a:ext cx="5760720" cy="1828800"/>
          </a:xfrm>
          <a:prstGeom prst="rect">
            <a:avLst/>
          </a:prstGeom>
          <a:noFill/>
          <a:ln/>
        </p:spPr>
        <p:txBody>
          <a:bodyPr wrap="square" lIns="0" tIns="0" rIns="0" bIns="0" rtlCol="0" anchor="t"/>
          <a:lstStyle/>
          <a:p>
            <a:pPr algn="l" indent="0" marL="0">
              <a:lnSpc>
                <a:spcPct val="120000"/>
              </a:lnSpc>
              <a:buNone/>
            </a:pPr>
            <a:r>
              <a:rPr lang="en-US" sz="1350" dirty="0">
                <a:solidFill>
                  <a:srgbClr val="C9C3E3"/>
                </a:solidFill>
                <a:latin typeface="Calibri" pitchFamily="34" charset="0"/>
                <a:ea typeface="Calibri" pitchFamily="34" charset="-122"/>
                <a:cs typeface="Calibri" pitchFamily="34" charset="-120"/>
              </a:rPr>
              <a:t>The House Deck deals one creative constraint a night: the same card for every musician on earth. Muse is the musician companion on the other side of the card, for gear talk, songwriting help and creative conversation. Every night has a permanent page; every session is captured with provenance.</a:t>
            </a:r>
            <a:endParaRPr lang="en-US" sz="1350" dirty="0"/>
          </a:p>
        </p:txBody>
      </p:sp>
      <p:sp>
        <p:nvSpPr>
          <p:cNvPr id="7" name="Shape 5"/>
          <p:cNvSpPr/>
          <p:nvPr/>
        </p:nvSpPr>
        <p:spPr>
          <a:xfrm>
            <a:off x="640080" y="3749040"/>
            <a:ext cx="2788920" cy="1188720"/>
          </a:xfrm>
          <a:prstGeom prst="roundRect">
            <a:avLst>
              <a:gd name="adj" fmla="val 9231"/>
            </a:avLst>
          </a:prstGeom>
          <a:solidFill>
            <a:srgbClr val="1D1836"/>
          </a:solidFill>
          <a:ln w="9525">
            <a:solidFill>
              <a:srgbClr val="3A3260"/>
            </a:solidFill>
            <a:prstDash val="solid"/>
          </a:ln>
          <a:effectLst>
            <a:outerShdw sx="100000" sy="100000" kx="0" ky="0" algn="bl" rotWithShape="0" blurRad="152400" dist="38100" dir="5400000">
              <a:srgbClr val="000000">
                <a:alpha val="35000"/>
              </a:srgbClr>
            </a:outerShdw>
          </a:effectLst>
        </p:spPr>
      </p:sp>
      <p:sp>
        <p:nvSpPr>
          <p:cNvPr id="8" name="Text 6"/>
          <p:cNvSpPr txBox="1"/>
          <p:nvPr/>
        </p:nvSpPr>
        <p:spPr>
          <a:xfrm>
            <a:off x="896112" y="4005072"/>
            <a:ext cx="2276856" cy="287274"/>
          </a:xfrm>
          <a:prstGeom prst="rect">
            <a:avLst/>
          </a:prstGeom>
          <a:noFill/>
          <a:ln/>
        </p:spPr>
        <p:txBody>
          <a:bodyPr wrap="square" lIns="0" tIns="0" rIns="0" bIns="0" rtlCol="0" anchor="t"/>
          <a:lstStyle/>
          <a:p>
            <a:pPr indent="0" marL="0">
              <a:buNone/>
            </a:pPr>
            <a:r>
              <a:rPr lang="en-US" sz="1500" dirty="0">
                <a:solidFill>
                  <a:srgbClr val="F4F5F9"/>
                </a:solidFill>
                <a:latin typeface="Cambria" pitchFamily="34" charset="0"/>
                <a:ea typeface="Cambria" pitchFamily="34" charset="-122"/>
                <a:cs typeface="Cambria" pitchFamily="34" charset="-120"/>
              </a:rPr>
              <a:t>The card</a:t>
            </a:r>
            <a:endParaRPr lang="en-US" sz="1500" dirty="0"/>
          </a:p>
        </p:txBody>
      </p:sp>
      <p:sp>
        <p:nvSpPr>
          <p:cNvPr id="9" name="Text 7"/>
          <p:cNvSpPr txBox="1"/>
          <p:nvPr/>
        </p:nvSpPr>
        <p:spPr>
          <a:xfrm>
            <a:off x="896112" y="4365498"/>
            <a:ext cx="2276856" cy="371094"/>
          </a:xfrm>
          <a:prstGeom prst="rect">
            <a:avLst/>
          </a:prstGeom>
          <a:noFill/>
          <a:ln/>
        </p:spPr>
        <p:txBody>
          <a:bodyPr wrap="square" lIns="0" tIns="0" rIns="0" bIns="0" rtlCol="0" anchor="t"/>
          <a:lstStyle/>
          <a:p>
            <a:pPr indent="0" marL="0">
              <a:lnSpc>
                <a:spcPct val="118000"/>
              </a:lnSpc>
              <a:buNone/>
            </a:pPr>
            <a:r>
              <a:rPr lang="en-US" sz="1050" dirty="0">
                <a:solidFill>
                  <a:srgbClr val="C9C3E3"/>
                </a:solidFill>
                <a:latin typeface="Calibri" pitchFamily="34" charset="0"/>
                <a:ea typeface="Calibri" pitchFamily="34" charset="-122"/>
                <a:cs typeface="Calibri" pitchFamily="34" charset="-120"/>
              </a:rPr>
              <a:t>One constraint, dealt at midnight, shared by everyone.</a:t>
            </a:r>
            <a:endParaRPr lang="en-US" sz="1050" dirty="0"/>
          </a:p>
        </p:txBody>
      </p:sp>
      <p:sp>
        <p:nvSpPr>
          <p:cNvPr id="10" name="Shape 8"/>
          <p:cNvSpPr/>
          <p:nvPr/>
        </p:nvSpPr>
        <p:spPr>
          <a:xfrm>
            <a:off x="3630168" y="3749040"/>
            <a:ext cx="2788920" cy="1188720"/>
          </a:xfrm>
          <a:prstGeom prst="roundRect">
            <a:avLst>
              <a:gd name="adj" fmla="val 9231"/>
            </a:avLst>
          </a:prstGeom>
          <a:solidFill>
            <a:srgbClr val="1D1836"/>
          </a:solidFill>
          <a:ln w="9525">
            <a:solidFill>
              <a:srgbClr val="3A3260"/>
            </a:solidFill>
            <a:prstDash val="solid"/>
          </a:ln>
          <a:effectLst>
            <a:outerShdw sx="100000" sy="100000" kx="0" ky="0" algn="bl" rotWithShape="0" blurRad="152400" dist="38100" dir="5400000">
              <a:srgbClr val="000000">
                <a:alpha val="35000"/>
              </a:srgbClr>
            </a:outerShdw>
          </a:effectLst>
        </p:spPr>
      </p:sp>
      <p:sp>
        <p:nvSpPr>
          <p:cNvPr id="11" name="Text 9"/>
          <p:cNvSpPr txBox="1"/>
          <p:nvPr/>
        </p:nvSpPr>
        <p:spPr>
          <a:xfrm>
            <a:off x="3886200" y="4005072"/>
            <a:ext cx="2276856" cy="287274"/>
          </a:xfrm>
          <a:prstGeom prst="rect">
            <a:avLst/>
          </a:prstGeom>
          <a:noFill/>
          <a:ln/>
        </p:spPr>
        <p:txBody>
          <a:bodyPr wrap="square" lIns="0" tIns="0" rIns="0" bIns="0" rtlCol="0" anchor="t"/>
          <a:lstStyle/>
          <a:p>
            <a:pPr indent="0" marL="0">
              <a:buNone/>
            </a:pPr>
            <a:r>
              <a:rPr lang="en-US" sz="1500" dirty="0">
                <a:solidFill>
                  <a:srgbClr val="F4F5F9"/>
                </a:solidFill>
                <a:latin typeface="Cambria" pitchFamily="34" charset="0"/>
                <a:ea typeface="Cambria" pitchFamily="34" charset="-122"/>
                <a:cs typeface="Cambria" pitchFamily="34" charset="-120"/>
              </a:rPr>
              <a:t>The companion</a:t>
            </a:r>
            <a:endParaRPr lang="en-US" sz="1500" dirty="0"/>
          </a:p>
        </p:txBody>
      </p:sp>
      <p:sp>
        <p:nvSpPr>
          <p:cNvPr id="12" name="Text 10"/>
          <p:cNvSpPr txBox="1"/>
          <p:nvPr/>
        </p:nvSpPr>
        <p:spPr>
          <a:xfrm>
            <a:off x="3886200" y="4365498"/>
            <a:ext cx="2276856" cy="371094"/>
          </a:xfrm>
          <a:prstGeom prst="rect">
            <a:avLst/>
          </a:prstGeom>
          <a:noFill/>
          <a:ln/>
        </p:spPr>
        <p:txBody>
          <a:bodyPr wrap="square" lIns="0" tIns="0" rIns="0" bIns="0" rtlCol="0" anchor="t"/>
          <a:lstStyle/>
          <a:p>
            <a:pPr indent="0" marL="0">
              <a:lnSpc>
                <a:spcPct val="118000"/>
              </a:lnSpc>
              <a:buNone/>
            </a:pPr>
            <a:r>
              <a:rPr lang="en-US" sz="1050" dirty="0">
                <a:solidFill>
                  <a:srgbClr val="C9C3E3"/>
                </a:solidFill>
                <a:latin typeface="Calibri" pitchFamily="34" charset="0"/>
                <a:ea typeface="Calibri" pitchFamily="34" charset="-122"/>
                <a:cs typeface="Calibri" pitchFamily="34" charset="-120"/>
              </a:rPr>
              <a:t>Talk it through: lyrics, harmony, gear, arrangement.</a:t>
            </a:r>
            <a:endParaRPr lang="en-US" sz="1050" dirty="0"/>
          </a:p>
        </p:txBody>
      </p:sp>
      <p:sp>
        <p:nvSpPr>
          <p:cNvPr id="13" name="Shape 11"/>
          <p:cNvSpPr/>
          <p:nvPr/>
        </p:nvSpPr>
        <p:spPr>
          <a:xfrm>
            <a:off x="640080" y="5120640"/>
            <a:ext cx="2788920" cy="1188720"/>
          </a:xfrm>
          <a:prstGeom prst="roundRect">
            <a:avLst>
              <a:gd name="adj" fmla="val 9231"/>
            </a:avLst>
          </a:prstGeom>
          <a:solidFill>
            <a:srgbClr val="1D1836"/>
          </a:solidFill>
          <a:ln w="9525">
            <a:solidFill>
              <a:srgbClr val="3A3260"/>
            </a:solidFill>
            <a:prstDash val="solid"/>
          </a:ln>
          <a:effectLst>
            <a:outerShdw sx="100000" sy="100000" kx="0" ky="0" algn="bl" rotWithShape="0" blurRad="152400" dist="38100" dir="5400000">
              <a:srgbClr val="000000">
                <a:alpha val="35000"/>
              </a:srgbClr>
            </a:outerShdw>
          </a:effectLst>
        </p:spPr>
      </p:sp>
      <p:sp>
        <p:nvSpPr>
          <p:cNvPr id="14" name="Text 12"/>
          <p:cNvSpPr txBox="1"/>
          <p:nvPr/>
        </p:nvSpPr>
        <p:spPr>
          <a:xfrm>
            <a:off x="896112" y="5376672"/>
            <a:ext cx="2276856" cy="287274"/>
          </a:xfrm>
          <a:prstGeom prst="rect">
            <a:avLst/>
          </a:prstGeom>
          <a:noFill/>
          <a:ln/>
        </p:spPr>
        <p:txBody>
          <a:bodyPr wrap="square" lIns="0" tIns="0" rIns="0" bIns="0" rtlCol="0" anchor="t"/>
          <a:lstStyle/>
          <a:p>
            <a:pPr indent="0" marL="0">
              <a:buNone/>
            </a:pPr>
            <a:r>
              <a:rPr lang="en-US" sz="1500" dirty="0">
                <a:solidFill>
                  <a:srgbClr val="F4F5F9"/>
                </a:solidFill>
                <a:latin typeface="Cambria" pitchFamily="34" charset="0"/>
                <a:ea typeface="Cambria" pitchFamily="34" charset="-122"/>
                <a:cs typeface="Cambria" pitchFamily="34" charset="-120"/>
              </a:rPr>
              <a:t>The record</a:t>
            </a:r>
            <a:endParaRPr lang="en-US" sz="1500" dirty="0"/>
          </a:p>
        </p:txBody>
      </p:sp>
      <p:sp>
        <p:nvSpPr>
          <p:cNvPr id="15" name="Text 13"/>
          <p:cNvSpPr txBox="1"/>
          <p:nvPr/>
        </p:nvSpPr>
        <p:spPr>
          <a:xfrm>
            <a:off x="896112" y="5737098"/>
            <a:ext cx="2276856" cy="371094"/>
          </a:xfrm>
          <a:prstGeom prst="rect">
            <a:avLst/>
          </a:prstGeom>
          <a:noFill/>
          <a:ln/>
        </p:spPr>
        <p:txBody>
          <a:bodyPr wrap="square" lIns="0" tIns="0" rIns="0" bIns="0" rtlCol="0" anchor="t"/>
          <a:lstStyle/>
          <a:p>
            <a:pPr indent="0" marL="0">
              <a:lnSpc>
                <a:spcPct val="118000"/>
              </a:lnSpc>
              <a:buNone/>
            </a:pPr>
            <a:r>
              <a:rPr lang="en-US" sz="1050" dirty="0">
                <a:solidFill>
                  <a:srgbClr val="C9C3E3"/>
                </a:solidFill>
                <a:latin typeface="Calibri" pitchFamily="34" charset="0"/>
                <a:ea typeface="Calibri" pitchFamily="34" charset="-122"/>
                <a:cs typeface="Calibri" pitchFamily="34" charset="-120"/>
              </a:rPr>
              <a:t>Session provenance, so the night's work is yours and dated.</a:t>
            </a:r>
            <a:endParaRPr lang="en-US" sz="1050" dirty="0"/>
          </a:p>
        </p:txBody>
      </p:sp>
      <p:sp>
        <p:nvSpPr>
          <p:cNvPr id="16" name="Shape 14"/>
          <p:cNvSpPr/>
          <p:nvPr/>
        </p:nvSpPr>
        <p:spPr>
          <a:xfrm>
            <a:off x="3630168" y="5120640"/>
            <a:ext cx="2788920" cy="1188720"/>
          </a:xfrm>
          <a:prstGeom prst="roundRect">
            <a:avLst>
              <a:gd name="adj" fmla="val 9231"/>
            </a:avLst>
          </a:prstGeom>
          <a:solidFill>
            <a:srgbClr val="1D1836"/>
          </a:solidFill>
          <a:ln w="9525">
            <a:solidFill>
              <a:srgbClr val="3A3260"/>
            </a:solidFill>
            <a:prstDash val="solid"/>
          </a:ln>
          <a:effectLst>
            <a:outerShdw sx="100000" sy="100000" kx="0" ky="0" algn="bl" rotWithShape="0" blurRad="152400" dist="38100" dir="5400000">
              <a:srgbClr val="000000">
                <a:alpha val="35000"/>
              </a:srgbClr>
            </a:outerShdw>
          </a:effectLst>
        </p:spPr>
      </p:sp>
      <p:sp>
        <p:nvSpPr>
          <p:cNvPr id="17" name="Text 15"/>
          <p:cNvSpPr txBox="1"/>
          <p:nvPr/>
        </p:nvSpPr>
        <p:spPr>
          <a:xfrm>
            <a:off x="3886200" y="5376672"/>
            <a:ext cx="2276856" cy="287274"/>
          </a:xfrm>
          <a:prstGeom prst="rect">
            <a:avLst/>
          </a:prstGeom>
          <a:noFill/>
          <a:ln/>
        </p:spPr>
        <p:txBody>
          <a:bodyPr wrap="square" lIns="0" tIns="0" rIns="0" bIns="0" rtlCol="0" anchor="t"/>
          <a:lstStyle/>
          <a:p>
            <a:pPr indent="0" marL="0">
              <a:buNone/>
            </a:pPr>
            <a:r>
              <a:rPr lang="en-US" sz="1500" dirty="0">
                <a:solidFill>
                  <a:srgbClr val="F4F5F9"/>
                </a:solidFill>
                <a:latin typeface="Cambria" pitchFamily="34" charset="0"/>
                <a:ea typeface="Cambria" pitchFamily="34" charset="-122"/>
                <a:cs typeface="Cambria" pitchFamily="34" charset="-120"/>
              </a:rPr>
              <a:t>The archive</a:t>
            </a:r>
            <a:endParaRPr lang="en-US" sz="1500" dirty="0"/>
          </a:p>
        </p:txBody>
      </p:sp>
      <p:sp>
        <p:nvSpPr>
          <p:cNvPr id="18" name="Text 16"/>
          <p:cNvSpPr txBox="1"/>
          <p:nvPr/>
        </p:nvSpPr>
        <p:spPr>
          <a:xfrm>
            <a:off x="3886200" y="5737098"/>
            <a:ext cx="2276856" cy="371094"/>
          </a:xfrm>
          <a:prstGeom prst="rect">
            <a:avLst/>
          </a:prstGeom>
          <a:noFill/>
          <a:ln/>
        </p:spPr>
        <p:txBody>
          <a:bodyPr wrap="square" lIns="0" tIns="0" rIns="0" bIns="0" rtlCol="0" anchor="t"/>
          <a:lstStyle/>
          <a:p>
            <a:pPr indent="0" marL="0">
              <a:lnSpc>
                <a:spcPct val="118000"/>
              </a:lnSpc>
              <a:buNone/>
            </a:pPr>
            <a:r>
              <a:rPr lang="en-US" sz="1050" dirty="0">
                <a:solidFill>
                  <a:srgbClr val="C9C3E3"/>
                </a:solidFill>
                <a:latin typeface="Calibri" pitchFamily="34" charset="0"/>
                <a:ea typeface="Calibri" pitchFamily="34" charset="-122"/>
                <a:cs typeface="Calibri" pitchFamily="34" charset="-120"/>
              </a:rPr>
              <a:t>Every past night at /night/YYYY-MM-DD, fully static.</a:t>
            </a:r>
            <a:endParaRPr lang="en-US" sz="1050" dirty="0"/>
          </a:p>
        </p:txBody>
      </p:sp>
      <p:sp>
        <p:nvSpPr>
          <p:cNvPr id="19" name="Shape 17"/>
          <p:cNvSpPr/>
          <p:nvPr/>
        </p:nvSpPr>
        <p:spPr>
          <a:xfrm>
            <a:off x="6766560" y="1783080"/>
            <a:ext cx="4800600" cy="3493008"/>
          </a:xfrm>
          <a:prstGeom prst="roundRect">
            <a:avLst>
              <a:gd name="adj" fmla="val 3141"/>
            </a:avLst>
          </a:prstGeom>
          <a:solidFill>
            <a:srgbClr val="0D0A1C"/>
          </a:solidFill>
          <a:ln w="9525">
            <a:solidFill>
              <a:srgbClr val="2E2850"/>
            </a:solidFill>
            <a:prstDash val="solid"/>
          </a:ln>
          <a:effectLst>
            <a:outerShdw sx="100000" sy="100000" kx="0" ky="0" algn="bl" rotWithShape="0" blurRad="152400" dist="38100" dir="5400000">
              <a:srgbClr val="000000">
                <a:alpha val="35000"/>
              </a:srgbClr>
            </a:outerShdw>
          </a:effectLst>
        </p:spPr>
      </p:sp>
      <p:sp>
        <p:nvSpPr>
          <p:cNvPr id="20" name="Text 18"/>
          <p:cNvSpPr txBox="1"/>
          <p:nvPr/>
        </p:nvSpPr>
        <p:spPr>
          <a:xfrm>
            <a:off x="7040880" y="1947672"/>
            <a:ext cx="4251960" cy="228600"/>
          </a:xfrm>
          <a:prstGeom prst="rect">
            <a:avLst/>
          </a:prstGeom>
          <a:noFill/>
          <a:ln/>
        </p:spPr>
        <p:txBody>
          <a:bodyPr wrap="square" lIns="0" tIns="0" rIns="0" bIns="0" rtlCol="0" anchor="ctr"/>
          <a:lstStyle/>
          <a:p>
            <a:pPr indent="0" marL="0">
              <a:buNone/>
            </a:pPr>
            <a:r>
              <a:rPr lang="en-US" sz="850" spc="250" kern="0" dirty="0">
                <a:solidFill>
                  <a:srgbClr val="C4B5FD"/>
                </a:solidFill>
                <a:latin typeface="Courier New" pitchFamily="34" charset="0"/>
                <a:ea typeface="Courier New" pitchFamily="34" charset="-122"/>
                <a:cs typeface="Courier New" pitchFamily="34" charset="-120"/>
              </a:rPr>
              <a:t>SITE MAP</a:t>
            </a:r>
            <a:endParaRPr lang="en-US" sz="850" dirty="0"/>
          </a:p>
        </p:txBody>
      </p:sp>
      <p:sp>
        <p:nvSpPr>
          <p:cNvPr id="21" name="Shape 19"/>
          <p:cNvSpPr/>
          <p:nvPr/>
        </p:nvSpPr>
        <p:spPr>
          <a:xfrm>
            <a:off x="7040880" y="2286000"/>
            <a:ext cx="4251960" cy="0"/>
          </a:xfrm>
          <a:prstGeom prst="line">
            <a:avLst/>
          </a:prstGeom>
          <a:noFill/>
          <a:ln w="9525">
            <a:solidFill>
              <a:srgbClr val="2E2850"/>
            </a:solidFill>
            <a:prstDash val="solid"/>
          </a:ln>
        </p:spPr>
      </p:sp>
      <p:sp>
        <p:nvSpPr>
          <p:cNvPr id="22" name="Text 20"/>
          <p:cNvSpPr txBox="1"/>
          <p:nvPr/>
        </p:nvSpPr>
        <p:spPr>
          <a:xfrm>
            <a:off x="7040880" y="2377440"/>
            <a:ext cx="1821942" cy="347472"/>
          </a:xfrm>
          <a:prstGeom prst="rect">
            <a:avLst/>
          </a:prstGeom>
          <a:noFill/>
          <a:ln/>
        </p:spPr>
        <p:txBody>
          <a:bodyPr wrap="square" lIns="0" tIns="0" rIns="0" bIns="0" rtlCol="0" anchor="ctr"/>
          <a:lstStyle/>
          <a:p>
            <a:pPr indent="0" marL="0">
              <a:buNone/>
            </a:pPr>
            <a:r>
              <a:rPr lang="en-US" sz="1150" dirty="0">
                <a:solidFill>
                  <a:srgbClr val="E6E8F0"/>
                </a:solidFill>
                <a:latin typeface="Calibri" pitchFamily="34" charset="0"/>
                <a:ea typeface="Calibri" pitchFamily="34" charset="-122"/>
                <a:cs typeface="Calibri" pitchFamily="34" charset="-120"/>
              </a:rPr>
              <a:t>Tonight</a:t>
            </a:r>
            <a:endParaRPr lang="en-US" sz="1150" dirty="0"/>
          </a:p>
        </p:txBody>
      </p:sp>
      <p:sp>
        <p:nvSpPr>
          <p:cNvPr id="23" name="Text 21"/>
          <p:cNvSpPr txBox="1"/>
          <p:nvPr/>
        </p:nvSpPr>
        <p:spPr>
          <a:xfrm>
            <a:off x="8954262" y="2377440"/>
            <a:ext cx="2338578" cy="347472"/>
          </a:xfrm>
          <a:prstGeom prst="rect">
            <a:avLst/>
          </a:prstGeom>
          <a:noFill/>
          <a:ln/>
        </p:spPr>
        <p:txBody>
          <a:bodyPr wrap="square" lIns="0" tIns="0" rIns="0" bIns="0" rtlCol="0" anchor="ctr"/>
          <a:lstStyle/>
          <a:p>
            <a:pPr algn="r" indent="0" marL="0">
              <a:buNone/>
            </a:pPr>
            <a:r>
              <a:rPr lang="en-US" sz="900" dirty="0">
                <a:solidFill>
                  <a:srgbClr val="C4B5FD"/>
                </a:solidFill>
                <a:latin typeface="Courier New" pitchFamily="34" charset="0"/>
                <a:ea typeface="Courier New" pitchFamily="34" charset="-122"/>
                <a:cs typeface="Courier New" pitchFamily="34" charset="-120"/>
              </a:rPr>
              <a:t>muse.suedeai.ai</a:t>
            </a:r>
            <a:endParaRPr lang="en-US" sz="900" dirty="0"/>
          </a:p>
        </p:txBody>
      </p:sp>
      <p:sp>
        <p:nvSpPr>
          <p:cNvPr id="24" name="Shape 22"/>
          <p:cNvSpPr/>
          <p:nvPr/>
        </p:nvSpPr>
        <p:spPr>
          <a:xfrm>
            <a:off x="7040880" y="2761488"/>
            <a:ext cx="4251960" cy="0"/>
          </a:xfrm>
          <a:prstGeom prst="line">
            <a:avLst/>
          </a:prstGeom>
          <a:noFill/>
          <a:ln w="9525">
            <a:solidFill>
              <a:srgbClr val="2E2850"/>
            </a:solidFill>
            <a:prstDash val="solid"/>
          </a:ln>
        </p:spPr>
      </p:sp>
      <p:sp>
        <p:nvSpPr>
          <p:cNvPr id="25" name="Text 23"/>
          <p:cNvSpPr txBox="1"/>
          <p:nvPr/>
        </p:nvSpPr>
        <p:spPr>
          <a:xfrm>
            <a:off x="7040880" y="2852928"/>
            <a:ext cx="1821942" cy="347472"/>
          </a:xfrm>
          <a:prstGeom prst="rect">
            <a:avLst/>
          </a:prstGeom>
          <a:noFill/>
          <a:ln/>
        </p:spPr>
        <p:txBody>
          <a:bodyPr wrap="square" lIns="0" tIns="0" rIns="0" bIns="0" rtlCol="0" anchor="ctr"/>
          <a:lstStyle/>
          <a:p>
            <a:pPr indent="0" marL="0">
              <a:buNone/>
            </a:pPr>
            <a:r>
              <a:rPr lang="en-US" sz="1150" dirty="0">
                <a:solidFill>
                  <a:srgbClr val="E6E8F0"/>
                </a:solidFill>
                <a:latin typeface="Calibri" pitchFamily="34" charset="0"/>
                <a:ea typeface="Calibri" pitchFamily="34" charset="-122"/>
                <a:cs typeface="Calibri" pitchFamily="34" charset="-120"/>
              </a:rPr>
              <a:t>Toolkit</a:t>
            </a:r>
            <a:endParaRPr lang="en-US" sz="1150" dirty="0"/>
          </a:p>
        </p:txBody>
      </p:sp>
      <p:sp>
        <p:nvSpPr>
          <p:cNvPr id="26" name="Text 24"/>
          <p:cNvSpPr txBox="1"/>
          <p:nvPr/>
        </p:nvSpPr>
        <p:spPr>
          <a:xfrm>
            <a:off x="8954262" y="2852928"/>
            <a:ext cx="2338578" cy="347472"/>
          </a:xfrm>
          <a:prstGeom prst="rect">
            <a:avLst/>
          </a:prstGeom>
          <a:noFill/>
          <a:ln/>
        </p:spPr>
        <p:txBody>
          <a:bodyPr wrap="square" lIns="0" tIns="0" rIns="0" bIns="0" rtlCol="0" anchor="ctr"/>
          <a:lstStyle/>
          <a:p>
            <a:pPr algn="r" indent="0" marL="0">
              <a:buNone/>
            </a:pPr>
            <a:r>
              <a:rPr lang="en-US" sz="900" dirty="0">
                <a:solidFill>
                  <a:srgbClr val="C4B5FD"/>
                </a:solidFill>
                <a:latin typeface="Courier New" pitchFamily="34" charset="0"/>
                <a:ea typeface="Courier New" pitchFamily="34" charset="-122"/>
                <a:cs typeface="Courier New" pitchFamily="34" charset="-120"/>
              </a:rPr>
              <a:t>/toolkit · 12 tools</a:t>
            </a:r>
            <a:endParaRPr lang="en-US" sz="900" dirty="0"/>
          </a:p>
        </p:txBody>
      </p:sp>
      <p:sp>
        <p:nvSpPr>
          <p:cNvPr id="27" name="Shape 25"/>
          <p:cNvSpPr/>
          <p:nvPr/>
        </p:nvSpPr>
        <p:spPr>
          <a:xfrm>
            <a:off x="7040880" y="3236976"/>
            <a:ext cx="4251960" cy="0"/>
          </a:xfrm>
          <a:prstGeom prst="line">
            <a:avLst/>
          </a:prstGeom>
          <a:noFill/>
          <a:ln w="9525">
            <a:solidFill>
              <a:srgbClr val="2E2850"/>
            </a:solidFill>
            <a:prstDash val="solid"/>
          </a:ln>
        </p:spPr>
      </p:sp>
      <p:sp>
        <p:nvSpPr>
          <p:cNvPr id="28" name="Text 26"/>
          <p:cNvSpPr txBox="1"/>
          <p:nvPr/>
        </p:nvSpPr>
        <p:spPr>
          <a:xfrm>
            <a:off x="7040880" y="3328416"/>
            <a:ext cx="1821942" cy="347472"/>
          </a:xfrm>
          <a:prstGeom prst="rect">
            <a:avLst/>
          </a:prstGeom>
          <a:noFill/>
          <a:ln/>
        </p:spPr>
        <p:txBody>
          <a:bodyPr wrap="square" lIns="0" tIns="0" rIns="0" bIns="0" rtlCol="0" anchor="ctr"/>
          <a:lstStyle/>
          <a:p>
            <a:pPr indent="0" marL="0">
              <a:buNone/>
            </a:pPr>
            <a:r>
              <a:rPr lang="en-US" sz="1150" dirty="0">
                <a:solidFill>
                  <a:srgbClr val="E6E8F0"/>
                </a:solidFill>
                <a:latin typeface="Calibri" pitchFamily="34" charset="0"/>
                <a:ea typeface="Calibri" pitchFamily="34" charset="-122"/>
                <a:cs typeface="Calibri" pitchFamily="34" charset="-120"/>
              </a:rPr>
              <a:t>Guitar tools</a:t>
            </a:r>
            <a:endParaRPr lang="en-US" sz="1150" dirty="0"/>
          </a:p>
        </p:txBody>
      </p:sp>
      <p:sp>
        <p:nvSpPr>
          <p:cNvPr id="29" name="Text 27"/>
          <p:cNvSpPr txBox="1"/>
          <p:nvPr/>
        </p:nvSpPr>
        <p:spPr>
          <a:xfrm>
            <a:off x="8954262" y="3328416"/>
            <a:ext cx="2338578" cy="347472"/>
          </a:xfrm>
          <a:prstGeom prst="rect">
            <a:avLst/>
          </a:prstGeom>
          <a:noFill/>
          <a:ln/>
        </p:spPr>
        <p:txBody>
          <a:bodyPr wrap="square" lIns="0" tIns="0" rIns="0" bIns="0" rtlCol="0" anchor="ctr"/>
          <a:lstStyle/>
          <a:p>
            <a:pPr algn="r" indent="0" marL="0">
              <a:buNone/>
            </a:pPr>
            <a:r>
              <a:rPr lang="en-US" sz="900" dirty="0">
                <a:solidFill>
                  <a:srgbClr val="C4B5FD"/>
                </a:solidFill>
                <a:latin typeface="Courier New" pitchFamily="34" charset="0"/>
                <a:ea typeface="Courier New" pitchFamily="34" charset="-122"/>
                <a:cs typeface="Courier New" pitchFamily="34" charset="-120"/>
              </a:rPr>
              <a:t>/guitar-tools</a:t>
            </a:r>
            <a:endParaRPr lang="en-US" sz="900" dirty="0"/>
          </a:p>
        </p:txBody>
      </p:sp>
      <p:sp>
        <p:nvSpPr>
          <p:cNvPr id="30" name="Shape 28"/>
          <p:cNvSpPr/>
          <p:nvPr/>
        </p:nvSpPr>
        <p:spPr>
          <a:xfrm>
            <a:off x="7040880" y="3712464"/>
            <a:ext cx="4251960" cy="0"/>
          </a:xfrm>
          <a:prstGeom prst="line">
            <a:avLst/>
          </a:prstGeom>
          <a:noFill/>
          <a:ln w="9525">
            <a:solidFill>
              <a:srgbClr val="2E2850"/>
            </a:solidFill>
            <a:prstDash val="solid"/>
          </a:ln>
        </p:spPr>
      </p:sp>
      <p:sp>
        <p:nvSpPr>
          <p:cNvPr id="31" name="Text 29"/>
          <p:cNvSpPr txBox="1"/>
          <p:nvPr/>
        </p:nvSpPr>
        <p:spPr>
          <a:xfrm>
            <a:off x="7040880" y="3803904"/>
            <a:ext cx="1821942" cy="347472"/>
          </a:xfrm>
          <a:prstGeom prst="rect">
            <a:avLst/>
          </a:prstGeom>
          <a:noFill/>
          <a:ln/>
        </p:spPr>
        <p:txBody>
          <a:bodyPr wrap="square" lIns="0" tIns="0" rIns="0" bIns="0" rtlCol="0" anchor="ctr"/>
          <a:lstStyle/>
          <a:p>
            <a:pPr indent="0" marL="0">
              <a:buNone/>
            </a:pPr>
            <a:r>
              <a:rPr lang="en-US" sz="1150" dirty="0">
                <a:solidFill>
                  <a:srgbClr val="E6E8F0"/>
                </a:solidFill>
                <a:latin typeface="Calibri" pitchFamily="34" charset="0"/>
                <a:ea typeface="Calibri" pitchFamily="34" charset="-122"/>
                <a:cs typeface="Calibri" pitchFamily="34" charset="-120"/>
              </a:rPr>
              <a:t>Articles</a:t>
            </a:r>
            <a:endParaRPr lang="en-US" sz="1150" dirty="0"/>
          </a:p>
        </p:txBody>
      </p:sp>
      <p:sp>
        <p:nvSpPr>
          <p:cNvPr id="32" name="Text 30"/>
          <p:cNvSpPr txBox="1"/>
          <p:nvPr/>
        </p:nvSpPr>
        <p:spPr>
          <a:xfrm>
            <a:off x="8954262" y="3803904"/>
            <a:ext cx="2338578" cy="347472"/>
          </a:xfrm>
          <a:prstGeom prst="rect">
            <a:avLst/>
          </a:prstGeom>
          <a:noFill/>
          <a:ln/>
        </p:spPr>
        <p:txBody>
          <a:bodyPr wrap="square" lIns="0" tIns="0" rIns="0" bIns="0" rtlCol="0" anchor="ctr"/>
          <a:lstStyle/>
          <a:p>
            <a:pPr algn="r" indent="0" marL="0">
              <a:buNone/>
            </a:pPr>
            <a:r>
              <a:rPr lang="en-US" sz="900" dirty="0">
                <a:solidFill>
                  <a:srgbClr val="C4B5FD"/>
                </a:solidFill>
                <a:latin typeface="Courier New" pitchFamily="34" charset="0"/>
                <a:ea typeface="Courier New" pitchFamily="34" charset="-122"/>
                <a:cs typeface="Courier New" pitchFamily="34" charset="-120"/>
              </a:rPr>
              <a:t>/articles · 6 posts</a:t>
            </a:r>
            <a:endParaRPr lang="en-US" sz="900" dirty="0"/>
          </a:p>
        </p:txBody>
      </p:sp>
      <p:sp>
        <p:nvSpPr>
          <p:cNvPr id="33" name="Shape 31"/>
          <p:cNvSpPr/>
          <p:nvPr/>
        </p:nvSpPr>
        <p:spPr>
          <a:xfrm>
            <a:off x="7040880" y="4187952"/>
            <a:ext cx="4251960" cy="0"/>
          </a:xfrm>
          <a:prstGeom prst="line">
            <a:avLst/>
          </a:prstGeom>
          <a:noFill/>
          <a:ln w="9525">
            <a:solidFill>
              <a:srgbClr val="2E2850"/>
            </a:solidFill>
            <a:prstDash val="solid"/>
          </a:ln>
        </p:spPr>
      </p:sp>
      <p:sp>
        <p:nvSpPr>
          <p:cNvPr id="34" name="Text 32"/>
          <p:cNvSpPr txBox="1"/>
          <p:nvPr/>
        </p:nvSpPr>
        <p:spPr>
          <a:xfrm>
            <a:off x="7040880" y="4279392"/>
            <a:ext cx="1821942" cy="347472"/>
          </a:xfrm>
          <a:prstGeom prst="rect">
            <a:avLst/>
          </a:prstGeom>
          <a:noFill/>
          <a:ln/>
        </p:spPr>
        <p:txBody>
          <a:bodyPr wrap="square" lIns="0" tIns="0" rIns="0" bIns="0" rtlCol="0" anchor="ctr"/>
          <a:lstStyle/>
          <a:p>
            <a:pPr indent="0" marL="0">
              <a:buNone/>
            </a:pPr>
            <a:r>
              <a:rPr lang="en-US" sz="1150" dirty="0">
                <a:solidFill>
                  <a:srgbClr val="E6E8F0"/>
                </a:solidFill>
                <a:latin typeface="Calibri" pitchFamily="34" charset="0"/>
                <a:ea typeface="Calibri" pitchFamily="34" charset="-122"/>
                <a:cs typeface="Calibri" pitchFamily="34" charset="-120"/>
              </a:rPr>
              <a:t>Docs and limitations</a:t>
            </a:r>
            <a:endParaRPr lang="en-US" sz="1150" dirty="0"/>
          </a:p>
        </p:txBody>
      </p:sp>
      <p:sp>
        <p:nvSpPr>
          <p:cNvPr id="35" name="Text 33"/>
          <p:cNvSpPr txBox="1"/>
          <p:nvPr/>
        </p:nvSpPr>
        <p:spPr>
          <a:xfrm>
            <a:off x="8954262" y="4279392"/>
            <a:ext cx="2338578" cy="347472"/>
          </a:xfrm>
          <a:prstGeom prst="rect">
            <a:avLst/>
          </a:prstGeom>
          <a:noFill/>
          <a:ln/>
        </p:spPr>
        <p:txBody>
          <a:bodyPr wrap="square" lIns="0" tIns="0" rIns="0" bIns="0" rtlCol="0" anchor="ctr"/>
          <a:lstStyle/>
          <a:p>
            <a:pPr algn="r" indent="0" marL="0">
              <a:buNone/>
            </a:pPr>
            <a:r>
              <a:rPr lang="en-US" sz="900" dirty="0">
                <a:solidFill>
                  <a:srgbClr val="C4B5FD"/>
                </a:solidFill>
                <a:latin typeface="Courier New" pitchFamily="34" charset="0"/>
                <a:ea typeface="Courier New" pitchFamily="34" charset="-122"/>
                <a:cs typeface="Courier New" pitchFamily="34" charset="-120"/>
              </a:rPr>
              <a:t>/docs/limitations</a:t>
            </a:r>
            <a:endParaRPr lang="en-US" sz="900" dirty="0"/>
          </a:p>
        </p:txBody>
      </p:sp>
      <p:sp>
        <p:nvSpPr>
          <p:cNvPr id="36" name="Shape 34"/>
          <p:cNvSpPr/>
          <p:nvPr/>
        </p:nvSpPr>
        <p:spPr>
          <a:xfrm>
            <a:off x="7040880" y="4663440"/>
            <a:ext cx="4251960" cy="0"/>
          </a:xfrm>
          <a:prstGeom prst="line">
            <a:avLst/>
          </a:prstGeom>
          <a:noFill/>
          <a:ln w="9525">
            <a:solidFill>
              <a:srgbClr val="2E2850"/>
            </a:solidFill>
            <a:prstDash val="solid"/>
          </a:ln>
        </p:spPr>
      </p:sp>
      <p:sp>
        <p:nvSpPr>
          <p:cNvPr id="37" name="Text 35"/>
          <p:cNvSpPr txBox="1"/>
          <p:nvPr/>
        </p:nvSpPr>
        <p:spPr>
          <a:xfrm>
            <a:off x="7040880" y="4754880"/>
            <a:ext cx="1821942" cy="347472"/>
          </a:xfrm>
          <a:prstGeom prst="rect">
            <a:avLst/>
          </a:prstGeom>
          <a:noFill/>
          <a:ln/>
        </p:spPr>
        <p:txBody>
          <a:bodyPr wrap="square" lIns="0" tIns="0" rIns="0" bIns="0" rtlCol="0" anchor="ctr"/>
          <a:lstStyle/>
          <a:p>
            <a:pPr indent="0" marL="0">
              <a:buNone/>
            </a:pPr>
            <a:r>
              <a:rPr lang="en-US" sz="1150" dirty="0">
                <a:solidFill>
                  <a:srgbClr val="E6E8F0"/>
                </a:solidFill>
                <a:latin typeface="Calibri" pitchFamily="34" charset="0"/>
                <a:ea typeface="Calibri" pitchFamily="34" charset="-122"/>
                <a:cs typeface="Calibri" pitchFamily="34" charset="-120"/>
              </a:rPr>
              <a:t>Pricing</a:t>
            </a:r>
            <a:endParaRPr lang="en-US" sz="1150" dirty="0"/>
          </a:p>
        </p:txBody>
      </p:sp>
      <p:sp>
        <p:nvSpPr>
          <p:cNvPr id="38" name="Text 36"/>
          <p:cNvSpPr txBox="1"/>
          <p:nvPr/>
        </p:nvSpPr>
        <p:spPr>
          <a:xfrm>
            <a:off x="8954262" y="4754880"/>
            <a:ext cx="2338578" cy="347472"/>
          </a:xfrm>
          <a:prstGeom prst="rect">
            <a:avLst/>
          </a:prstGeom>
          <a:noFill/>
          <a:ln/>
        </p:spPr>
        <p:txBody>
          <a:bodyPr wrap="square" lIns="0" tIns="0" rIns="0" bIns="0" rtlCol="0" anchor="ctr"/>
          <a:lstStyle/>
          <a:p>
            <a:pPr algn="r" indent="0" marL="0">
              <a:buNone/>
            </a:pPr>
            <a:r>
              <a:rPr lang="en-US" sz="900" dirty="0">
                <a:solidFill>
                  <a:srgbClr val="C4B5FD"/>
                </a:solidFill>
                <a:latin typeface="Courier New" pitchFamily="34" charset="0"/>
                <a:ea typeface="Courier New" pitchFamily="34" charset="-122"/>
                <a:cs typeface="Courier New" pitchFamily="34" charset="-120"/>
              </a:rPr>
              <a:t>/pricing</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6400800"/>
            <a:ext cx="8686800" cy="228600"/>
          </a:xfrm>
          <a:prstGeom prst="rect">
            <a:avLst/>
          </a:prstGeom>
          <a:noFill/>
          <a:ln/>
        </p:spPr>
        <p:txBody>
          <a:bodyPr wrap="square" lIns="0" tIns="0" rIns="0" bIns="0" rtlCol="0" anchor="ctr"/>
          <a:lstStyle/>
          <a:p>
            <a:pPr indent="0" marL="0">
              <a:buNone/>
            </a:pPr>
            <a:r>
              <a:rPr lang="en-US" sz="850" spc="100" kern="0" dirty="0">
                <a:solidFill>
                  <a:srgbClr val="C9C3E3"/>
                </a:solidFill>
                <a:latin typeface="Courier New" pitchFamily="34" charset="0"/>
                <a:ea typeface="Courier New" pitchFamily="34" charset="-122"/>
                <a:cs typeface="Courier New" pitchFamily="34" charset="-120"/>
              </a:rPr>
              <a:t>SUEDE MUSE · MUSE.SUEDEAI.AI · ONE CREATIVE CONSTRAINT A NIGHT</a:t>
            </a:r>
            <a:endParaRPr lang="en-US" sz="850" dirty="0"/>
          </a:p>
        </p:txBody>
      </p:sp>
      <p:sp>
        <p:nvSpPr>
          <p:cNvPr id="3" name="Text 1"/>
          <p:cNvSpPr txBox="1"/>
          <p:nvPr/>
        </p:nvSpPr>
        <p:spPr>
          <a:xfrm>
            <a:off x="10637215" y="6400800"/>
            <a:ext cx="914400" cy="228600"/>
          </a:xfrm>
          <a:prstGeom prst="rect">
            <a:avLst/>
          </a:prstGeom>
          <a:noFill/>
          <a:ln/>
        </p:spPr>
        <p:txBody>
          <a:bodyPr wrap="square" lIns="0" tIns="0" rIns="0" bIns="0" rtlCol="0" anchor="ctr"/>
          <a:lstStyle/>
          <a:p>
            <a:pPr algn="r" indent="0" marL="0">
              <a:buNone/>
            </a:pPr>
            <a:r>
              <a:rPr lang="en-US" sz="850" dirty="0">
                <a:solidFill>
                  <a:srgbClr val="C9C3E3"/>
                </a:solidFill>
                <a:latin typeface="Courier New" pitchFamily="34" charset="0"/>
                <a:ea typeface="Courier New" pitchFamily="34" charset="-122"/>
                <a:cs typeface="Courier New" pitchFamily="34" charset="-120"/>
              </a:rPr>
              <a:t>04</a:t>
            </a:r>
            <a:endParaRPr lang="en-US" sz="850" dirty="0"/>
          </a:p>
        </p:txBody>
      </p:sp>
      <p:sp>
        <p:nvSpPr>
          <p:cNvPr id="4" name="Text 2"/>
          <p:cNvSpPr txBox="1"/>
          <p:nvPr/>
        </p:nvSpPr>
        <p:spPr>
          <a:xfrm>
            <a:off x="640080" y="548640"/>
            <a:ext cx="9144000" cy="256032"/>
          </a:xfrm>
          <a:prstGeom prst="rect">
            <a:avLst/>
          </a:prstGeom>
          <a:noFill/>
          <a:ln/>
        </p:spPr>
        <p:txBody>
          <a:bodyPr wrap="square" lIns="0" tIns="0" rIns="0" bIns="0" rtlCol="0" anchor="ctr"/>
          <a:lstStyle/>
          <a:p>
            <a:pPr indent="0" marL="0">
              <a:buNone/>
            </a:pPr>
            <a:r>
              <a:rPr lang="en-US" sz="950" spc="250" kern="0" dirty="0">
                <a:solidFill>
                  <a:srgbClr val="C4B5FD"/>
                </a:solidFill>
                <a:latin typeface="Courier New" pitchFamily="34" charset="0"/>
                <a:ea typeface="Courier New" pitchFamily="34" charset="-122"/>
                <a:cs typeface="Courier New" pitchFamily="34" charset="-120"/>
              </a:rPr>
              <a:t>03 — A NIGHT WITH MUSE</a:t>
            </a:r>
            <a:endParaRPr lang="en-US" sz="950" dirty="0"/>
          </a:p>
        </p:txBody>
      </p:sp>
      <p:sp>
        <p:nvSpPr>
          <p:cNvPr id="5" name="Text 3"/>
          <p:cNvSpPr txBox="1"/>
          <p:nvPr/>
        </p:nvSpPr>
        <p:spPr>
          <a:xfrm>
            <a:off x="640080" y="868680"/>
            <a:ext cx="9144000" cy="510540"/>
          </a:xfrm>
          <a:prstGeom prst="rect">
            <a:avLst/>
          </a:prstGeom>
          <a:noFill/>
          <a:ln/>
        </p:spPr>
        <p:txBody>
          <a:bodyPr wrap="square" lIns="0" tIns="0" rIns="0" bIns="0" rtlCol="0" anchor="t"/>
          <a:lstStyle/>
          <a:p>
            <a:pPr algn="l" indent="0" marL="0">
              <a:lnSpc>
                <a:spcPct val="105000"/>
              </a:lnSpc>
              <a:buNone/>
            </a:pPr>
            <a:r>
              <a:rPr lang="en-US" sz="3000" dirty="0">
                <a:solidFill>
                  <a:srgbClr val="F4F5F9"/>
                </a:solidFill>
                <a:latin typeface="Cambria" pitchFamily="34" charset="0"/>
                <a:ea typeface="Cambria" pitchFamily="34" charset="-122"/>
                <a:cs typeface="Cambria" pitchFamily="34" charset="-120"/>
              </a:rPr>
              <a:t>Midnight deal. Flip. Talk. Make. Keep.</a:t>
            </a:r>
            <a:endParaRPr lang="en-US" sz="3000" dirty="0"/>
          </a:p>
        </p:txBody>
      </p:sp>
      <p:sp>
        <p:nvSpPr>
          <p:cNvPr id="6" name="Shape 4"/>
          <p:cNvSpPr/>
          <p:nvPr/>
        </p:nvSpPr>
        <p:spPr>
          <a:xfrm>
            <a:off x="914400" y="2231136"/>
            <a:ext cx="10362895" cy="0"/>
          </a:xfrm>
          <a:prstGeom prst="line">
            <a:avLst/>
          </a:prstGeom>
          <a:noFill/>
          <a:ln w="9525">
            <a:solidFill>
              <a:srgbClr val="3A3260"/>
            </a:solidFill>
            <a:prstDash val="solid"/>
          </a:ln>
        </p:spPr>
      </p:sp>
      <p:sp>
        <p:nvSpPr>
          <p:cNvPr id="7" name="Shape 5"/>
          <p:cNvSpPr/>
          <p:nvPr/>
        </p:nvSpPr>
        <p:spPr>
          <a:xfrm>
            <a:off x="640080" y="2011680"/>
            <a:ext cx="438912" cy="438912"/>
          </a:xfrm>
          <a:prstGeom prst="ellipse">
            <a:avLst/>
          </a:prstGeom>
          <a:solidFill>
            <a:srgbClr val="C4B5FD"/>
          </a:solidFill>
          <a:ln w="12700">
            <a:solidFill>
              <a:srgbClr val="C4B5FD"/>
            </a:solidFill>
            <a:prstDash val="solid"/>
          </a:ln>
        </p:spPr>
      </p:sp>
      <p:sp>
        <p:nvSpPr>
          <p:cNvPr id="8" name="Text 6"/>
          <p:cNvSpPr txBox="1"/>
          <p:nvPr/>
        </p:nvSpPr>
        <p:spPr>
          <a:xfrm>
            <a:off x="640080" y="2011680"/>
            <a:ext cx="438912" cy="438912"/>
          </a:xfrm>
          <a:prstGeom prst="rect">
            <a:avLst/>
          </a:prstGeom>
          <a:noFill/>
          <a:ln/>
        </p:spPr>
        <p:txBody>
          <a:bodyPr wrap="square" lIns="0" tIns="0" rIns="0" bIns="0" rtlCol="0" anchor="ctr"/>
          <a:lstStyle/>
          <a:p>
            <a:pPr algn="ctr" indent="0" marL="0">
              <a:buNone/>
            </a:pPr>
            <a:r>
              <a:rPr lang="en-US" sz="1000" b="1" dirty="0">
                <a:solidFill>
                  <a:srgbClr val="14102A"/>
                </a:solidFill>
                <a:latin typeface="Courier New" pitchFamily="34" charset="0"/>
                <a:ea typeface="Courier New" pitchFamily="34" charset="-122"/>
                <a:cs typeface="Courier New" pitchFamily="34" charset="-120"/>
              </a:rPr>
              <a:t>01</a:t>
            </a:r>
            <a:endParaRPr lang="en-US" sz="1000" dirty="0"/>
          </a:p>
        </p:txBody>
      </p:sp>
      <p:sp>
        <p:nvSpPr>
          <p:cNvPr id="9" name="Text 7"/>
          <p:cNvSpPr txBox="1"/>
          <p:nvPr/>
        </p:nvSpPr>
        <p:spPr>
          <a:xfrm>
            <a:off x="640080" y="2615184"/>
            <a:ext cx="1962851" cy="384048"/>
          </a:xfrm>
          <a:prstGeom prst="rect">
            <a:avLst/>
          </a:prstGeom>
          <a:noFill/>
          <a:ln/>
        </p:spPr>
        <p:txBody>
          <a:bodyPr wrap="square" lIns="0" tIns="0" rIns="0" bIns="0" rtlCol="0" anchor="ctr"/>
          <a:lstStyle/>
          <a:p>
            <a:pPr indent="0" marL="0">
              <a:buNone/>
            </a:pPr>
            <a:r>
              <a:rPr lang="en-US" sz="1600" dirty="0">
                <a:solidFill>
                  <a:srgbClr val="F4F5F9"/>
                </a:solidFill>
                <a:latin typeface="Cambria" pitchFamily="34" charset="0"/>
                <a:ea typeface="Cambria" pitchFamily="34" charset="-122"/>
                <a:cs typeface="Cambria" pitchFamily="34" charset="-120"/>
              </a:rPr>
              <a:t>Midnight</a:t>
            </a:r>
            <a:endParaRPr lang="en-US" sz="1600" dirty="0"/>
          </a:p>
        </p:txBody>
      </p:sp>
      <p:sp>
        <p:nvSpPr>
          <p:cNvPr id="10" name="Text 8"/>
          <p:cNvSpPr txBox="1"/>
          <p:nvPr/>
        </p:nvSpPr>
        <p:spPr>
          <a:xfrm>
            <a:off x="640080" y="3017520"/>
            <a:ext cx="1962851" cy="1371600"/>
          </a:xfrm>
          <a:prstGeom prst="rect">
            <a:avLst/>
          </a:prstGeom>
          <a:noFill/>
          <a:ln/>
        </p:spPr>
        <p:txBody>
          <a:bodyPr wrap="square" lIns="0" tIns="0" rIns="0" bIns="0" rtlCol="0" anchor="t"/>
          <a:lstStyle/>
          <a:p>
            <a:pPr indent="0" marL="0">
              <a:lnSpc>
                <a:spcPct val="118000"/>
              </a:lnSpc>
              <a:buNone/>
            </a:pPr>
            <a:r>
              <a:rPr lang="en-US" sz="1100" dirty="0">
                <a:solidFill>
                  <a:srgbClr val="C9C3E3"/>
                </a:solidFill>
                <a:latin typeface="Calibri" pitchFamily="34" charset="0"/>
                <a:ea typeface="Calibri" pitchFamily="34" charset="-122"/>
                <a:cs typeface="Calibri" pitchFamily="34" charset="-120"/>
              </a:rPr>
              <a:t>The House Deck deals tonight's card to every musician at once.</a:t>
            </a:r>
            <a:endParaRPr lang="en-US" sz="1100" dirty="0"/>
          </a:p>
        </p:txBody>
      </p:sp>
      <p:sp>
        <p:nvSpPr>
          <p:cNvPr id="11" name="Shape 9"/>
          <p:cNvSpPr/>
          <p:nvPr/>
        </p:nvSpPr>
        <p:spPr>
          <a:xfrm>
            <a:off x="2877251" y="2011680"/>
            <a:ext cx="438912" cy="438912"/>
          </a:xfrm>
          <a:prstGeom prst="ellipse">
            <a:avLst/>
          </a:prstGeom>
          <a:solidFill>
            <a:srgbClr val="C4B5FD"/>
          </a:solidFill>
          <a:ln w="12700">
            <a:solidFill>
              <a:srgbClr val="C4B5FD"/>
            </a:solidFill>
            <a:prstDash val="solid"/>
          </a:ln>
        </p:spPr>
      </p:sp>
      <p:sp>
        <p:nvSpPr>
          <p:cNvPr id="12" name="Text 10"/>
          <p:cNvSpPr txBox="1"/>
          <p:nvPr/>
        </p:nvSpPr>
        <p:spPr>
          <a:xfrm>
            <a:off x="2877251" y="2011680"/>
            <a:ext cx="438912" cy="438912"/>
          </a:xfrm>
          <a:prstGeom prst="rect">
            <a:avLst/>
          </a:prstGeom>
          <a:noFill/>
          <a:ln/>
        </p:spPr>
        <p:txBody>
          <a:bodyPr wrap="square" lIns="0" tIns="0" rIns="0" bIns="0" rtlCol="0" anchor="ctr"/>
          <a:lstStyle/>
          <a:p>
            <a:pPr algn="ctr" indent="0" marL="0">
              <a:buNone/>
            </a:pPr>
            <a:r>
              <a:rPr lang="en-US" sz="1000" b="1" dirty="0">
                <a:solidFill>
                  <a:srgbClr val="14102A"/>
                </a:solidFill>
                <a:latin typeface="Courier New" pitchFamily="34" charset="0"/>
                <a:ea typeface="Courier New" pitchFamily="34" charset="-122"/>
                <a:cs typeface="Courier New" pitchFamily="34" charset="-120"/>
              </a:rPr>
              <a:t>02</a:t>
            </a:r>
            <a:endParaRPr lang="en-US" sz="1000" dirty="0"/>
          </a:p>
        </p:txBody>
      </p:sp>
      <p:sp>
        <p:nvSpPr>
          <p:cNvPr id="13" name="Text 11"/>
          <p:cNvSpPr txBox="1"/>
          <p:nvPr/>
        </p:nvSpPr>
        <p:spPr>
          <a:xfrm>
            <a:off x="2877251" y="2615184"/>
            <a:ext cx="1962851" cy="384048"/>
          </a:xfrm>
          <a:prstGeom prst="rect">
            <a:avLst/>
          </a:prstGeom>
          <a:noFill/>
          <a:ln/>
        </p:spPr>
        <p:txBody>
          <a:bodyPr wrap="square" lIns="0" tIns="0" rIns="0" bIns="0" rtlCol="0" anchor="ctr"/>
          <a:lstStyle/>
          <a:p>
            <a:pPr indent="0" marL="0">
              <a:buNone/>
            </a:pPr>
            <a:r>
              <a:rPr lang="en-US" sz="1600" dirty="0">
                <a:solidFill>
                  <a:srgbClr val="F4F5F9"/>
                </a:solidFill>
                <a:latin typeface="Cambria" pitchFamily="34" charset="0"/>
                <a:ea typeface="Cambria" pitchFamily="34" charset="-122"/>
                <a:cs typeface="Cambria" pitchFamily="34" charset="-120"/>
              </a:rPr>
              <a:t>Flip</a:t>
            </a:r>
            <a:endParaRPr lang="en-US" sz="1600" dirty="0"/>
          </a:p>
        </p:txBody>
      </p:sp>
      <p:sp>
        <p:nvSpPr>
          <p:cNvPr id="14" name="Text 12"/>
          <p:cNvSpPr txBox="1"/>
          <p:nvPr/>
        </p:nvSpPr>
        <p:spPr>
          <a:xfrm>
            <a:off x="2877251" y="3017520"/>
            <a:ext cx="1962851" cy="1371600"/>
          </a:xfrm>
          <a:prstGeom prst="rect">
            <a:avLst/>
          </a:prstGeom>
          <a:noFill/>
          <a:ln/>
        </p:spPr>
        <p:txBody>
          <a:bodyPr wrap="square" lIns="0" tIns="0" rIns="0" bIns="0" rtlCol="0" anchor="t"/>
          <a:lstStyle/>
          <a:p>
            <a:pPr indent="0" marL="0">
              <a:lnSpc>
                <a:spcPct val="118000"/>
              </a:lnSpc>
              <a:buNone/>
            </a:pPr>
            <a:r>
              <a:rPr lang="en-US" sz="1100" dirty="0">
                <a:solidFill>
                  <a:srgbClr val="C9C3E3"/>
                </a:solidFill>
                <a:latin typeface="Calibri" pitchFamily="34" charset="0"/>
                <a:ea typeface="Calibri" pitchFamily="34" charset="-122"/>
                <a:cs typeface="Calibri" pitchFamily="34" charset="-120"/>
              </a:rPr>
              <a:t>Read the constraint. Words, melody, rhythm or tone.</a:t>
            </a:r>
            <a:endParaRPr lang="en-US" sz="1100" dirty="0"/>
          </a:p>
        </p:txBody>
      </p:sp>
      <p:sp>
        <p:nvSpPr>
          <p:cNvPr id="15" name="Shape 13"/>
          <p:cNvSpPr/>
          <p:nvPr/>
        </p:nvSpPr>
        <p:spPr>
          <a:xfrm>
            <a:off x="5114422" y="2011680"/>
            <a:ext cx="438912" cy="438912"/>
          </a:xfrm>
          <a:prstGeom prst="ellipse">
            <a:avLst/>
          </a:prstGeom>
          <a:solidFill>
            <a:srgbClr val="C4B5FD"/>
          </a:solidFill>
          <a:ln w="12700">
            <a:solidFill>
              <a:srgbClr val="C4B5FD"/>
            </a:solidFill>
            <a:prstDash val="solid"/>
          </a:ln>
        </p:spPr>
      </p:sp>
      <p:sp>
        <p:nvSpPr>
          <p:cNvPr id="16" name="Text 14"/>
          <p:cNvSpPr txBox="1"/>
          <p:nvPr/>
        </p:nvSpPr>
        <p:spPr>
          <a:xfrm>
            <a:off x="5114422" y="2011680"/>
            <a:ext cx="438912" cy="438912"/>
          </a:xfrm>
          <a:prstGeom prst="rect">
            <a:avLst/>
          </a:prstGeom>
          <a:noFill/>
          <a:ln/>
        </p:spPr>
        <p:txBody>
          <a:bodyPr wrap="square" lIns="0" tIns="0" rIns="0" bIns="0" rtlCol="0" anchor="ctr"/>
          <a:lstStyle/>
          <a:p>
            <a:pPr algn="ctr" indent="0" marL="0">
              <a:buNone/>
            </a:pPr>
            <a:r>
              <a:rPr lang="en-US" sz="1000" b="1" dirty="0">
                <a:solidFill>
                  <a:srgbClr val="14102A"/>
                </a:solidFill>
                <a:latin typeface="Courier New" pitchFamily="34" charset="0"/>
                <a:ea typeface="Courier New" pitchFamily="34" charset="-122"/>
                <a:cs typeface="Courier New" pitchFamily="34" charset="-120"/>
              </a:rPr>
              <a:t>03</a:t>
            </a:r>
            <a:endParaRPr lang="en-US" sz="1000" dirty="0"/>
          </a:p>
        </p:txBody>
      </p:sp>
      <p:sp>
        <p:nvSpPr>
          <p:cNvPr id="17" name="Text 15"/>
          <p:cNvSpPr txBox="1"/>
          <p:nvPr/>
        </p:nvSpPr>
        <p:spPr>
          <a:xfrm>
            <a:off x="5114422" y="2615184"/>
            <a:ext cx="1962851" cy="384048"/>
          </a:xfrm>
          <a:prstGeom prst="rect">
            <a:avLst/>
          </a:prstGeom>
          <a:noFill/>
          <a:ln/>
        </p:spPr>
        <p:txBody>
          <a:bodyPr wrap="square" lIns="0" tIns="0" rIns="0" bIns="0" rtlCol="0" anchor="ctr"/>
          <a:lstStyle/>
          <a:p>
            <a:pPr indent="0" marL="0">
              <a:buNone/>
            </a:pPr>
            <a:r>
              <a:rPr lang="en-US" sz="1600" dirty="0">
                <a:solidFill>
                  <a:srgbClr val="F4F5F9"/>
                </a:solidFill>
                <a:latin typeface="Cambria" pitchFamily="34" charset="0"/>
                <a:ea typeface="Cambria" pitchFamily="34" charset="-122"/>
                <a:cs typeface="Cambria" pitchFamily="34" charset="-120"/>
              </a:rPr>
              <a:t>Talk</a:t>
            </a:r>
            <a:endParaRPr lang="en-US" sz="1600" dirty="0"/>
          </a:p>
        </p:txBody>
      </p:sp>
      <p:sp>
        <p:nvSpPr>
          <p:cNvPr id="18" name="Text 16"/>
          <p:cNvSpPr txBox="1"/>
          <p:nvPr/>
        </p:nvSpPr>
        <p:spPr>
          <a:xfrm>
            <a:off x="5114422" y="3017520"/>
            <a:ext cx="1962851" cy="1371600"/>
          </a:xfrm>
          <a:prstGeom prst="rect">
            <a:avLst/>
          </a:prstGeom>
          <a:noFill/>
          <a:ln/>
        </p:spPr>
        <p:txBody>
          <a:bodyPr wrap="square" lIns="0" tIns="0" rIns="0" bIns="0" rtlCol="0" anchor="t"/>
          <a:lstStyle/>
          <a:p>
            <a:pPr indent="0" marL="0">
              <a:lnSpc>
                <a:spcPct val="118000"/>
              </a:lnSpc>
              <a:buNone/>
            </a:pPr>
            <a:r>
              <a:rPr lang="en-US" sz="1100" dirty="0">
                <a:solidFill>
                  <a:srgbClr val="C9C3E3"/>
                </a:solidFill>
                <a:latin typeface="Calibri" pitchFamily="34" charset="0"/>
                <a:ea typeface="Calibri" pitchFamily="34" charset="-122"/>
                <a:cs typeface="Calibri" pitchFamily="34" charset="-120"/>
              </a:rPr>
              <a:t>Work it through with Muse: what it means, where to start, what to try.</a:t>
            </a:r>
            <a:endParaRPr lang="en-US" sz="1100" dirty="0"/>
          </a:p>
        </p:txBody>
      </p:sp>
      <p:sp>
        <p:nvSpPr>
          <p:cNvPr id="19" name="Shape 17"/>
          <p:cNvSpPr/>
          <p:nvPr/>
        </p:nvSpPr>
        <p:spPr>
          <a:xfrm>
            <a:off x="7351593" y="2011680"/>
            <a:ext cx="438912" cy="438912"/>
          </a:xfrm>
          <a:prstGeom prst="ellipse">
            <a:avLst/>
          </a:prstGeom>
          <a:solidFill>
            <a:srgbClr val="C4B5FD"/>
          </a:solidFill>
          <a:ln w="12700">
            <a:solidFill>
              <a:srgbClr val="C4B5FD"/>
            </a:solidFill>
            <a:prstDash val="solid"/>
          </a:ln>
        </p:spPr>
      </p:sp>
      <p:sp>
        <p:nvSpPr>
          <p:cNvPr id="20" name="Text 18"/>
          <p:cNvSpPr txBox="1"/>
          <p:nvPr/>
        </p:nvSpPr>
        <p:spPr>
          <a:xfrm>
            <a:off x="7351593" y="2011680"/>
            <a:ext cx="438912" cy="438912"/>
          </a:xfrm>
          <a:prstGeom prst="rect">
            <a:avLst/>
          </a:prstGeom>
          <a:noFill/>
          <a:ln/>
        </p:spPr>
        <p:txBody>
          <a:bodyPr wrap="square" lIns="0" tIns="0" rIns="0" bIns="0" rtlCol="0" anchor="ctr"/>
          <a:lstStyle/>
          <a:p>
            <a:pPr algn="ctr" indent="0" marL="0">
              <a:buNone/>
            </a:pPr>
            <a:r>
              <a:rPr lang="en-US" sz="1000" b="1" dirty="0">
                <a:solidFill>
                  <a:srgbClr val="14102A"/>
                </a:solidFill>
                <a:latin typeface="Courier New" pitchFamily="34" charset="0"/>
                <a:ea typeface="Courier New" pitchFamily="34" charset="-122"/>
                <a:cs typeface="Courier New" pitchFamily="34" charset="-120"/>
              </a:rPr>
              <a:t>04</a:t>
            </a:r>
            <a:endParaRPr lang="en-US" sz="1000" dirty="0"/>
          </a:p>
        </p:txBody>
      </p:sp>
      <p:sp>
        <p:nvSpPr>
          <p:cNvPr id="21" name="Text 19"/>
          <p:cNvSpPr txBox="1"/>
          <p:nvPr/>
        </p:nvSpPr>
        <p:spPr>
          <a:xfrm>
            <a:off x="7351593" y="2615184"/>
            <a:ext cx="1962851" cy="384048"/>
          </a:xfrm>
          <a:prstGeom prst="rect">
            <a:avLst/>
          </a:prstGeom>
          <a:noFill/>
          <a:ln/>
        </p:spPr>
        <p:txBody>
          <a:bodyPr wrap="square" lIns="0" tIns="0" rIns="0" bIns="0" rtlCol="0" anchor="ctr"/>
          <a:lstStyle/>
          <a:p>
            <a:pPr indent="0" marL="0">
              <a:buNone/>
            </a:pPr>
            <a:r>
              <a:rPr lang="en-US" sz="1600" dirty="0">
                <a:solidFill>
                  <a:srgbClr val="F4F5F9"/>
                </a:solidFill>
                <a:latin typeface="Cambria" pitchFamily="34" charset="0"/>
                <a:ea typeface="Cambria" pitchFamily="34" charset="-122"/>
                <a:cs typeface="Cambria" pitchFamily="34" charset="-120"/>
              </a:rPr>
              <a:t>Make</a:t>
            </a:r>
            <a:endParaRPr lang="en-US" sz="1600" dirty="0"/>
          </a:p>
        </p:txBody>
      </p:sp>
      <p:sp>
        <p:nvSpPr>
          <p:cNvPr id="22" name="Text 20"/>
          <p:cNvSpPr txBox="1"/>
          <p:nvPr/>
        </p:nvSpPr>
        <p:spPr>
          <a:xfrm>
            <a:off x="7351593" y="3017520"/>
            <a:ext cx="1962851" cy="1371600"/>
          </a:xfrm>
          <a:prstGeom prst="rect">
            <a:avLst/>
          </a:prstGeom>
          <a:noFill/>
          <a:ln/>
        </p:spPr>
        <p:txBody>
          <a:bodyPr wrap="square" lIns="0" tIns="0" rIns="0" bIns="0" rtlCol="0" anchor="t"/>
          <a:lstStyle/>
          <a:p>
            <a:pPr indent="0" marL="0">
              <a:lnSpc>
                <a:spcPct val="118000"/>
              </a:lnSpc>
              <a:buNone/>
            </a:pPr>
            <a:r>
              <a:rPr lang="en-US" sz="1100" dirty="0">
                <a:solidFill>
                  <a:srgbClr val="C9C3E3"/>
                </a:solidFill>
                <a:latin typeface="Calibri" pitchFamily="34" charset="0"/>
                <a:ea typeface="Calibri" pitchFamily="34" charset="-122"/>
                <a:cs typeface="Calibri" pitchFamily="34" charset="-120"/>
              </a:rPr>
              <a:t>Write the verse, find the change, chase the sound.</a:t>
            </a:r>
            <a:endParaRPr lang="en-US" sz="1100" dirty="0"/>
          </a:p>
        </p:txBody>
      </p:sp>
      <p:sp>
        <p:nvSpPr>
          <p:cNvPr id="23" name="Shape 21"/>
          <p:cNvSpPr/>
          <p:nvPr/>
        </p:nvSpPr>
        <p:spPr>
          <a:xfrm>
            <a:off x="9588764" y="2011680"/>
            <a:ext cx="438912" cy="438912"/>
          </a:xfrm>
          <a:prstGeom prst="ellipse">
            <a:avLst/>
          </a:prstGeom>
          <a:solidFill>
            <a:srgbClr val="C4B5FD"/>
          </a:solidFill>
          <a:ln w="12700">
            <a:solidFill>
              <a:srgbClr val="C4B5FD"/>
            </a:solidFill>
            <a:prstDash val="solid"/>
          </a:ln>
        </p:spPr>
      </p:sp>
      <p:sp>
        <p:nvSpPr>
          <p:cNvPr id="24" name="Text 22"/>
          <p:cNvSpPr txBox="1"/>
          <p:nvPr/>
        </p:nvSpPr>
        <p:spPr>
          <a:xfrm>
            <a:off x="9588764" y="2011680"/>
            <a:ext cx="438912" cy="438912"/>
          </a:xfrm>
          <a:prstGeom prst="rect">
            <a:avLst/>
          </a:prstGeom>
          <a:noFill/>
          <a:ln/>
        </p:spPr>
        <p:txBody>
          <a:bodyPr wrap="square" lIns="0" tIns="0" rIns="0" bIns="0" rtlCol="0" anchor="ctr"/>
          <a:lstStyle/>
          <a:p>
            <a:pPr algn="ctr" indent="0" marL="0">
              <a:buNone/>
            </a:pPr>
            <a:r>
              <a:rPr lang="en-US" sz="1000" b="1" dirty="0">
                <a:solidFill>
                  <a:srgbClr val="14102A"/>
                </a:solidFill>
                <a:latin typeface="Courier New" pitchFamily="34" charset="0"/>
                <a:ea typeface="Courier New" pitchFamily="34" charset="-122"/>
                <a:cs typeface="Courier New" pitchFamily="34" charset="-120"/>
              </a:rPr>
              <a:t>05</a:t>
            </a:r>
            <a:endParaRPr lang="en-US" sz="1000" dirty="0"/>
          </a:p>
        </p:txBody>
      </p:sp>
      <p:sp>
        <p:nvSpPr>
          <p:cNvPr id="25" name="Text 23"/>
          <p:cNvSpPr txBox="1"/>
          <p:nvPr/>
        </p:nvSpPr>
        <p:spPr>
          <a:xfrm>
            <a:off x="9588764" y="2615184"/>
            <a:ext cx="1962851" cy="384048"/>
          </a:xfrm>
          <a:prstGeom prst="rect">
            <a:avLst/>
          </a:prstGeom>
          <a:noFill/>
          <a:ln/>
        </p:spPr>
        <p:txBody>
          <a:bodyPr wrap="square" lIns="0" tIns="0" rIns="0" bIns="0" rtlCol="0" anchor="ctr"/>
          <a:lstStyle/>
          <a:p>
            <a:pPr indent="0" marL="0">
              <a:buNone/>
            </a:pPr>
            <a:r>
              <a:rPr lang="en-US" sz="1600" dirty="0">
                <a:solidFill>
                  <a:srgbClr val="F4F5F9"/>
                </a:solidFill>
                <a:latin typeface="Cambria" pitchFamily="34" charset="0"/>
                <a:ea typeface="Cambria" pitchFamily="34" charset="-122"/>
                <a:cs typeface="Cambria" pitchFamily="34" charset="-120"/>
              </a:rPr>
              <a:t>Keep</a:t>
            </a:r>
            <a:endParaRPr lang="en-US" sz="1600" dirty="0"/>
          </a:p>
        </p:txBody>
      </p:sp>
      <p:sp>
        <p:nvSpPr>
          <p:cNvPr id="26" name="Text 24"/>
          <p:cNvSpPr txBox="1"/>
          <p:nvPr/>
        </p:nvSpPr>
        <p:spPr>
          <a:xfrm>
            <a:off x="9588764" y="3017520"/>
            <a:ext cx="1962851" cy="1371600"/>
          </a:xfrm>
          <a:prstGeom prst="rect">
            <a:avLst/>
          </a:prstGeom>
          <a:noFill/>
          <a:ln/>
        </p:spPr>
        <p:txBody>
          <a:bodyPr wrap="square" lIns="0" tIns="0" rIns="0" bIns="0" rtlCol="0" anchor="t"/>
          <a:lstStyle/>
          <a:p>
            <a:pPr indent="0" marL="0">
              <a:lnSpc>
                <a:spcPct val="118000"/>
              </a:lnSpc>
              <a:buNone/>
            </a:pPr>
            <a:r>
              <a:rPr lang="en-US" sz="1100" dirty="0">
                <a:solidFill>
                  <a:srgbClr val="C9C3E3"/>
                </a:solidFill>
                <a:latin typeface="Calibri" pitchFamily="34" charset="0"/>
                <a:ea typeface="Calibri" pitchFamily="34" charset="-122"/>
                <a:cs typeface="Calibri" pitchFamily="34" charset="-120"/>
              </a:rPr>
              <a:t>The session is captured with provenance and tracked against your weakest dimension.</a:t>
            </a:r>
            <a:endParaRPr lang="en-US" sz="1100" dirty="0"/>
          </a:p>
        </p:txBody>
      </p:sp>
      <p:sp>
        <p:nvSpPr>
          <p:cNvPr id="27" name="Shape 25"/>
          <p:cNvSpPr/>
          <p:nvPr/>
        </p:nvSpPr>
        <p:spPr>
          <a:xfrm>
            <a:off x="640080" y="5029200"/>
            <a:ext cx="10911535" cy="0"/>
          </a:xfrm>
          <a:prstGeom prst="line">
            <a:avLst/>
          </a:prstGeom>
          <a:noFill/>
          <a:ln w="9525">
            <a:solidFill>
              <a:srgbClr val="3A3260"/>
            </a:solidFill>
            <a:prstDash val="solid"/>
          </a:ln>
        </p:spPr>
      </p:sp>
      <p:sp>
        <p:nvSpPr>
          <p:cNvPr id="28" name="Text 26"/>
          <p:cNvSpPr txBox="1"/>
          <p:nvPr/>
        </p:nvSpPr>
        <p:spPr>
          <a:xfrm>
            <a:off x="640080" y="5212080"/>
            <a:ext cx="9144000" cy="457200"/>
          </a:xfrm>
          <a:prstGeom prst="rect">
            <a:avLst/>
          </a:prstGeom>
          <a:noFill/>
          <a:ln/>
        </p:spPr>
        <p:txBody>
          <a:bodyPr wrap="square" lIns="0" tIns="0" rIns="0" bIns="0" rtlCol="0" anchor="t"/>
          <a:lstStyle/>
          <a:p>
            <a:pPr algn="l" indent="0" marL="0">
              <a:lnSpc>
                <a:spcPct val="120000"/>
              </a:lnSpc>
              <a:buNone/>
            </a:pPr>
            <a:r>
              <a:rPr lang="en-US" sz="1400" i="1" dirty="0">
                <a:solidFill>
                  <a:srgbClr val="C9C3E3"/>
                </a:solidFill>
                <a:latin typeface="Calibri" pitchFamily="34" charset="0"/>
                <a:ea typeface="Calibri" pitchFamily="34" charset="-122"/>
                <a:cs typeface="Calibri" pitchFamily="34" charset="-120"/>
              </a:rPr>
              <a:t>No paywall mid-session. The card is never behind one at all.</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6400800"/>
            <a:ext cx="8686800" cy="228600"/>
          </a:xfrm>
          <a:prstGeom prst="rect">
            <a:avLst/>
          </a:prstGeom>
          <a:noFill/>
          <a:ln/>
        </p:spPr>
        <p:txBody>
          <a:bodyPr wrap="square" lIns="0" tIns="0" rIns="0" bIns="0" rtlCol="0" anchor="ctr"/>
          <a:lstStyle/>
          <a:p>
            <a:pPr indent="0" marL="0">
              <a:buNone/>
            </a:pPr>
            <a:r>
              <a:rPr lang="en-US" sz="850" spc="100" kern="0" dirty="0">
                <a:solidFill>
                  <a:srgbClr val="C9C3E3"/>
                </a:solidFill>
                <a:latin typeface="Courier New" pitchFamily="34" charset="0"/>
                <a:ea typeface="Courier New" pitchFamily="34" charset="-122"/>
                <a:cs typeface="Courier New" pitchFamily="34" charset="-120"/>
              </a:rPr>
              <a:t>SUEDE MUSE · MUSE.SUEDEAI.AI · ONE CREATIVE CONSTRAINT A NIGHT</a:t>
            </a:r>
            <a:endParaRPr lang="en-US" sz="850" dirty="0"/>
          </a:p>
        </p:txBody>
      </p:sp>
      <p:sp>
        <p:nvSpPr>
          <p:cNvPr id="3" name="Text 1"/>
          <p:cNvSpPr txBox="1"/>
          <p:nvPr/>
        </p:nvSpPr>
        <p:spPr>
          <a:xfrm>
            <a:off x="10637215" y="6400800"/>
            <a:ext cx="914400" cy="228600"/>
          </a:xfrm>
          <a:prstGeom prst="rect">
            <a:avLst/>
          </a:prstGeom>
          <a:noFill/>
          <a:ln/>
        </p:spPr>
        <p:txBody>
          <a:bodyPr wrap="square" lIns="0" tIns="0" rIns="0" bIns="0" rtlCol="0" anchor="ctr"/>
          <a:lstStyle/>
          <a:p>
            <a:pPr algn="r" indent="0" marL="0">
              <a:buNone/>
            </a:pPr>
            <a:r>
              <a:rPr lang="en-US" sz="850" dirty="0">
                <a:solidFill>
                  <a:srgbClr val="C9C3E3"/>
                </a:solidFill>
                <a:latin typeface="Courier New" pitchFamily="34" charset="0"/>
                <a:ea typeface="Courier New" pitchFamily="34" charset="-122"/>
                <a:cs typeface="Courier New" pitchFamily="34" charset="-120"/>
              </a:rPr>
              <a:t>05</a:t>
            </a:r>
            <a:endParaRPr lang="en-US" sz="850" dirty="0"/>
          </a:p>
        </p:txBody>
      </p:sp>
      <p:sp>
        <p:nvSpPr>
          <p:cNvPr id="4" name="Text 2"/>
          <p:cNvSpPr txBox="1"/>
          <p:nvPr/>
        </p:nvSpPr>
        <p:spPr>
          <a:xfrm>
            <a:off x="640080" y="548640"/>
            <a:ext cx="9144000" cy="256032"/>
          </a:xfrm>
          <a:prstGeom prst="rect">
            <a:avLst/>
          </a:prstGeom>
          <a:noFill/>
          <a:ln/>
        </p:spPr>
        <p:txBody>
          <a:bodyPr wrap="square" lIns="0" tIns="0" rIns="0" bIns="0" rtlCol="0" anchor="ctr"/>
          <a:lstStyle/>
          <a:p>
            <a:pPr indent="0" marL="0">
              <a:buNone/>
            </a:pPr>
            <a:r>
              <a:rPr lang="en-US" sz="950" spc="250" kern="0" dirty="0">
                <a:solidFill>
                  <a:srgbClr val="C4B5FD"/>
                </a:solidFill>
                <a:latin typeface="Courier New" pitchFamily="34" charset="0"/>
                <a:ea typeface="Courier New" pitchFamily="34" charset="-122"/>
                <a:cs typeface="Courier New" pitchFamily="34" charset="-120"/>
              </a:rPr>
              <a:t>04 — BUILT TO BE TRUSTED</a:t>
            </a:r>
            <a:endParaRPr lang="en-US" sz="950" dirty="0"/>
          </a:p>
        </p:txBody>
      </p:sp>
      <p:sp>
        <p:nvSpPr>
          <p:cNvPr id="5" name="Text 3"/>
          <p:cNvSpPr txBox="1"/>
          <p:nvPr/>
        </p:nvSpPr>
        <p:spPr>
          <a:xfrm>
            <a:off x="640080" y="868680"/>
            <a:ext cx="9144000" cy="510540"/>
          </a:xfrm>
          <a:prstGeom prst="rect">
            <a:avLst/>
          </a:prstGeom>
          <a:noFill/>
          <a:ln/>
        </p:spPr>
        <p:txBody>
          <a:bodyPr wrap="square" lIns="0" tIns="0" rIns="0" bIns="0" rtlCol="0" anchor="t"/>
          <a:lstStyle/>
          <a:p>
            <a:pPr algn="l" indent="0" marL="0">
              <a:lnSpc>
                <a:spcPct val="105000"/>
              </a:lnSpc>
              <a:buNone/>
            </a:pPr>
            <a:r>
              <a:rPr lang="en-US" sz="3000" dirty="0">
                <a:solidFill>
                  <a:srgbClr val="F4F5F9"/>
                </a:solidFill>
                <a:latin typeface="Cambria" pitchFamily="34" charset="0"/>
                <a:ea typeface="Cambria" pitchFamily="34" charset="-122"/>
                <a:cs typeface="Cambria" pitchFamily="34" charset="-120"/>
              </a:rPr>
              <a:t>Muse tells you where it fails.</a:t>
            </a:r>
            <a:endParaRPr lang="en-US" sz="3000" dirty="0"/>
          </a:p>
        </p:txBody>
      </p:sp>
      <p:sp>
        <p:nvSpPr>
          <p:cNvPr id="6" name="Text 4"/>
          <p:cNvSpPr txBox="1"/>
          <p:nvPr/>
        </p:nvSpPr>
        <p:spPr>
          <a:xfrm>
            <a:off x="640080" y="1783080"/>
            <a:ext cx="5760720" cy="1737360"/>
          </a:xfrm>
          <a:prstGeom prst="rect">
            <a:avLst/>
          </a:prstGeom>
          <a:noFill/>
          <a:ln/>
        </p:spPr>
        <p:txBody>
          <a:bodyPr wrap="square" lIns="0" tIns="0" rIns="0" bIns="0" rtlCol="0" anchor="t"/>
          <a:lstStyle/>
          <a:p>
            <a:pPr algn="l" indent="0" marL="0">
              <a:lnSpc>
                <a:spcPct val="120000"/>
              </a:lnSpc>
              <a:buNone/>
            </a:pPr>
            <a:r>
              <a:rPr lang="en-US" sz="1350" dirty="0">
                <a:solidFill>
                  <a:srgbClr val="C9C3E3"/>
                </a:solidFill>
                <a:latin typeface="Calibri" pitchFamily="34" charset="0"/>
                <a:ea typeface="Calibri" pitchFamily="34" charset="-122"/>
                <a:cs typeface="Calibri" pitchFamily="34" charset="-120"/>
              </a:rPr>
              <a:t>The docs openly disclose the AI's failure modes at /docs/limitations, a real expertise-and-trust signal rather than a marketing page. Today's card is client-rendered, but every past night has a fully static, crawlable permalink, and the site allows every major AI crawler by name.</a:t>
            </a:r>
            <a:endParaRPr lang="en-US" sz="1350" dirty="0"/>
          </a:p>
        </p:txBody>
      </p:sp>
      <p:sp>
        <p:nvSpPr>
          <p:cNvPr id="7" name="Shape 5"/>
          <p:cNvSpPr/>
          <p:nvPr/>
        </p:nvSpPr>
        <p:spPr>
          <a:xfrm>
            <a:off x="640080" y="3703320"/>
            <a:ext cx="2798064" cy="603504"/>
          </a:xfrm>
          <a:prstGeom prst="roundRect">
            <a:avLst>
              <a:gd name="adj" fmla="val 12121"/>
            </a:avLst>
          </a:prstGeom>
          <a:solidFill>
            <a:srgbClr val="1D1836"/>
          </a:solidFill>
          <a:ln w="9525">
            <a:solidFill>
              <a:srgbClr val="3A3260"/>
            </a:solidFill>
            <a:prstDash val="solid"/>
          </a:ln>
        </p:spPr>
      </p:sp>
      <p:sp>
        <p:nvSpPr>
          <p:cNvPr id="8" name="Text 6"/>
          <p:cNvSpPr txBox="1"/>
          <p:nvPr/>
        </p:nvSpPr>
        <p:spPr>
          <a:xfrm>
            <a:off x="640080" y="3703320"/>
            <a:ext cx="2798064" cy="603504"/>
          </a:xfrm>
          <a:prstGeom prst="rect">
            <a:avLst/>
          </a:prstGeom>
          <a:noFill/>
          <a:ln/>
        </p:spPr>
        <p:txBody>
          <a:bodyPr wrap="square" lIns="0" tIns="0" rIns="0" bIns="0" rtlCol="0" anchor="ctr"/>
          <a:lstStyle/>
          <a:p>
            <a:pPr algn="ctr" indent="0" marL="0">
              <a:buNone/>
            </a:pPr>
            <a:r>
              <a:rPr lang="en-US" sz="1200" b="1" dirty="0">
                <a:solidFill>
                  <a:srgbClr val="F4F5F9"/>
                </a:solidFill>
                <a:latin typeface="Calibri" pitchFamily="34" charset="0"/>
                <a:ea typeface="Calibri" pitchFamily="34" charset="-122"/>
                <a:cs typeface="Calibri" pitchFamily="34" charset="-120"/>
              </a:rPr>
              <a:t>SwiftUI · iOS 17</a:t>
            </a:r>
            <a:endParaRPr lang="en-US" sz="1200" dirty="0"/>
          </a:p>
        </p:txBody>
      </p:sp>
      <p:sp>
        <p:nvSpPr>
          <p:cNvPr id="9" name="Shape 7"/>
          <p:cNvSpPr/>
          <p:nvPr/>
        </p:nvSpPr>
        <p:spPr>
          <a:xfrm>
            <a:off x="3602736" y="3703320"/>
            <a:ext cx="2798064" cy="603504"/>
          </a:xfrm>
          <a:prstGeom prst="roundRect">
            <a:avLst>
              <a:gd name="adj" fmla="val 12121"/>
            </a:avLst>
          </a:prstGeom>
          <a:solidFill>
            <a:srgbClr val="1D1836"/>
          </a:solidFill>
          <a:ln w="9525">
            <a:solidFill>
              <a:srgbClr val="3A3260"/>
            </a:solidFill>
            <a:prstDash val="solid"/>
          </a:ln>
        </p:spPr>
      </p:sp>
      <p:sp>
        <p:nvSpPr>
          <p:cNvPr id="10" name="Text 8"/>
          <p:cNvSpPr txBox="1"/>
          <p:nvPr/>
        </p:nvSpPr>
        <p:spPr>
          <a:xfrm>
            <a:off x="3602736" y="3703320"/>
            <a:ext cx="2798064" cy="603504"/>
          </a:xfrm>
          <a:prstGeom prst="rect">
            <a:avLst/>
          </a:prstGeom>
          <a:noFill/>
          <a:ln/>
        </p:spPr>
        <p:txBody>
          <a:bodyPr wrap="square" lIns="0" tIns="0" rIns="0" bIns="0" rtlCol="0" anchor="ctr"/>
          <a:lstStyle/>
          <a:p>
            <a:pPr algn="ctr" indent="0" marL="0">
              <a:buNone/>
            </a:pPr>
            <a:r>
              <a:rPr lang="en-US" sz="1200" b="1" dirty="0">
                <a:solidFill>
                  <a:srgbClr val="F4F5F9"/>
                </a:solidFill>
                <a:latin typeface="Calibri" pitchFamily="34" charset="0"/>
                <a:ea typeface="Calibri" pitchFamily="34" charset="-122"/>
                <a:cs typeface="Calibri" pitchFamily="34" charset="-120"/>
              </a:rPr>
              <a:t>Supabase</a:t>
            </a:r>
            <a:endParaRPr lang="en-US" sz="1200" dirty="0"/>
          </a:p>
        </p:txBody>
      </p:sp>
      <p:sp>
        <p:nvSpPr>
          <p:cNvPr id="11" name="Shape 9"/>
          <p:cNvSpPr/>
          <p:nvPr/>
        </p:nvSpPr>
        <p:spPr>
          <a:xfrm>
            <a:off x="640080" y="4471416"/>
            <a:ext cx="2798064" cy="603504"/>
          </a:xfrm>
          <a:prstGeom prst="roundRect">
            <a:avLst>
              <a:gd name="adj" fmla="val 12121"/>
            </a:avLst>
          </a:prstGeom>
          <a:solidFill>
            <a:srgbClr val="1D1836"/>
          </a:solidFill>
          <a:ln w="9525">
            <a:solidFill>
              <a:srgbClr val="3A3260"/>
            </a:solidFill>
            <a:prstDash val="solid"/>
          </a:ln>
        </p:spPr>
      </p:sp>
      <p:sp>
        <p:nvSpPr>
          <p:cNvPr id="12" name="Text 10"/>
          <p:cNvSpPr txBox="1"/>
          <p:nvPr/>
        </p:nvSpPr>
        <p:spPr>
          <a:xfrm>
            <a:off x="640080" y="4471416"/>
            <a:ext cx="2798064" cy="603504"/>
          </a:xfrm>
          <a:prstGeom prst="rect">
            <a:avLst/>
          </a:prstGeom>
          <a:noFill/>
          <a:ln/>
        </p:spPr>
        <p:txBody>
          <a:bodyPr wrap="square" lIns="0" tIns="0" rIns="0" bIns="0" rtlCol="0" anchor="ctr"/>
          <a:lstStyle/>
          <a:p>
            <a:pPr algn="ctr" indent="0" marL="0">
              <a:buNone/>
            </a:pPr>
            <a:r>
              <a:rPr lang="en-US" sz="1200" b="1" dirty="0">
                <a:solidFill>
                  <a:srgbClr val="F4F5F9"/>
                </a:solidFill>
                <a:latin typeface="Calibri" pitchFamily="34" charset="0"/>
                <a:ea typeface="Calibri" pitchFamily="34" charset="-122"/>
                <a:cs typeface="Calibri" pitchFamily="34" charset="-120"/>
              </a:rPr>
              <a:t>Web + iOS</a:t>
            </a:r>
            <a:endParaRPr lang="en-US" sz="1200" dirty="0"/>
          </a:p>
        </p:txBody>
      </p:sp>
      <p:sp>
        <p:nvSpPr>
          <p:cNvPr id="13" name="Shape 11"/>
          <p:cNvSpPr/>
          <p:nvPr/>
        </p:nvSpPr>
        <p:spPr>
          <a:xfrm>
            <a:off x="3602736" y="4471416"/>
            <a:ext cx="2798064" cy="603504"/>
          </a:xfrm>
          <a:prstGeom prst="roundRect">
            <a:avLst>
              <a:gd name="adj" fmla="val 12121"/>
            </a:avLst>
          </a:prstGeom>
          <a:solidFill>
            <a:srgbClr val="1D1836"/>
          </a:solidFill>
          <a:ln w="9525">
            <a:solidFill>
              <a:srgbClr val="3A3260"/>
            </a:solidFill>
            <a:prstDash val="solid"/>
          </a:ln>
        </p:spPr>
      </p:sp>
      <p:sp>
        <p:nvSpPr>
          <p:cNvPr id="14" name="Text 12"/>
          <p:cNvSpPr txBox="1"/>
          <p:nvPr/>
        </p:nvSpPr>
        <p:spPr>
          <a:xfrm>
            <a:off x="3602736" y="4471416"/>
            <a:ext cx="2798064" cy="603504"/>
          </a:xfrm>
          <a:prstGeom prst="rect">
            <a:avLst/>
          </a:prstGeom>
          <a:noFill/>
          <a:ln/>
        </p:spPr>
        <p:txBody>
          <a:bodyPr wrap="square" lIns="0" tIns="0" rIns="0" bIns="0" rtlCol="0" anchor="ctr"/>
          <a:lstStyle/>
          <a:p>
            <a:pPr algn="ctr" indent="0" marL="0">
              <a:buNone/>
            </a:pPr>
            <a:r>
              <a:rPr lang="en-US" sz="1200" b="1" dirty="0">
                <a:solidFill>
                  <a:srgbClr val="F4F5F9"/>
                </a:solidFill>
                <a:latin typeface="Calibri" pitchFamily="34" charset="0"/>
                <a:ea typeface="Calibri" pitchFamily="34" charset="-122"/>
                <a:cs typeface="Calibri" pitchFamily="34" charset="-120"/>
              </a:rPr>
              <a:t>Provenance per session</a:t>
            </a:r>
            <a:endParaRPr lang="en-US" sz="1200" dirty="0"/>
          </a:p>
        </p:txBody>
      </p:sp>
      <p:sp>
        <p:nvSpPr>
          <p:cNvPr id="15" name="Shape 13"/>
          <p:cNvSpPr/>
          <p:nvPr/>
        </p:nvSpPr>
        <p:spPr>
          <a:xfrm>
            <a:off x="6766560" y="1783080"/>
            <a:ext cx="4800600" cy="3200400"/>
          </a:xfrm>
          <a:prstGeom prst="roundRect">
            <a:avLst>
              <a:gd name="adj" fmla="val 3429"/>
            </a:avLst>
          </a:prstGeom>
          <a:solidFill>
            <a:srgbClr val="0D0A1C"/>
          </a:solidFill>
          <a:ln w="9525">
            <a:solidFill>
              <a:srgbClr val="2E2850"/>
            </a:solidFill>
            <a:prstDash val="solid"/>
          </a:ln>
          <a:effectLst>
            <a:outerShdw sx="100000" sy="100000" kx="0" ky="0" algn="bl" rotWithShape="0" blurRad="152400" dist="38100" dir="5400000">
              <a:srgbClr val="000000">
                <a:alpha val="35000"/>
              </a:srgbClr>
            </a:outerShdw>
          </a:effectLst>
        </p:spPr>
      </p:sp>
      <p:sp>
        <p:nvSpPr>
          <p:cNvPr id="16" name="Text 14"/>
          <p:cNvSpPr txBox="1"/>
          <p:nvPr/>
        </p:nvSpPr>
        <p:spPr>
          <a:xfrm>
            <a:off x="7040880" y="1947672"/>
            <a:ext cx="4251960" cy="228600"/>
          </a:xfrm>
          <a:prstGeom prst="rect">
            <a:avLst/>
          </a:prstGeom>
          <a:noFill/>
          <a:ln/>
        </p:spPr>
        <p:txBody>
          <a:bodyPr wrap="square" lIns="0" tIns="0" rIns="0" bIns="0" rtlCol="0" anchor="ctr"/>
          <a:lstStyle/>
          <a:p>
            <a:pPr indent="0" marL="0">
              <a:buNone/>
            </a:pPr>
            <a:r>
              <a:rPr lang="en-US" sz="850" spc="250" kern="0" dirty="0">
                <a:solidFill>
                  <a:srgbClr val="C4B5FD"/>
                </a:solidFill>
                <a:latin typeface="Courier New" pitchFamily="34" charset="0"/>
                <a:ea typeface="Courier New" pitchFamily="34" charset="-122"/>
                <a:cs typeface="Courier New" pitchFamily="34" charset="-120"/>
              </a:rPr>
              <a:t>PLATFORM</a:t>
            </a:r>
            <a:endParaRPr lang="en-US" sz="850" dirty="0"/>
          </a:p>
        </p:txBody>
      </p:sp>
      <p:sp>
        <p:nvSpPr>
          <p:cNvPr id="17" name="Shape 15"/>
          <p:cNvSpPr/>
          <p:nvPr/>
        </p:nvSpPr>
        <p:spPr>
          <a:xfrm>
            <a:off x="7040880" y="2286000"/>
            <a:ext cx="4251960" cy="0"/>
          </a:xfrm>
          <a:prstGeom prst="line">
            <a:avLst/>
          </a:prstGeom>
          <a:noFill/>
          <a:ln w="9525">
            <a:solidFill>
              <a:srgbClr val="2E2850"/>
            </a:solidFill>
            <a:prstDash val="solid"/>
          </a:ln>
        </p:spPr>
      </p:sp>
      <p:sp>
        <p:nvSpPr>
          <p:cNvPr id="18" name="Text 16"/>
          <p:cNvSpPr txBox="1"/>
          <p:nvPr/>
        </p:nvSpPr>
        <p:spPr>
          <a:xfrm>
            <a:off x="7040880" y="2377440"/>
            <a:ext cx="1439266" cy="384048"/>
          </a:xfrm>
          <a:prstGeom prst="rect">
            <a:avLst/>
          </a:prstGeom>
          <a:noFill/>
          <a:ln/>
        </p:spPr>
        <p:txBody>
          <a:bodyPr wrap="square" lIns="0" tIns="0" rIns="0" bIns="0" rtlCol="0" anchor="ctr"/>
          <a:lstStyle/>
          <a:p>
            <a:pPr indent="0" marL="0">
              <a:buNone/>
            </a:pPr>
            <a:r>
              <a:rPr lang="en-US" sz="1200" dirty="0">
                <a:solidFill>
                  <a:srgbClr val="E6E8F0"/>
                </a:solidFill>
                <a:latin typeface="Calibri" pitchFamily="34" charset="0"/>
                <a:ea typeface="Calibri" pitchFamily="34" charset="-122"/>
                <a:cs typeface="Calibri" pitchFamily="34" charset="-120"/>
              </a:rPr>
              <a:t>Web</a:t>
            </a:r>
            <a:endParaRPr lang="en-US" sz="1200" dirty="0"/>
          </a:p>
        </p:txBody>
      </p:sp>
      <p:sp>
        <p:nvSpPr>
          <p:cNvPr id="19" name="Text 17"/>
          <p:cNvSpPr txBox="1"/>
          <p:nvPr/>
        </p:nvSpPr>
        <p:spPr>
          <a:xfrm>
            <a:off x="8571586" y="2377440"/>
            <a:ext cx="2721254" cy="384048"/>
          </a:xfrm>
          <a:prstGeom prst="rect">
            <a:avLst/>
          </a:prstGeom>
          <a:noFill/>
          <a:ln/>
        </p:spPr>
        <p:txBody>
          <a:bodyPr wrap="square" lIns="0" tIns="0" rIns="0" bIns="0" rtlCol="0" anchor="ctr"/>
          <a:lstStyle/>
          <a:p>
            <a:pPr algn="r" indent="0" marL="0">
              <a:buNone/>
            </a:pPr>
            <a:r>
              <a:rPr lang="en-US" sz="950" dirty="0">
                <a:solidFill>
                  <a:srgbClr val="C4B5FD"/>
                </a:solidFill>
                <a:latin typeface="Courier New" pitchFamily="34" charset="0"/>
                <a:ea typeface="Courier New" pitchFamily="34" charset="-122"/>
                <a:cs typeface="Courier New" pitchFamily="34" charset="-120"/>
              </a:rPr>
              <a:t>muse.suedeai.ai</a:t>
            </a:r>
            <a:endParaRPr lang="en-US" sz="950" dirty="0"/>
          </a:p>
        </p:txBody>
      </p:sp>
      <p:sp>
        <p:nvSpPr>
          <p:cNvPr id="20" name="Shape 18"/>
          <p:cNvSpPr/>
          <p:nvPr/>
        </p:nvSpPr>
        <p:spPr>
          <a:xfrm>
            <a:off x="7040880" y="2798064"/>
            <a:ext cx="4251960" cy="0"/>
          </a:xfrm>
          <a:prstGeom prst="line">
            <a:avLst/>
          </a:prstGeom>
          <a:noFill/>
          <a:ln w="9525">
            <a:solidFill>
              <a:srgbClr val="2E2850"/>
            </a:solidFill>
            <a:prstDash val="solid"/>
          </a:ln>
        </p:spPr>
      </p:sp>
      <p:sp>
        <p:nvSpPr>
          <p:cNvPr id="21" name="Text 19"/>
          <p:cNvSpPr txBox="1"/>
          <p:nvPr/>
        </p:nvSpPr>
        <p:spPr>
          <a:xfrm>
            <a:off x="7040880" y="2889504"/>
            <a:ext cx="1439266" cy="384048"/>
          </a:xfrm>
          <a:prstGeom prst="rect">
            <a:avLst/>
          </a:prstGeom>
          <a:noFill/>
          <a:ln/>
        </p:spPr>
        <p:txBody>
          <a:bodyPr wrap="square" lIns="0" tIns="0" rIns="0" bIns="0" rtlCol="0" anchor="ctr"/>
          <a:lstStyle/>
          <a:p>
            <a:pPr indent="0" marL="0">
              <a:buNone/>
            </a:pPr>
            <a:r>
              <a:rPr lang="en-US" sz="1200" dirty="0">
                <a:solidFill>
                  <a:srgbClr val="E6E8F0"/>
                </a:solidFill>
                <a:latin typeface="Calibri" pitchFamily="34" charset="0"/>
                <a:ea typeface="Calibri" pitchFamily="34" charset="-122"/>
                <a:cs typeface="Calibri" pitchFamily="34" charset="-120"/>
              </a:rPr>
              <a:t>iOS app</a:t>
            </a:r>
            <a:endParaRPr lang="en-US" sz="1200" dirty="0"/>
          </a:p>
        </p:txBody>
      </p:sp>
      <p:sp>
        <p:nvSpPr>
          <p:cNvPr id="22" name="Text 20"/>
          <p:cNvSpPr txBox="1"/>
          <p:nvPr/>
        </p:nvSpPr>
        <p:spPr>
          <a:xfrm>
            <a:off x="8571586" y="2889504"/>
            <a:ext cx="2721254" cy="384048"/>
          </a:xfrm>
          <a:prstGeom prst="rect">
            <a:avLst/>
          </a:prstGeom>
          <a:noFill/>
          <a:ln/>
        </p:spPr>
        <p:txBody>
          <a:bodyPr wrap="square" lIns="0" tIns="0" rIns="0" bIns="0" rtlCol="0" anchor="ctr"/>
          <a:lstStyle/>
          <a:p>
            <a:pPr algn="r" indent="0" marL="0">
              <a:buNone/>
            </a:pPr>
            <a:r>
              <a:rPr lang="en-US" sz="950" dirty="0">
                <a:solidFill>
                  <a:srgbClr val="C4B5FD"/>
                </a:solidFill>
                <a:latin typeface="Courier New" pitchFamily="34" charset="0"/>
                <a:ea typeface="Courier New" pitchFamily="34" charset="-122"/>
                <a:cs typeface="Courier New" pitchFamily="34" charset="-120"/>
              </a:rPr>
              <a:t>Suede Studio Muse · App Store</a:t>
            </a:r>
            <a:endParaRPr lang="en-US" sz="950" dirty="0"/>
          </a:p>
        </p:txBody>
      </p:sp>
      <p:sp>
        <p:nvSpPr>
          <p:cNvPr id="23" name="Shape 21"/>
          <p:cNvSpPr/>
          <p:nvPr/>
        </p:nvSpPr>
        <p:spPr>
          <a:xfrm>
            <a:off x="7040880" y="3310128"/>
            <a:ext cx="4251960" cy="0"/>
          </a:xfrm>
          <a:prstGeom prst="line">
            <a:avLst/>
          </a:prstGeom>
          <a:noFill/>
          <a:ln w="9525">
            <a:solidFill>
              <a:srgbClr val="2E2850"/>
            </a:solidFill>
            <a:prstDash val="solid"/>
          </a:ln>
        </p:spPr>
      </p:sp>
      <p:sp>
        <p:nvSpPr>
          <p:cNvPr id="24" name="Text 22"/>
          <p:cNvSpPr txBox="1"/>
          <p:nvPr/>
        </p:nvSpPr>
        <p:spPr>
          <a:xfrm>
            <a:off x="7040880" y="3401568"/>
            <a:ext cx="1439266" cy="384048"/>
          </a:xfrm>
          <a:prstGeom prst="rect">
            <a:avLst/>
          </a:prstGeom>
          <a:noFill/>
          <a:ln/>
        </p:spPr>
        <p:txBody>
          <a:bodyPr wrap="square" lIns="0" tIns="0" rIns="0" bIns="0" rtlCol="0" anchor="ctr"/>
          <a:lstStyle/>
          <a:p>
            <a:pPr indent="0" marL="0">
              <a:buNone/>
            </a:pPr>
            <a:r>
              <a:rPr lang="en-US" sz="1200" dirty="0">
                <a:solidFill>
                  <a:srgbClr val="E6E8F0"/>
                </a:solidFill>
                <a:latin typeface="Calibri" pitchFamily="34" charset="0"/>
                <a:ea typeface="Calibri" pitchFamily="34" charset="-122"/>
                <a:cs typeface="Calibri" pitchFamily="34" charset="-120"/>
              </a:rPr>
              <a:t>Bundle</a:t>
            </a:r>
            <a:endParaRPr lang="en-US" sz="1200" dirty="0"/>
          </a:p>
        </p:txBody>
      </p:sp>
      <p:sp>
        <p:nvSpPr>
          <p:cNvPr id="25" name="Text 23"/>
          <p:cNvSpPr txBox="1"/>
          <p:nvPr/>
        </p:nvSpPr>
        <p:spPr>
          <a:xfrm>
            <a:off x="8571586" y="3401568"/>
            <a:ext cx="2721254" cy="384048"/>
          </a:xfrm>
          <a:prstGeom prst="rect">
            <a:avLst/>
          </a:prstGeom>
          <a:noFill/>
          <a:ln/>
        </p:spPr>
        <p:txBody>
          <a:bodyPr wrap="square" lIns="0" tIns="0" rIns="0" bIns="0" rtlCol="0" anchor="ctr"/>
          <a:lstStyle/>
          <a:p>
            <a:pPr algn="r" indent="0" marL="0">
              <a:buNone/>
            </a:pPr>
            <a:r>
              <a:rPr lang="en-US" sz="950" dirty="0">
                <a:solidFill>
                  <a:srgbClr val="C4B5FD"/>
                </a:solidFill>
                <a:latin typeface="Courier New" pitchFamily="34" charset="0"/>
                <a:ea typeface="Courier New" pitchFamily="34" charset="-122"/>
                <a:cs typeface="Courier New" pitchFamily="34" charset="-120"/>
              </a:rPr>
              <a:t>ai.suede.muse</a:t>
            </a:r>
            <a:endParaRPr lang="en-US" sz="950" dirty="0"/>
          </a:p>
        </p:txBody>
      </p:sp>
      <p:sp>
        <p:nvSpPr>
          <p:cNvPr id="26" name="Shape 24"/>
          <p:cNvSpPr/>
          <p:nvPr/>
        </p:nvSpPr>
        <p:spPr>
          <a:xfrm>
            <a:off x="7040880" y="3822192"/>
            <a:ext cx="4251960" cy="0"/>
          </a:xfrm>
          <a:prstGeom prst="line">
            <a:avLst/>
          </a:prstGeom>
          <a:noFill/>
          <a:ln w="9525">
            <a:solidFill>
              <a:srgbClr val="2E2850"/>
            </a:solidFill>
            <a:prstDash val="solid"/>
          </a:ln>
        </p:spPr>
      </p:sp>
      <p:sp>
        <p:nvSpPr>
          <p:cNvPr id="27" name="Text 25"/>
          <p:cNvSpPr txBox="1"/>
          <p:nvPr/>
        </p:nvSpPr>
        <p:spPr>
          <a:xfrm>
            <a:off x="7040880" y="3913632"/>
            <a:ext cx="1439266" cy="384048"/>
          </a:xfrm>
          <a:prstGeom prst="rect">
            <a:avLst/>
          </a:prstGeom>
          <a:noFill/>
          <a:ln/>
        </p:spPr>
        <p:txBody>
          <a:bodyPr wrap="square" lIns="0" tIns="0" rIns="0" bIns="0" rtlCol="0" anchor="ctr"/>
          <a:lstStyle/>
          <a:p>
            <a:pPr indent="0" marL="0">
              <a:buNone/>
            </a:pPr>
            <a:r>
              <a:rPr lang="en-US" sz="1200" dirty="0">
                <a:solidFill>
                  <a:srgbClr val="E6E8F0"/>
                </a:solidFill>
                <a:latin typeface="Calibri" pitchFamily="34" charset="0"/>
                <a:ea typeface="Calibri" pitchFamily="34" charset="-122"/>
                <a:cs typeface="Calibri" pitchFamily="34" charset="-120"/>
              </a:rPr>
              <a:t>Sibling apps</a:t>
            </a:r>
            <a:endParaRPr lang="en-US" sz="1200" dirty="0"/>
          </a:p>
        </p:txBody>
      </p:sp>
      <p:sp>
        <p:nvSpPr>
          <p:cNvPr id="28" name="Text 26"/>
          <p:cNvSpPr txBox="1"/>
          <p:nvPr/>
        </p:nvSpPr>
        <p:spPr>
          <a:xfrm>
            <a:off x="8571586" y="3913632"/>
            <a:ext cx="2721254" cy="384048"/>
          </a:xfrm>
          <a:prstGeom prst="rect">
            <a:avLst/>
          </a:prstGeom>
          <a:noFill/>
          <a:ln/>
        </p:spPr>
        <p:txBody>
          <a:bodyPr wrap="square" lIns="0" tIns="0" rIns="0" bIns="0" rtlCol="0" anchor="ctr"/>
          <a:lstStyle/>
          <a:p>
            <a:pPr algn="r" indent="0" marL="0">
              <a:buNone/>
            </a:pPr>
            <a:r>
              <a:rPr lang="en-US" sz="950" dirty="0">
                <a:solidFill>
                  <a:srgbClr val="C4B5FD"/>
                </a:solidFill>
                <a:latin typeface="Courier New" pitchFamily="34" charset="0"/>
                <a:ea typeface="Courier New" pitchFamily="34" charset="-122"/>
                <a:cs typeface="Courier New" pitchFamily="34" charset="-120"/>
              </a:rPr>
              <a:t>Guitar Studio · Sing · AI Music</a:t>
            </a:r>
            <a:endParaRPr lang="en-US" sz="950" dirty="0"/>
          </a:p>
        </p:txBody>
      </p:sp>
      <p:sp>
        <p:nvSpPr>
          <p:cNvPr id="29" name="Shape 27"/>
          <p:cNvSpPr/>
          <p:nvPr/>
        </p:nvSpPr>
        <p:spPr>
          <a:xfrm>
            <a:off x="7040880" y="4334256"/>
            <a:ext cx="4251960" cy="0"/>
          </a:xfrm>
          <a:prstGeom prst="line">
            <a:avLst/>
          </a:prstGeom>
          <a:noFill/>
          <a:ln w="9525">
            <a:solidFill>
              <a:srgbClr val="2E2850"/>
            </a:solidFill>
            <a:prstDash val="solid"/>
          </a:ln>
        </p:spPr>
      </p:sp>
      <p:sp>
        <p:nvSpPr>
          <p:cNvPr id="30" name="Text 28"/>
          <p:cNvSpPr txBox="1"/>
          <p:nvPr/>
        </p:nvSpPr>
        <p:spPr>
          <a:xfrm>
            <a:off x="7040880" y="4425696"/>
            <a:ext cx="1439266" cy="384048"/>
          </a:xfrm>
          <a:prstGeom prst="rect">
            <a:avLst/>
          </a:prstGeom>
          <a:noFill/>
          <a:ln/>
        </p:spPr>
        <p:txBody>
          <a:bodyPr wrap="square" lIns="0" tIns="0" rIns="0" bIns="0" rtlCol="0" anchor="ctr"/>
          <a:lstStyle/>
          <a:p>
            <a:pPr indent="0" marL="0">
              <a:buNone/>
            </a:pPr>
            <a:r>
              <a:rPr lang="en-US" sz="1200" dirty="0">
                <a:solidFill>
                  <a:srgbClr val="E6E8F0"/>
                </a:solidFill>
                <a:latin typeface="Calibri" pitchFamily="34" charset="0"/>
                <a:ea typeface="Calibri" pitchFamily="34" charset="-122"/>
                <a:cs typeface="Calibri" pitchFamily="34" charset="-120"/>
              </a:rPr>
              <a:t>Privacy</a:t>
            </a:r>
            <a:endParaRPr lang="en-US" sz="1200" dirty="0"/>
          </a:p>
        </p:txBody>
      </p:sp>
      <p:sp>
        <p:nvSpPr>
          <p:cNvPr id="31" name="Text 29"/>
          <p:cNvSpPr txBox="1"/>
          <p:nvPr/>
        </p:nvSpPr>
        <p:spPr>
          <a:xfrm>
            <a:off x="8571586" y="4425696"/>
            <a:ext cx="2721254" cy="384048"/>
          </a:xfrm>
          <a:prstGeom prst="rect">
            <a:avLst/>
          </a:prstGeom>
          <a:noFill/>
          <a:ln/>
        </p:spPr>
        <p:txBody>
          <a:bodyPr wrap="square" lIns="0" tIns="0" rIns="0" bIns="0" rtlCol="0" anchor="ctr"/>
          <a:lstStyle/>
          <a:p>
            <a:pPr algn="r" indent="0" marL="0">
              <a:buNone/>
            </a:pPr>
            <a:r>
              <a:rPr lang="en-US" sz="950" dirty="0">
                <a:solidFill>
                  <a:srgbClr val="C4B5FD"/>
                </a:solidFill>
                <a:latin typeface="Courier New" pitchFamily="34" charset="0"/>
                <a:ea typeface="Courier New" pitchFamily="34" charset="-122"/>
                <a:cs typeface="Courier New" pitchFamily="34" charset="-120"/>
              </a:rPr>
              <a:t>muse.suedeai.ai/privacy</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6400800"/>
            <a:ext cx="8686800" cy="228600"/>
          </a:xfrm>
          <a:prstGeom prst="rect">
            <a:avLst/>
          </a:prstGeom>
          <a:noFill/>
          <a:ln/>
        </p:spPr>
        <p:txBody>
          <a:bodyPr wrap="square" lIns="0" tIns="0" rIns="0" bIns="0" rtlCol="0" anchor="ctr"/>
          <a:lstStyle/>
          <a:p>
            <a:pPr indent="0" marL="0">
              <a:buNone/>
            </a:pPr>
            <a:r>
              <a:rPr lang="en-US" sz="850" spc="100" kern="0" dirty="0">
                <a:solidFill>
                  <a:srgbClr val="C9C3E3"/>
                </a:solidFill>
                <a:latin typeface="Courier New" pitchFamily="34" charset="0"/>
                <a:ea typeface="Courier New" pitchFamily="34" charset="-122"/>
                <a:cs typeface="Courier New" pitchFamily="34" charset="-120"/>
              </a:rPr>
              <a:t>SUEDE MUSE · MUSE.SUEDEAI.AI · ONE CREATIVE CONSTRAINT A NIGHT</a:t>
            </a:r>
            <a:endParaRPr lang="en-US" sz="850" dirty="0"/>
          </a:p>
        </p:txBody>
      </p:sp>
      <p:sp>
        <p:nvSpPr>
          <p:cNvPr id="3" name="Text 1"/>
          <p:cNvSpPr txBox="1"/>
          <p:nvPr/>
        </p:nvSpPr>
        <p:spPr>
          <a:xfrm>
            <a:off x="10637215" y="6400800"/>
            <a:ext cx="914400" cy="228600"/>
          </a:xfrm>
          <a:prstGeom prst="rect">
            <a:avLst/>
          </a:prstGeom>
          <a:noFill/>
          <a:ln/>
        </p:spPr>
        <p:txBody>
          <a:bodyPr wrap="square" lIns="0" tIns="0" rIns="0" bIns="0" rtlCol="0" anchor="ctr"/>
          <a:lstStyle/>
          <a:p>
            <a:pPr algn="r" indent="0" marL="0">
              <a:buNone/>
            </a:pPr>
            <a:r>
              <a:rPr lang="en-US" sz="850" dirty="0">
                <a:solidFill>
                  <a:srgbClr val="C9C3E3"/>
                </a:solidFill>
                <a:latin typeface="Courier New" pitchFamily="34" charset="0"/>
                <a:ea typeface="Courier New" pitchFamily="34" charset="-122"/>
                <a:cs typeface="Courier New" pitchFamily="34" charset="-120"/>
              </a:rPr>
              <a:t>06</a:t>
            </a:r>
            <a:endParaRPr lang="en-US" sz="850" dirty="0"/>
          </a:p>
        </p:txBody>
      </p:sp>
      <p:sp>
        <p:nvSpPr>
          <p:cNvPr id="4" name="Text 2"/>
          <p:cNvSpPr txBox="1"/>
          <p:nvPr/>
        </p:nvSpPr>
        <p:spPr>
          <a:xfrm>
            <a:off x="640080" y="548640"/>
            <a:ext cx="9144000" cy="256032"/>
          </a:xfrm>
          <a:prstGeom prst="rect">
            <a:avLst/>
          </a:prstGeom>
          <a:noFill/>
          <a:ln/>
        </p:spPr>
        <p:txBody>
          <a:bodyPr wrap="square" lIns="0" tIns="0" rIns="0" bIns="0" rtlCol="0" anchor="ctr"/>
          <a:lstStyle/>
          <a:p>
            <a:pPr indent="0" marL="0">
              <a:buNone/>
            </a:pPr>
            <a:r>
              <a:rPr lang="en-US" sz="950" spc="250" kern="0" dirty="0">
                <a:solidFill>
                  <a:srgbClr val="C4B5FD"/>
                </a:solidFill>
                <a:latin typeface="Courier New" pitchFamily="34" charset="0"/>
                <a:ea typeface="Courier New" pitchFamily="34" charset="-122"/>
                <a:cs typeface="Courier New" pitchFamily="34" charset="-120"/>
              </a:rPr>
              <a:t>05 — PRICING</a:t>
            </a:r>
            <a:endParaRPr lang="en-US" sz="950" dirty="0"/>
          </a:p>
        </p:txBody>
      </p:sp>
      <p:sp>
        <p:nvSpPr>
          <p:cNvPr id="5" name="Text 3"/>
          <p:cNvSpPr txBox="1"/>
          <p:nvPr/>
        </p:nvSpPr>
        <p:spPr>
          <a:xfrm>
            <a:off x="640080" y="868680"/>
            <a:ext cx="9144000" cy="510540"/>
          </a:xfrm>
          <a:prstGeom prst="rect">
            <a:avLst/>
          </a:prstGeom>
          <a:noFill/>
          <a:ln/>
        </p:spPr>
        <p:txBody>
          <a:bodyPr wrap="square" lIns="0" tIns="0" rIns="0" bIns="0" rtlCol="0" anchor="t"/>
          <a:lstStyle/>
          <a:p>
            <a:pPr algn="l" indent="0" marL="0">
              <a:lnSpc>
                <a:spcPct val="105000"/>
              </a:lnSpc>
              <a:buNone/>
            </a:pPr>
            <a:r>
              <a:rPr lang="en-US" sz="3000" dirty="0">
                <a:solidFill>
                  <a:srgbClr val="F4F5F9"/>
                </a:solidFill>
                <a:latin typeface="Cambria" pitchFamily="34" charset="0"/>
                <a:ea typeface="Cambria" pitchFamily="34" charset="-122"/>
                <a:cs typeface="Cambria" pitchFamily="34" charset="-120"/>
              </a:rPr>
              <a:t>Free every night, or $4.99 a month.</a:t>
            </a:r>
            <a:endParaRPr lang="en-US" sz="3000" dirty="0"/>
          </a:p>
        </p:txBody>
      </p:sp>
      <p:sp>
        <p:nvSpPr>
          <p:cNvPr id="6" name="Shape 4"/>
          <p:cNvSpPr/>
          <p:nvPr/>
        </p:nvSpPr>
        <p:spPr>
          <a:xfrm>
            <a:off x="640080" y="1874520"/>
            <a:ext cx="5318608" cy="3566160"/>
          </a:xfrm>
          <a:prstGeom prst="roundRect">
            <a:avLst>
              <a:gd name="adj" fmla="val 3077"/>
            </a:avLst>
          </a:prstGeom>
          <a:solidFill>
            <a:srgbClr val="1D1836"/>
          </a:solidFill>
          <a:ln w="9525">
            <a:solidFill>
              <a:srgbClr val="3A3260"/>
            </a:solidFill>
            <a:prstDash val="solid"/>
          </a:ln>
          <a:effectLst>
            <a:outerShdw sx="100000" sy="100000" kx="0" ky="0" algn="bl" rotWithShape="0" blurRad="152400" dist="38100" dir="5400000">
              <a:srgbClr val="000000">
                <a:alpha val="35000"/>
              </a:srgbClr>
            </a:outerShdw>
          </a:effectLst>
        </p:spPr>
      </p:sp>
      <p:sp>
        <p:nvSpPr>
          <p:cNvPr id="7" name="Text 5"/>
          <p:cNvSpPr txBox="1"/>
          <p:nvPr/>
        </p:nvSpPr>
        <p:spPr>
          <a:xfrm>
            <a:off x="914400" y="2103120"/>
            <a:ext cx="3657600" cy="256032"/>
          </a:xfrm>
          <a:prstGeom prst="rect">
            <a:avLst/>
          </a:prstGeom>
          <a:noFill/>
          <a:ln/>
        </p:spPr>
        <p:txBody>
          <a:bodyPr wrap="square" lIns="0" tIns="0" rIns="0" bIns="0" rtlCol="0" anchor="ctr"/>
          <a:lstStyle/>
          <a:p>
            <a:pPr indent="0" marL="0">
              <a:buNone/>
            </a:pPr>
            <a:r>
              <a:rPr lang="en-US" sz="950" spc="250" kern="0" dirty="0">
                <a:solidFill>
                  <a:srgbClr val="C4B5FD"/>
                </a:solidFill>
                <a:latin typeface="Courier New" pitchFamily="34" charset="0"/>
                <a:ea typeface="Courier New" pitchFamily="34" charset="-122"/>
                <a:cs typeface="Courier New" pitchFamily="34" charset="-120"/>
              </a:rPr>
              <a:t>FREE</a:t>
            </a:r>
            <a:endParaRPr lang="en-US" sz="950" dirty="0"/>
          </a:p>
        </p:txBody>
      </p:sp>
      <p:sp>
        <p:nvSpPr>
          <p:cNvPr id="8" name="Text 6"/>
          <p:cNvSpPr txBox="1"/>
          <p:nvPr/>
        </p:nvSpPr>
        <p:spPr>
          <a:xfrm>
            <a:off x="914400" y="2377440"/>
            <a:ext cx="4572000" cy="822960"/>
          </a:xfrm>
          <a:prstGeom prst="rect">
            <a:avLst/>
          </a:prstGeom>
          <a:noFill/>
          <a:ln/>
        </p:spPr>
        <p:txBody>
          <a:bodyPr wrap="square" lIns="0" tIns="0" rIns="0" bIns="0" rtlCol="0" anchor="t"/>
          <a:lstStyle/>
          <a:p>
            <a:pPr algn="l" indent="0" marL="0">
              <a:lnSpc>
                <a:spcPct val="105000"/>
              </a:lnSpc>
              <a:buNone/>
            </a:pPr>
            <a:r>
              <a:rPr lang="en-US" sz="4000" dirty="0">
                <a:solidFill>
                  <a:srgbClr val="F4F5F9"/>
                </a:solidFill>
                <a:latin typeface="Cambria" pitchFamily="34" charset="0"/>
                <a:ea typeface="Cambria" pitchFamily="34" charset="-122"/>
                <a:cs typeface="Cambria" pitchFamily="34" charset="-120"/>
              </a:rPr>
              <a:t>$0, every night</a:t>
            </a:r>
            <a:endParaRPr lang="en-US" sz="4000" dirty="0"/>
          </a:p>
        </p:txBody>
      </p:sp>
      <p:sp>
        <p:nvSpPr>
          <p:cNvPr id="9" name="Text 7"/>
          <p:cNvSpPr txBox="1"/>
          <p:nvPr/>
        </p:nvSpPr>
        <p:spPr>
          <a:xfrm>
            <a:off x="914400" y="3337560"/>
            <a:ext cx="4769968" cy="1828800"/>
          </a:xfrm>
          <a:prstGeom prst="rect">
            <a:avLst/>
          </a:prstGeom>
          <a:noFill/>
          <a:ln/>
        </p:spPr>
        <p:txBody>
          <a:bodyPr wrap="square" lIns="0" tIns="0" rIns="0" bIns="0" rtlCol="0" anchor="t"/>
          <a:lstStyle/>
          <a:p>
            <a:pPr marL="177800" indent="-177800">
              <a:lnSpc>
                <a:spcPct val="115000"/>
              </a:lnSpc>
              <a:spcAft>
                <a:spcPts val="700"/>
              </a:spcAft>
              <a:buSzPct val="100000"/>
              <a:buChar char="•"/>
            </a:pPr>
            <a:r>
              <a:rPr lang="en-US" sz="1250" dirty="0">
                <a:solidFill>
                  <a:srgbClr val="C9C3E3"/>
                </a:solidFill>
                <a:latin typeface="Calibri" pitchFamily="34" charset="0"/>
                <a:ea typeface="Calibri" pitchFamily="34" charset="-122"/>
                <a:cs typeface="Calibri" pitchFamily="34" charset="-120"/>
              </a:rPr>
              <a:t>Tonight's card, always</a:t>
            </a:r>
            <a:endParaRPr lang="en-US" sz="1250" dirty="0"/>
          </a:p>
          <a:p>
            <a:pPr marL="177800" indent="-177800">
              <a:lnSpc>
                <a:spcPct val="115000"/>
              </a:lnSpc>
              <a:spcAft>
                <a:spcPts val="700"/>
              </a:spcAft>
              <a:buSzPct val="100000"/>
              <a:buChar char="•"/>
            </a:pPr>
            <a:r>
              <a:rPr lang="en-US" sz="1250" dirty="0">
                <a:solidFill>
                  <a:srgbClr val="C9C3E3"/>
                </a:solidFill>
                <a:latin typeface="Calibri" pitchFamily="34" charset="0"/>
                <a:ea typeface="Calibri" pitchFamily="34" charset="-122"/>
                <a:cs typeface="Calibri" pitchFamily="34" charset="-120"/>
              </a:rPr>
              <a:t>Talk it through with Muse</a:t>
            </a:r>
            <a:endParaRPr lang="en-US" sz="1250" dirty="0"/>
          </a:p>
          <a:p>
            <a:pPr marL="177800" indent="-177800">
              <a:lnSpc>
                <a:spcPct val="115000"/>
              </a:lnSpc>
              <a:spcAft>
                <a:spcPts val="700"/>
              </a:spcAft>
              <a:buSzPct val="100000"/>
              <a:buChar char="•"/>
            </a:pPr>
            <a:r>
              <a:rPr lang="en-US" sz="1250" dirty="0">
                <a:solidFill>
                  <a:srgbClr val="C9C3E3"/>
                </a:solidFill>
                <a:latin typeface="Calibri" pitchFamily="34" charset="0"/>
                <a:ea typeface="Calibri" pitchFamily="34" charset="-122"/>
                <a:cs typeface="Calibri" pitchFamily="34" charset="-120"/>
              </a:rPr>
              <a:t>The archive of every past night</a:t>
            </a:r>
            <a:endParaRPr lang="en-US" sz="1250" dirty="0"/>
          </a:p>
        </p:txBody>
      </p:sp>
      <p:sp>
        <p:nvSpPr>
          <p:cNvPr id="10" name="Shape 8"/>
          <p:cNvSpPr/>
          <p:nvPr/>
        </p:nvSpPr>
        <p:spPr>
          <a:xfrm>
            <a:off x="6233008" y="1874520"/>
            <a:ext cx="5318608" cy="3566160"/>
          </a:xfrm>
          <a:prstGeom prst="roundRect">
            <a:avLst>
              <a:gd name="adj" fmla="val 3077"/>
            </a:avLst>
          </a:prstGeom>
          <a:solidFill>
            <a:srgbClr val="26204A"/>
          </a:solidFill>
          <a:ln w="9525">
            <a:solidFill>
              <a:srgbClr val="3A3260"/>
            </a:solidFill>
            <a:prstDash val="solid"/>
          </a:ln>
          <a:effectLst>
            <a:outerShdw sx="100000" sy="100000" kx="0" ky="0" algn="bl" rotWithShape="0" blurRad="152400" dist="38100" dir="5400000">
              <a:srgbClr val="000000">
                <a:alpha val="35000"/>
              </a:srgbClr>
            </a:outerShdw>
          </a:effectLst>
        </p:spPr>
      </p:sp>
      <p:sp>
        <p:nvSpPr>
          <p:cNvPr id="11" name="Text 9"/>
          <p:cNvSpPr txBox="1"/>
          <p:nvPr/>
        </p:nvSpPr>
        <p:spPr>
          <a:xfrm>
            <a:off x="6507328" y="2103120"/>
            <a:ext cx="3657600" cy="256032"/>
          </a:xfrm>
          <a:prstGeom prst="rect">
            <a:avLst/>
          </a:prstGeom>
          <a:noFill/>
          <a:ln/>
        </p:spPr>
        <p:txBody>
          <a:bodyPr wrap="square" lIns="0" tIns="0" rIns="0" bIns="0" rtlCol="0" anchor="ctr"/>
          <a:lstStyle/>
          <a:p>
            <a:pPr indent="0" marL="0">
              <a:buNone/>
            </a:pPr>
            <a:r>
              <a:rPr lang="en-US" sz="950" spc="250" kern="0" dirty="0">
                <a:solidFill>
                  <a:srgbClr val="C4B5FD"/>
                </a:solidFill>
                <a:latin typeface="Courier New" pitchFamily="34" charset="0"/>
                <a:ea typeface="Courier New" pitchFamily="34" charset="-122"/>
                <a:cs typeface="Courier New" pitchFamily="34" charset="-120"/>
              </a:rPr>
              <a:t>MUSE PRO · WEB</a:t>
            </a:r>
            <a:endParaRPr lang="en-US" sz="950" dirty="0"/>
          </a:p>
        </p:txBody>
      </p:sp>
      <p:sp>
        <p:nvSpPr>
          <p:cNvPr id="12" name="Text 10"/>
          <p:cNvSpPr txBox="1"/>
          <p:nvPr/>
        </p:nvSpPr>
        <p:spPr>
          <a:xfrm>
            <a:off x="6507328" y="2377440"/>
            <a:ext cx="4572000" cy="822960"/>
          </a:xfrm>
          <a:prstGeom prst="rect">
            <a:avLst/>
          </a:prstGeom>
          <a:noFill/>
          <a:ln/>
        </p:spPr>
        <p:txBody>
          <a:bodyPr wrap="square" lIns="0" tIns="0" rIns="0" bIns="0" rtlCol="0" anchor="t"/>
          <a:lstStyle/>
          <a:p>
            <a:pPr algn="l" indent="0" marL="0">
              <a:lnSpc>
                <a:spcPct val="105000"/>
              </a:lnSpc>
              <a:buNone/>
            </a:pPr>
            <a:r>
              <a:rPr lang="en-US" sz="4000" dirty="0">
                <a:solidFill>
                  <a:srgbClr val="F4F5F9"/>
                </a:solidFill>
                <a:latin typeface="Cambria" pitchFamily="34" charset="0"/>
                <a:ea typeface="Cambria" pitchFamily="34" charset="-122"/>
                <a:cs typeface="Cambria" pitchFamily="34" charset="-120"/>
              </a:rPr>
              <a:t>$4.99 / month</a:t>
            </a:r>
            <a:endParaRPr lang="en-US" sz="4000" dirty="0"/>
          </a:p>
        </p:txBody>
      </p:sp>
      <p:sp>
        <p:nvSpPr>
          <p:cNvPr id="13" name="Text 11"/>
          <p:cNvSpPr txBox="1"/>
          <p:nvPr/>
        </p:nvSpPr>
        <p:spPr>
          <a:xfrm>
            <a:off x="6507328" y="3337560"/>
            <a:ext cx="4769968" cy="1828800"/>
          </a:xfrm>
          <a:prstGeom prst="rect">
            <a:avLst/>
          </a:prstGeom>
          <a:noFill/>
          <a:ln/>
        </p:spPr>
        <p:txBody>
          <a:bodyPr wrap="square" lIns="0" tIns="0" rIns="0" bIns="0" rtlCol="0" anchor="t"/>
          <a:lstStyle/>
          <a:p>
            <a:pPr marL="177800" indent="-177800">
              <a:lnSpc>
                <a:spcPct val="115000"/>
              </a:lnSpc>
              <a:spcAft>
                <a:spcPts val="700"/>
              </a:spcAft>
              <a:buSzPct val="100000"/>
              <a:buChar char="•"/>
            </a:pPr>
            <a:r>
              <a:rPr lang="en-US" sz="1250" dirty="0">
                <a:solidFill>
                  <a:srgbClr val="C9C3E3"/>
                </a:solidFill>
                <a:latin typeface="Calibri" pitchFamily="34" charset="0"/>
                <a:ea typeface="Calibri" pitchFamily="34" charset="-122"/>
                <a:cs typeface="Calibri" pitchFamily="34" charset="-120"/>
              </a:rPr>
              <a:t>Unlimited chats every night</a:t>
            </a:r>
            <a:endParaRPr lang="en-US" sz="1250" dirty="0"/>
          </a:p>
          <a:p>
            <a:pPr marL="177800" indent="-177800">
              <a:lnSpc>
                <a:spcPct val="115000"/>
              </a:lnSpc>
              <a:spcAft>
                <a:spcPts val="700"/>
              </a:spcAft>
              <a:buSzPct val="100000"/>
              <a:buChar char="•"/>
            </a:pPr>
            <a:r>
              <a:rPr lang="en-US" sz="1250" dirty="0">
                <a:solidFill>
                  <a:srgbClr val="C9C3E3"/>
                </a:solidFill>
                <a:latin typeface="Calibri" pitchFamily="34" charset="0"/>
                <a:ea typeface="Calibri" pitchFamily="34" charset="-122"/>
                <a:cs typeface="Calibri" pitchFamily="34" charset="-120"/>
              </a:rPr>
              <a:t>Session history across devices</a:t>
            </a:r>
            <a:endParaRPr lang="en-US" sz="1250" dirty="0"/>
          </a:p>
          <a:p>
            <a:pPr marL="177800" indent="-177800">
              <a:lnSpc>
                <a:spcPct val="115000"/>
              </a:lnSpc>
              <a:spcAft>
                <a:spcPts val="700"/>
              </a:spcAft>
              <a:buSzPct val="100000"/>
              <a:buChar char="•"/>
            </a:pPr>
            <a:r>
              <a:rPr lang="en-US" sz="1250" dirty="0">
                <a:solidFill>
                  <a:srgbClr val="C9C3E3"/>
                </a:solidFill>
                <a:latin typeface="Calibri" pitchFamily="34" charset="0"/>
                <a:ea typeface="Calibri" pitchFamily="34" charset="-122"/>
                <a:cs typeface="Calibri" pitchFamily="34" charset="-120"/>
              </a:rPr>
              <a:t>Priority response when the table is busy</a:t>
            </a:r>
            <a:endParaRPr lang="en-US" sz="1250" dirty="0"/>
          </a:p>
        </p:txBody>
      </p:sp>
      <p:sp>
        <p:nvSpPr>
          <p:cNvPr id="14" name="Text 12"/>
          <p:cNvSpPr txBox="1"/>
          <p:nvPr/>
        </p:nvSpPr>
        <p:spPr>
          <a:xfrm>
            <a:off x="640080" y="5669280"/>
            <a:ext cx="10972800" cy="274320"/>
          </a:xfrm>
          <a:prstGeom prst="rect">
            <a:avLst/>
          </a:prstGeom>
          <a:noFill/>
          <a:ln/>
        </p:spPr>
        <p:txBody>
          <a:bodyPr wrap="square" lIns="0" tIns="0" rIns="0" bIns="0" rtlCol="0" anchor="t"/>
          <a:lstStyle/>
          <a:p>
            <a:pPr algn="l" indent="0" marL="0">
              <a:lnSpc>
                <a:spcPct val="125000"/>
              </a:lnSpc>
              <a:buNone/>
            </a:pPr>
            <a:r>
              <a:rPr lang="en-US" sz="1000" dirty="0">
                <a:solidFill>
                  <a:srgbClr val="C4B5FD"/>
                </a:solidFill>
                <a:latin typeface="Courier New" pitchFamily="34" charset="0"/>
                <a:ea typeface="Courier New" pitchFamily="34" charset="-122"/>
                <a:cs typeface="Courier New" pitchFamily="34" charset="-120"/>
              </a:rPr>
              <a:t>Billed monthly on the web. The iOS subscription is priced separately. An AI music companion under $10 a month.</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user--github/fb5f43e6-83cf-528a-bc77-62840775cbad/scratchpad/decks/assets/logo-light.png">    </p:cNvPr>
          <p:cNvPicPr>
            <a:picLocks noChangeAspect="1"/>
          </p:cNvPicPr>
          <p:nvPr/>
        </p:nvPicPr>
        <p:blipFill>
          <a:blip r:embed="rId2"/>
          <a:stretch>
            <a:fillRect/>
          </a:stretch>
        </p:blipFill>
        <p:spPr>
          <a:xfrm>
            <a:off x="640080" y="548640"/>
            <a:ext cx="502920" cy="502920"/>
          </a:xfrm>
          <a:prstGeom prst="rect">
            <a:avLst/>
          </a:prstGeom>
        </p:spPr>
      </p:pic>
      <p:sp>
        <p:nvSpPr>
          <p:cNvPr id="3" name="Text 0"/>
          <p:cNvSpPr txBox="1"/>
          <p:nvPr/>
        </p:nvSpPr>
        <p:spPr>
          <a:xfrm>
            <a:off x="640080" y="1920240"/>
            <a:ext cx="6035040" cy="256032"/>
          </a:xfrm>
          <a:prstGeom prst="rect">
            <a:avLst/>
          </a:prstGeom>
          <a:noFill/>
          <a:ln/>
        </p:spPr>
        <p:txBody>
          <a:bodyPr wrap="square" lIns="0" tIns="0" rIns="0" bIns="0" rtlCol="0" anchor="ctr"/>
          <a:lstStyle/>
          <a:p>
            <a:pPr indent="0" marL="0">
              <a:buNone/>
            </a:pPr>
            <a:r>
              <a:rPr lang="en-US" sz="950" spc="250" kern="0" dirty="0">
                <a:solidFill>
                  <a:srgbClr val="C4B5FD"/>
                </a:solidFill>
                <a:latin typeface="Courier New" pitchFamily="34" charset="0"/>
                <a:ea typeface="Courier New" pitchFamily="34" charset="-122"/>
                <a:cs typeface="Courier New" pitchFamily="34" charset="-120"/>
              </a:rPr>
              <a:t>TONIGHT, AT MIDNIGHT</a:t>
            </a:r>
            <a:endParaRPr lang="en-US" sz="950" dirty="0"/>
          </a:p>
        </p:txBody>
      </p:sp>
      <p:sp>
        <p:nvSpPr>
          <p:cNvPr id="4" name="Text 1"/>
          <p:cNvSpPr txBox="1"/>
          <p:nvPr/>
        </p:nvSpPr>
        <p:spPr>
          <a:xfrm>
            <a:off x="640080" y="2286000"/>
            <a:ext cx="6035040" cy="745744"/>
          </a:xfrm>
          <a:prstGeom prst="rect">
            <a:avLst/>
          </a:prstGeom>
          <a:noFill/>
          <a:ln/>
        </p:spPr>
        <p:txBody>
          <a:bodyPr wrap="square" lIns="0" tIns="0" rIns="0" bIns="0" rtlCol="0" anchor="t"/>
          <a:lstStyle/>
          <a:p>
            <a:pPr algn="l" indent="0" marL="0">
              <a:lnSpc>
                <a:spcPct val="105000"/>
              </a:lnSpc>
              <a:buNone/>
            </a:pPr>
            <a:r>
              <a:rPr lang="en-US" sz="4600" dirty="0">
                <a:solidFill>
                  <a:srgbClr val="F4F5F9"/>
                </a:solidFill>
                <a:latin typeface="Cambria" pitchFamily="34" charset="0"/>
                <a:ea typeface="Cambria" pitchFamily="34" charset="-122"/>
                <a:cs typeface="Cambria" pitchFamily="34" charset="-120"/>
              </a:rPr>
              <a:t>Flip the card.</a:t>
            </a:r>
            <a:endParaRPr lang="en-US" sz="4600" dirty="0"/>
          </a:p>
        </p:txBody>
      </p:sp>
      <p:sp>
        <p:nvSpPr>
          <p:cNvPr id="5" name="Text 2"/>
          <p:cNvSpPr txBox="1"/>
          <p:nvPr/>
        </p:nvSpPr>
        <p:spPr>
          <a:xfrm>
            <a:off x="640080" y="3306064"/>
            <a:ext cx="6035040" cy="1188720"/>
          </a:xfrm>
          <a:prstGeom prst="rect">
            <a:avLst/>
          </a:prstGeom>
          <a:noFill/>
          <a:ln/>
        </p:spPr>
        <p:txBody>
          <a:bodyPr wrap="square" lIns="0" tIns="0" rIns="0" bIns="0" rtlCol="0" anchor="t"/>
          <a:lstStyle/>
          <a:p>
            <a:pPr algn="l" indent="0" marL="0">
              <a:lnSpc>
                <a:spcPct val="120000"/>
              </a:lnSpc>
              <a:buNone/>
            </a:pPr>
            <a:r>
              <a:rPr lang="en-US" sz="1500" dirty="0">
                <a:solidFill>
                  <a:srgbClr val="C9C3E3"/>
                </a:solidFill>
                <a:latin typeface="Calibri" pitchFamily="34" charset="0"/>
                <a:ea typeface="Calibri" pitchFamily="34" charset="-122"/>
                <a:cs typeface="Calibri" pitchFamily="34" charset="-120"/>
              </a:rPr>
              <a:t>Same card for every musician on earth. See what you make of it.</a:t>
            </a:r>
            <a:endParaRPr lang="en-US" sz="1500" dirty="0"/>
          </a:p>
        </p:txBody>
      </p:sp>
      <p:sp>
        <p:nvSpPr>
          <p:cNvPr id="6" name="Shape 3"/>
          <p:cNvSpPr/>
          <p:nvPr/>
        </p:nvSpPr>
        <p:spPr>
          <a:xfrm>
            <a:off x="7071055" y="2011680"/>
            <a:ext cx="4480560" cy="2761488"/>
          </a:xfrm>
          <a:prstGeom prst="roundRect">
            <a:avLst>
              <a:gd name="adj" fmla="val 3974"/>
            </a:avLst>
          </a:prstGeom>
          <a:solidFill>
            <a:srgbClr val="0D0A1C"/>
          </a:solidFill>
          <a:ln w="9525">
            <a:solidFill>
              <a:srgbClr val="2E2850"/>
            </a:solidFill>
            <a:prstDash val="solid"/>
          </a:ln>
          <a:effectLst>
            <a:outerShdw sx="100000" sy="100000" kx="0" ky="0" algn="bl" rotWithShape="0" blurRad="152400" dist="38100" dir="5400000">
              <a:srgbClr val="000000">
                <a:alpha val="35000"/>
              </a:srgbClr>
            </a:outerShdw>
          </a:effectLst>
        </p:spPr>
      </p:sp>
      <p:sp>
        <p:nvSpPr>
          <p:cNvPr id="7" name="Text 4"/>
          <p:cNvSpPr txBox="1"/>
          <p:nvPr/>
        </p:nvSpPr>
        <p:spPr>
          <a:xfrm>
            <a:off x="7345375" y="2176272"/>
            <a:ext cx="3931920" cy="228600"/>
          </a:xfrm>
          <a:prstGeom prst="rect">
            <a:avLst/>
          </a:prstGeom>
          <a:noFill/>
          <a:ln/>
        </p:spPr>
        <p:txBody>
          <a:bodyPr wrap="square" lIns="0" tIns="0" rIns="0" bIns="0" rtlCol="0" anchor="ctr"/>
          <a:lstStyle/>
          <a:p>
            <a:pPr indent="0" marL="0">
              <a:buNone/>
            </a:pPr>
            <a:r>
              <a:rPr lang="en-US" sz="850" spc="250" kern="0" dirty="0">
                <a:solidFill>
                  <a:srgbClr val="C4B5FD"/>
                </a:solidFill>
                <a:latin typeface="Courier New" pitchFamily="34" charset="0"/>
                <a:ea typeface="Courier New" pitchFamily="34" charset="-122"/>
                <a:cs typeface="Courier New" pitchFamily="34" charset="-120"/>
              </a:rPr>
              <a:t>DIRECT LINE</a:t>
            </a:r>
            <a:endParaRPr lang="en-US" sz="850" dirty="0"/>
          </a:p>
        </p:txBody>
      </p:sp>
      <p:sp>
        <p:nvSpPr>
          <p:cNvPr id="8" name="Shape 5"/>
          <p:cNvSpPr/>
          <p:nvPr/>
        </p:nvSpPr>
        <p:spPr>
          <a:xfrm>
            <a:off x="7345375" y="2514600"/>
            <a:ext cx="3931920" cy="0"/>
          </a:xfrm>
          <a:prstGeom prst="line">
            <a:avLst/>
          </a:prstGeom>
          <a:noFill/>
          <a:ln w="9525">
            <a:solidFill>
              <a:srgbClr val="2E2850"/>
            </a:solidFill>
            <a:prstDash val="solid"/>
          </a:ln>
        </p:spPr>
      </p:sp>
      <p:sp>
        <p:nvSpPr>
          <p:cNvPr id="9" name="Text 6"/>
          <p:cNvSpPr txBox="1"/>
          <p:nvPr/>
        </p:nvSpPr>
        <p:spPr>
          <a:xfrm>
            <a:off x="7345375" y="2606040"/>
            <a:ext cx="1324051" cy="402336"/>
          </a:xfrm>
          <a:prstGeom prst="rect">
            <a:avLst/>
          </a:prstGeom>
          <a:noFill/>
          <a:ln/>
        </p:spPr>
        <p:txBody>
          <a:bodyPr wrap="square" lIns="0" tIns="0" rIns="0" bIns="0" rtlCol="0" anchor="ctr"/>
          <a:lstStyle/>
          <a:p>
            <a:pPr indent="0" marL="0">
              <a:buNone/>
            </a:pPr>
            <a:r>
              <a:rPr lang="en-US" sz="1200" dirty="0">
                <a:solidFill>
                  <a:srgbClr val="E6E8F0"/>
                </a:solidFill>
                <a:latin typeface="Calibri" pitchFamily="34" charset="0"/>
                <a:ea typeface="Calibri" pitchFamily="34" charset="-122"/>
                <a:cs typeface="Calibri" pitchFamily="34" charset="-120"/>
              </a:rPr>
              <a:t>Tonight's card</a:t>
            </a:r>
            <a:endParaRPr lang="en-US" sz="1200" dirty="0"/>
          </a:p>
        </p:txBody>
      </p:sp>
      <p:sp>
        <p:nvSpPr>
          <p:cNvPr id="10" name="Text 7"/>
          <p:cNvSpPr txBox="1"/>
          <p:nvPr/>
        </p:nvSpPr>
        <p:spPr>
          <a:xfrm>
            <a:off x="8760866" y="2606040"/>
            <a:ext cx="2516429" cy="402336"/>
          </a:xfrm>
          <a:prstGeom prst="rect">
            <a:avLst/>
          </a:prstGeom>
          <a:noFill/>
          <a:ln/>
        </p:spPr>
        <p:txBody>
          <a:bodyPr wrap="square" lIns="0" tIns="0" rIns="0" bIns="0" rtlCol="0" anchor="ctr"/>
          <a:lstStyle/>
          <a:p>
            <a:pPr algn="r" indent="0" marL="0">
              <a:buNone/>
            </a:pPr>
            <a:r>
              <a:rPr lang="en-US" sz="950" dirty="0">
                <a:solidFill>
                  <a:srgbClr val="C4B5FD"/>
                </a:solidFill>
                <a:latin typeface="Courier New" pitchFamily="34" charset="0"/>
                <a:ea typeface="Courier New" pitchFamily="34" charset="-122"/>
                <a:cs typeface="Courier New" pitchFamily="34" charset="-120"/>
              </a:rPr>
              <a:t>muse.suedeai.ai</a:t>
            </a:r>
            <a:endParaRPr lang="en-US" sz="950" dirty="0"/>
          </a:p>
        </p:txBody>
      </p:sp>
      <p:sp>
        <p:nvSpPr>
          <p:cNvPr id="11" name="Shape 8"/>
          <p:cNvSpPr/>
          <p:nvPr/>
        </p:nvSpPr>
        <p:spPr>
          <a:xfrm>
            <a:off x="7345375" y="3044952"/>
            <a:ext cx="3931920" cy="0"/>
          </a:xfrm>
          <a:prstGeom prst="line">
            <a:avLst/>
          </a:prstGeom>
          <a:noFill/>
          <a:ln w="9525">
            <a:solidFill>
              <a:srgbClr val="2E2850"/>
            </a:solidFill>
            <a:prstDash val="solid"/>
          </a:ln>
        </p:spPr>
      </p:sp>
      <p:sp>
        <p:nvSpPr>
          <p:cNvPr id="12" name="Text 9"/>
          <p:cNvSpPr txBox="1"/>
          <p:nvPr/>
        </p:nvSpPr>
        <p:spPr>
          <a:xfrm>
            <a:off x="7345375" y="3136392"/>
            <a:ext cx="1324051" cy="402336"/>
          </a:xfrm>
          <a:prstGeom prst="rect">
            <a:avLst/>
          </a:prstGeom>
          <a:noFill/>
          <a:ln/>
        </p:spPr>
        <p:txBody>
          <a:bodyPr wrap="square" lIns="0" tIns="0" rIns="0" bIns="0" rtlCol="0" anchor="ctr"/>
          <a:lstStyle/>
          <a:p>
            <a:pPr indent="0" marL="0">
              <a:buNone/>
            </a:pPr>
            <a:r>
              <a:rPr lang="en-US" sz="1200" dirty="0">
                <a:solidFill>
                  <a:srgbClr val="E6E8F0"/>
                </a:solidFill>
                <a:latin typeface="Calibri" pitchFamily="34" charset="0"/>
                <a:ea typeface="Calibri" pitchFamily="34" charset="-122"/>
                <a:cs typeface="Calibri" pitchFamily="34" charset="-120"/>
              </a:rPr>
              <a:t>iOS</a:t>
            </a:r>
            <a:endParaRPr lang="en-US" sz="1200" dirty="0"/>
          </a:p>
        </p:txBody>
      </p:sp>
      <p:sp>
        <p:nvSpPr>
          <p:cNvPr id="13" name="Text 10"/>
          <p:cNvSpPr txBox="1"/>
          <p:nvPr/>
        </p:nvSpPr>
        <p:spPr>
          <a:xfrm>
            <a:off x="8760866" y="3136392"/>
            <a:ext cx="2516429" cy="402336"/>
          </a:xfrm>
          <a:prstGeom prst="rect">
            <a:avLst/>
          </a:prstGeom>
          <a:noFill/>
          <a:ln/>
        </p:spPr>
        <p:txBody>
          <a:bodyPr wrap="square" lIns="0" tIns="0" rIns="0" bIns="0" rtlCol="0" anchor="ctr"/>
          <a:lstStyle/>
          <a:p>
            <a:pPr algn="r" indent="0" marL="0">
              <a:buNone/>
            </a:pPr>
            <a:r>
              <a:rPr lang="en-US" sz="950" dirty="0">
                <a:solidFill>
                  <a:srgbClr val="C4B5FD"/>
                </a:solidFill>
                <a:latin typeface="Courier New" pitchFamily="34" charset="0"/>
                <a:ea typeface="Courier New" pitchFamily="34" charset="-122"/>
                <a:cs typeface="Courier New" pitchFamily="34" charset="-120"/>
              </a:rPr>
              <a:t>App Store · Suede Studio Muse</a:t>
            </a:r>
            <a:endParaRPr lang="en-US" sz="950" dirty="0"/>
          </a:p>
        </p:txBody>
      </p:sp>
      <p:sp>
        <p:nvSpPr>
          <p:cNvPr id="14" name="Shape 11"/>
          <p:cNvSpPr/>
          <p:nvPr/>
        </p:nvSpPr>
        <p:spPr>
          <a:xfrm>
            <a:off x="7345375" y="3575304"/>
            <a:ext cx="3931920" cy="0"/>
          </a:xfrm>
          <a:prstGeom prst="line">
            <a:avLst/>
          </a:prstGeom>
          <a:noFill/>
          <a:ln w="9525">
            <a:solidFill>
              <a:srgbClr val="2E2850"/>
            </a:solidFill>
            <a:prstDash val="solid"/>
          </a:ln>
        </p:spPr>
      </p:sp>
      <p:sp>
        <p:nvSpPr>
          <p:cNvPr id="15" name="Text 12"/>
          <p:cNvSpPr txBox="1"/>
          <p:nvPr/>
        </p:nvSpPr>
        <p:spPr>
          <a:xfrm>
            <a:off x="7345375" y="3666744"/>
            <a:ext cx="1324051" cy="402336"/>
          </a:xfrm>
          <a:prstGeom prst="rect">
            <a:avLst/>
          </a:prstGeom>
          <a:noFill/>
          <a:ln/>
        </p:spPr>
        <p:txBody>
          <a:bodyPr wrap="square" lIns="0" tIns="0" rIns="0" bIns="0" rtlCol="0" anchor="ctr"/>
          <a:lstStyle/>
          <a:p>
            <a:pPr indent="0" marL="0">
              <a:buNone/>
            </a:pPr>
            <a:r>
              <a:rPr lang="en-US" sz="1200" dirty="0">
                <a:solidFill>
                  <a:srgbClr val="E6E8F0"/>
                </a:solidFill>
                <a:latin typeface="Calibri" pitchFamily="34" charset="0"/>
                <a:ea typeface="Calibri" pitchFamily="34" charset="-122"/>
                <a:cs typeface="Calibri" pitchFamily="34" charset="-120"/>
              </a:rPr>
              <a:t>Toolkit</a:t>
            </a:r>
            <a:endParaRPr lang="en-US" sz="1200" dirty="0"/>
          </a:p>
        </p:txBody>
      </p:sp>
      <p:sp>
        <p:nvSpPr>
          <p:cNvPr id="16" name="Text 13"/>
          <p:cNvSpPr txBox="1"/>
          <p:nvPr/>
        </p:nvSpPr>
        <p:spPr>
          <a:xfrm>
            <a:off x="8760866" y="3666744"/>
            <a:ext cx="2516429" cy="402336"/>
          </a:xfrm>
          <a:prstGeom prst="rect">
            <a:avLst/>
          </a:prstGeom>
          <a:noFill/>
          <a:ln/>
        </p:spPr>
        <p:txBody>
          <a:bodyPr wrap="square" lIns="0" tIns="0" rIns="0" bIns="0" rtlCol="0" anchor="ctr"/>
          <a:lstStyle/>
          <a:p>
            <a:pPr algn="r" indent="0" marL="0">
              <a:buNone/>
            </a:pPr>
            <a:r>
              <a:rPr lang="en-US" sz="950" dirty="0">
                <a:solidFill>
                  <a:srgbClr val="C4B5FD"/>
                </a:solidFill>
                <a:latin typeface="Courier New" pitchFamily="34" charset="0"/>
                <a:ea typeface="Courier New" pitchFamily="34" charset="-122"/>
                <a:cs typeface="Courier New" pitchFamily="34" charset="-120"/>
              </a:rPr>
              <a:t>/toolkit</a:t>
            </a:r>
            <a:endParaRPr lang="en-US" sz="950" dirty="0"/>
          </a:p>
        </p:txBody>
      </p:sp>
      <p:sp>
        <p:nvSpPr>
          <p:cNvPr id="17" name="Shape 14"/>
          <p:cNvSpPr/>
          <p:nvPr/>
        </p:nvSpPr>
        <p:spPr>
          <a:xfrm>
            <a:off x="7345375" y="4105656"/>
            <a:ext cx="3931920" cy="0"/>
          </a:xfrm>
          <a:prstGeom prst="line">
            <a:avLst/>
          </a:prstGeom>
          <a:noFill/>
          <a:ln w="9525">
            <a:solidFill>
              <a:srgbClr val="2E2850"/>
            </a:solidFill>
            <a:prstDash val="solid"/>
          </a:ln>
        </p:spPr>
      </p:sp>
      <p:sp>
        <p:nvSpPr>
          <p:cNvPr id="18" name="Text 15"/>
          <p:cNvSpPr txBox="1"/>
          <p:nvPr/>
        </p:nvSpPr>
        <p:spPr>
          <a:xfrm>
            <a:off x="7345375" y="4197096"/>
            <a:ext cx="1324051" cy="402336"/>
          </a:xfrm>
          <a:prstGeom prst="rect">
            <a:avLst/>
          </a:prstGeom>
          <a:noFill/>
          <a:ln/>
        </p:spPr>
        <p:txBody>
          <a:bodyPr wrap="square" lIns="0" tIns="0" rIns="0" bIns="0" rtlCol="0" anchor="ctr"/>
          <a:lstStyle/>
          <a:p>
            <a:pPr indent="0" marL="0">
              <a:buNone/>
            </a:pPr>
            <a:r>
              <a:rPr lang="en-US" sz="1200" dirty="0">
                <a:solidFill>
                  <a:srgbClr val="E6E8F0"/>
                </a:solidFill>
                <a:latin typeface="Calibri" pitchFamily="34" charset="0"/>
                <a:ea typeface="Calibri" pitchFamily="34" charset="-122"/>
                <a:cs typeface="Calibri" pitchFamily="34" charset="-120"/>
              </a:rPr>
              <a:t>Pricing</a:t>
            </a:r>
            <a:endParaRPr lang="en-US" sz="1200" dirty="0"/>
          </a:p>
        </p:txBody>
      </p:sp>
      <p:sp>
        <p:nvSpPr>
          <p:cNvPr id="19" name="Text 16"/>
          <p:cNvSpPr txBox="1"/>
          <p:nvPr/>
        </p:nvSpPr>
        <p:spPr>
          <a:xfrm>
            <a:off x="8760866" y="4197096"/>
            <a:ext cx="2516429" cy="402336"/>
          </a:xfrm>
          <a:prstGeom prst="rect">
            <a:avLst/>
          </a:prstGeom>
          <a:noFill/>
          <a:ln/>
        </p:spPr>
        <p:txBody>
          <a:bodyPr wrap="square" lIns="0" tIns="0" rIns="0" bIns="0" rtlCol="0" anchor="ctr"/>
          <a:lstStyle/>
          <a:p>
            <a:pPr algn="r" indent="0" marL="0">
              <a:buNone/>
            </a:pPr>
            <a:r>
              <a:rPr lang="en-US" sz="950" dirty="0">
                <a:solidFill>
                  <a:srgbClr val="C4B5FD"/>
                </a:solidFill>
                <a:latin typeface="Courier New" pitchFamily="34" charset="0"/>
                <a:ea typeface="Courier New" pitchFamily="34" charset="-122"/>
                <a:cs typeface="Courier New" pitchFamily="34" charset="-120"/>
              </a:rPr>
              <a:t>/pricing</a:t>
            </a:r>
            <a:endParaRPr lang="en-US" sz="950" dirty="0"/>
          </a:p>
        </p:txBody>
      </p:sp>
      <p:sp>
        <p:nvSpPr>
          <p:cNvPr id="20" name="Shape 17"/>
          <p:cNvSpPr/>
          <p:nvPr/>
        </p:nvSpPr>
        <p:spPr>
          <a:xfrm>
            <a:off x="640080" y="5989320"/>
            <a:ext cx="10911535" cy="0"/>
          </a:xfrm>
          <a:prstGeom prst="line">
            <a:avLst/>
          </a:prstGeom>
          <a:noFill/>
          <a:ln w="9525">
            <a:solidFill>
              <a:srgbClr val="3A3260"/>
            </a:solidFill>
            <a:prstDash val="solid"/>
          </a:ln>
        </p:spPr>
      </p:sp>
      <p:sp>
        <p:nvSpPr>
          <p:cNvPr id="21" name="Text 18"/>
          <p:cNvSpPr txBox="1"/>
          <p:nvPr/>
        </p:nvSpPr>
        <p:spPr>
          <a:xfrm>
            <a:off x="640080" y="6126480"/>
            <a:ext cx="5486400" cy="274320"/>
          </a:xfrm>
          <a:prstGeom prst="rect">
            <a:avLst/>
          </a:prstGeom>
          <a:noFill/>
          <a:ln/>
        </p:spPr>
        <p:txBody>
          <a:bodyPr wrap="square" lIns="0" tIns="0" rIns="0" bIns="0" rtlCol="0" anchor="t"/>
          <a:lstStyle/>
          <a:p>
            <a:pPr algn="l" indent="0" marL="0">
              <a:lnSpc>
                <a:spcPct val="125000"/>
              </a:lnSpc>
              <a:buNone/>
            </a:pPr>
            <a:r>
              <a:rPr lang="en-US" sz="1000" spc="200" kern="0" dirty="0">
                <a:solidFill>
                  <a:srgbClr val="C4B5FD"/>
                </a:solidFill>
                <a:latin typeface="Courier New" pitchFamily="34" charset="0"/>
                <a:ea typeface="Courier New" pitchFamily="34" charset="-122"/>
                <a:cs typeface="Courier New" pitchFamily="34" charset="-120"/>
              </a:rPr>
              <a:t>MUSE.SUEDEAI.AI</a:t>
            </a:r>
            <a:endParaRPr lang="en-US" sz="1000" dirty="0"/>
          </a:p>
        </p:txBody>
      </p:sp>
      <p:sp>
        <p:nvSpPr>
          <p:cNvPr id="22" name="Text 19"/>
          <p:cNvSpPr txBox="1"/>
          <p:nvPr/>
        </p:nvSpPr>
        <p:spPr>
          <a:xfrm>
            <a:off x="6065215" y="6126480"/>
            <a:ext cx="5486400" cy="274320"/>
          </a:xfrm>
          <a:prstGeom prst="rect">
            <a:avLst/>
          </a:prstGeom>
          <a:noFill/>
          <a:ln/>
        </p:spPr>
        <p:txBody>
          <a:bodyPr wrap="square" lIns="0" tIns="0" rIns="0" bIns="0" rtlCol="0" anchor="t"/>
          <a:lstStyle/>
          <a:p>
            <a:pPr algn="r" indent="0" marL="0">
              <a:lnSpc>
                <a:spcPct val="125000"/>
              </a:lnSpc>
              <a:buNone/>
            </a:pPr>
            <a:r>
              <a:rPr lang="en-US" sz="950" spc="100" kern="0" dirty="0">
                <a:solidFill>
                  <a:srgbClr val="C9C3E3"/>
                </a:solidFill>
                <a:latin typeface="Courier New" pitchFamily="34" charset="0"/>
                <a:ea typeface="Courier New" pitchFamily="34" charset="-122"/>
                <a:cs typeface="Courier New" pitchFamily="34" charset="-120"/>
              </a:rPr>
              <a:t>Suede Labs AI · Jason Colapietro, Founder &amp; CEO</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Suede Labs 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Suede Muse — Tonight's card. Same one for every musician on earth.</dc:title>
  <dc:subject>PptxGenJS Presentation</dc:subject>
  <dc:creator>Suede Labs AI</dc:creator>
  <cp:lastModifiedBy>Suede Labs AI</cp:lastModifiedBy>
  <cp:revision>1</cp:revision>
  <dcterms:created xsi:type="dcterms:W3CDTF">2026-09-09T01:41:13Z</dcterms:created>
  <dcterms:modified xsi:type="dcterms:W3CDTF">2026-09-09T01:41:13Z</dcterms:modified>
</cp:coreProperties>
</file>