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F4F5F9"/>
                </a:solidFill>
                <a:latin typeface="Arial"/>
              </a:defRPr>
            </a:pPr>
            <a:r>
              <a:rPr sz="1100" b="0" i="0" u="none" strike="noStrike">
                <a:solidFill>
                  <a:srgbClr val="F4F5F9"/>
                </a:solidFill>
                <a:latin typeface="Arial"/>
              </a:rPr>
              <a:t>Global creator economy · ~23% CAGR (Grand View Research, 2025)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Global creator economy (USD billions)</c:v>
                </c:pt>
              </c:strCache>
            </c:strRef>
          </c:tx>
          <c:spPr>
            <a:solidFill>
              <a:srgbClr val="FF5A63"/>
            </a:solidFill>
            <a:effectLst/>
          </c:spPr>
          <c:invertIfNegative val="0"/>
          <c:dLbls>
            <c:numFmt formatCode="&quot;$&quot;#,##0&quot;B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4F5F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2024</c:v>
                  </c:pt>
                  <c:pt idx="1">
                    <c:v>2033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205</c:v>
                </c:pt>
                <c:pt idx="1">
                  <c:v>1350</c:v>
                </c:pt>
              </c:numCache>
            </c:numRef>
          </c:val>
        </c:ser>
        <c:dLbls>
          <c:numFmt formatCode="&quot;$&quot;#,##0&quot;B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F4F5F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BFC2CF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600"/>
        </c:scaling>
        <c:delete val="0"/>
        <c:axPos val="l"/>
        <c:majorGridlines>
          <c:spPr>
            <a:ln w="6350" cap="flat">
              <a:solidFill>
                <a:srgbClr val="2E314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7E8193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A0B12"/>
        </a:solidFill>
        <a:ln>
          <a:noFill/>
        </a:ln>
        <a:effectLst/>
      </c:spPr>
    </c:plotArea>
    <c:plotVisOnly val="1"/>
    <c:dispBlanksAs val="span"/>
  </c:chart>
  <c:spPr>
    <a:solidFill>
      <a:srgbClr val="0A0B1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1.xml"/><Relationship Id="rId1" Type="http://schemas.openxmlformats.org/officeDocument/2006/relationships/image" Target="../media/Slide-8-image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image" Target="../media/image-1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1280160" y="548640"/>
            <a:ext cx="4572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5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</a:t>
            </a:r>
            <a:endParaRPr lang="en-US" sz="100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1874520"/>
            <a:ext cx="10515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SUEDEAI.AI · APP.SUEDEAI.AI · PROOF OF CREATION FOR MUSIC, MEDIA AND LIKENESS</a:t>
            </a:r>
            <a:endParaRPr lang="en-US" sz="95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2194560"/>
            <a:ext cx="9692640" cy="1513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5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work. Your likeness. On the record.</a:t>
            </a:r>
            <a:endParaRPr lang="en-US" sz="50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3937000"/>
            <a:ext cx="7498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ownership infrastructure for the AI media era: proof of creation, programmable IP, rights metadata, royalty routing and agent commerce. Live on Base mainnet.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SUEDEAI.AI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7894015" y="6126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September 2026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— THESIS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100584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next internet: agentic, creative, owned.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5852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systems will create, remix and transact at scale. Without new infrastructure, value is extracted, rights are opaque, and creators are disconnected from the upside. Suede Labs builds the ownership layer: verifiable authorship, machine-readable licenses, rights-aware payments, and distribution paths that route value back to the people who create.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0" y="1828800"/>
            <a:ext cx="4709160" cy="1234440"/>
          </a:xfrm>
          <a:prstGeom prst="roundRect">
            <a:avLst>
              <a:gd name="adj" fmla="val 8889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7114032" y="2084832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SUPPLY SHOCK</a:t>
            </a:r>
            <a:endParaRPr lang="en-US" sz="850" dirty="0"/>
          </a:p>
        </p:txBody>
      </p:sp>
      <p:sp>
        <p:nvSpPr>
          <p:cNvPr id="9" name="Text 7"/>
          <p:cNvSpPr txBox="1"/>
          <p:nvPr/>
        </p:nvSpPr>
        <p:spPr>
          <a:xfrm>
            <a:off x="7114032" y="2395728"/>
            <a:ext cx="419709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AI-media volume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7114032" y="2756154"/>
            <a:ext cx="4197096" cy="10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Generated media is exploding across every format. Provenance cannot keep up by hand.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858000" y="3200400"/>
            <a:ext cx="4709160" cy="1234440"/>
          </a:xfrm>
          <a:prstGeom prst="roundRect">
            <a:avLst>
              <a:gd name="adj" fmla="val 8889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Text 10"/>
          <p:cNvSpPr txBox="1"/>
          <p:nvPr/>
        </p:nvSpPr>
        <p:spPr>
          <a:xfrm>
            <a:off x="7114032" y="3456432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BUYERS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114032" y="3767328"/>
            <a:ext cx="419709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 commerce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7114032" y="4127754"/>
            <a:ext cx="4197096" cy="10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Autonomous agents now pay per call for content and APIs. They need machine-readable rights.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858000" y="4572000"/>
            <a:ext cx="4709160" cy="1234440"/>
          </a:xfrm>
          <a:prstGeom prst="roundRect">
            <a:avLst>
              <a:gd name="adj" fmla="val 8889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7114032" y="4828032"/>
            <a:ext cx="41970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NEW RAILS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7114032" y="5138928"/>
            <a:ext cx="419709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On-chain standards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7114032" y="5499354"/>
            <a:ext cx="4197096" cy="10591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identity, reputation and validation mature into a usable ownership substrate.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297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Three curves converging in 2026.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617720"/>
            <a:ext cx="5852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i="1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question is not whether another tool can generate media. It is who owns the rails when that media has to be proven, licensed and paid out.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— THE MODEL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stages. One ownership spine.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914400" y="2231136"/>
            <a:ext cx="1036289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2011680"/>
            <a:ext cx="438912" cy="438912"/>
          </a:xfrm>
          <a:prstGeom prst="ellipse">
            <a:avLst/>
          </a:prstGeom>
          <a:solidFill>
            <a:srgbClr val="FF5A63"/>
          </a:solidFill>
          <a:ln w="12700">
            <a:solidFill>
              <a:srgbClr val="FF5A6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Create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017520"/>
            <a:ext cx="2522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lowers the cost of making media of every kind. Suede Create for music and video; Studio Music keeps the master.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436544" y="2011680"/>
            <a:ext cx="438912" cy="438912"/>
          </a:xfrm>
          <a:prstGeom prst="ellipse">
            <a:avLst/>
          </a:prstGeom>
          <a:solidFill>
            <a:srgbClr val="FF5A63"/>
          </a:solidFill>
          <a:ln w="12700">
            <a:solidFill>
              <a:srgbClr val="FF5A6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3436544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3436544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Prove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3436544" y="3017520"/>
            <a:ext cx="2522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Authorship, voice, likeness, consent and rights travel with the work. The Suede IP Registry on Base and Avalanche.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233008" y="2011680"/>
            <a:ext cx="438912" cy="438912"/>
          </a:xfrm>
          <a:prstGeom prst="ellipse">
            <a:avLst/>
          </a:prstGeom>
          <a:solidFill>
            <a:srgbClr val="FF5A63"/>
          </a:solidFill>
          <a:ln w="12700">
            <a:solidFill>
              <a:srgbClr val="FF5A6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33008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6233008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Launch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6233008" y="3017520"/>
            <a:ext cx="2522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Routes to funding, audience and ownership participation. Distro to 100+ DSPs; vaults and the launchpad.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029471" y="2011680"/>
            <a:ext cx="438912" cy="438912"/>
          </a:xfrm>
          <a:prstGeom prst="ellipse">
            <a:avLst/>
          </a:prstGeom>
          <a:solidFill>
            <a:srgbClr val="FF5A63"/>
          </a:solidFill>
          <a:ln w="12700">
            <a:solidFill>
              <a:srgbClr val="FF5A6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029471" y="20116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9029471" y="2615184"/>
            <a:ext cx="252214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Earn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9029471" y="3017520"/>
            <a:ext cx="2522144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Payments, vaults, royalties, licensing and agent commerce turn output into income, in USDC, at the moment of use.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40080" y="5120640"/>
            <a:ext cx="1091153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53035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i="1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downstream settles against the proof layer, and that layer is Suede.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— PRODUCT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7315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Shipped. Not slideware.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product surface at app.suedeai.ai: rights passports, licensing, royalty vaults, an on-chain swap, Suede Create for music and video, and rewards for holding SUEDE. Alongside it, the iOS line: eight apps live on the App Store.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42900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896112" y="3685032"/>
            <a:ext cx="227685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Rights passports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896112" y="4045458"/>
            <a:ext cx="2276856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Registry-backed proof of creation attached to every file.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630168" y="342900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3886200" y="3685032"/>
            <a:ext cx="227685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Licensing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886200" y="4045458"/>
            <a:ext cx="2276856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and custom licences, machine-readable, priced in USDC.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896112" y="5056632"/>
            <a:ext cx="227685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Royalty vaults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5417058"/>
            <a:ext cx="2276856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Artist vaults and participation; settlement routes to contributors.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630168" y="4800600"/>
            <a:ext cx="2788920" cy="1188720"/>
          </a:xfrm>
          <a:prstGeom prst="roundRect">
            <a:avLst>
              <a:gd name="adj" fmla="val 9231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3886200" y="5056632"/>
            <a:ext cx="2276856" cy="28727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Suede Create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5417058"/>
            <a:ext cx="2276856" cy="3710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music and video, refine, and save finished work with ownership metadata.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858000" y="1783080"/>
            <a:ext cx="4709160" cy="3657600"/>
          </a:xfrm>
          <a:prstGeom prst="roundRect">
            <a:avLst>
              <a:gd name="adj" fmla="val 3000"/>
            </a:avLst>
          </a:prstGeom>
          <a:solidFill>
            <a:srgbClr val="0A0B12"/>
          </a:solidFill>
          <a:ln w="9525">
            <a:solidFill>
              <a:srgbClr val="26283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7132320" y="1947672"/>
            <a:ext cx="4160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RIGHTS PASSPORT · ILLUSTRATIVE EXAMPLE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7132320" y="228600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132320" y="237744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9212580" y="237744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Night Circuit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132320" y="278892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7132320" y="288036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 of creation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212580" y="288036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sd_9f3a1c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132320" y="329184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132320" y="338328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license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9212580" y="338328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lic_96e2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7132320" y="379476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7132320" y="388620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9212580" y="388620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$250.00 USDC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32320" y="429768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7132320" y="438912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Creator route</a:t>
            </a:r>
            <a:endParaRPr lang="en-US" sz="1200" dirty="0"/>
          </a:p>
        </p:txBody>
      </p:sp>
      <p:sp>
        <p:nvSpPr>
          <p:cNvPr id="35" name="Text 33"/>
          <p:cNvSpPr txBox="1"/>
          <p:nvPr/>
        </p:nvSpPr>
        <p:spPr>
          <a:xfrm>
            <a:off x="9212580" y="438912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$212.50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7132320" y="4800600"/>
            <a:ext cx="41605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132320" y="4892040"/>
            <a:ext cx="198882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</a:t>
            </a:r>
            <a:endParaRPr lang="en-US" sz="1200" dirty="0"/>
          </a:p>
        </p:txBody>
      </p:sp>
      <p:sp>
        <p:nvSpPr>
          <p:cNvPr id="38" name="Text 36"/>
          <p:cNvSpPr txBox="1"/>
          <p:nvPr/>
        </p:nvSpPr>
        <p:spPr>
          <a:xfrm>
            <a:off x="9212580" y="4892040"/>
            <a:ext cx="2080260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Base mainnet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6858000" y="5349240"/>
            <a:ext cx="4709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Own · License · Settle. An on-chain verification workflow, end to end.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— AGENT COMMERCE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4965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9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rail agents transact through for IP.</a:t>
            </a:r>
            <a:endParaRPr lang="en-US" sz="29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5760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Machine-readable proof of creation and on-chain royalty routing, so autonomous agents can discover, license and pay for creative work. One install, and an agent pays for owned work over x402.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5760720" cy="2688336"/>
          </a:xfrm>
          <a:prstGeom prst="roundRect">
            <a:avLst>
              <a:gd name="adj" fmla="val 4082"/>
            </a:avLst>
          </a:prstGeom>
          <a:solidFill>
            <a:srgbClr val="0A0B12"/>
          </a:solidFill>
          <a:ln w="9525">
            <a:solidFill>
              <a:srgbClr val="26283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914400" y="3273552"/>
            <a:ext cx="5212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CONSOLE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914400" y="3611880"/>
            <a:ext cx="52120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914400" y="3703320"/>
            <a:ext cx="3452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 pip install suede-ai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4458614" y="3703320"/>
            <a:ext cx="1667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SDK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914400" y="4123944"/>
            <a:ext cx="52120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215384"/>
            <a:ext cx="3452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find --type music --query "cinematic hook"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4458614" y="4215384"/>
            <a:ext cx="1667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results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914400" y="4636008"/>
            <a:ext cx="52120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14400" y="4727448"/>
            <a:ext cx="3452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license sd_d81e --use commercial --term 3y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458614" y="4727448"/>
            <a:ext cx="1667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license created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914400" y="5148072"/>
            <a:ext cx="52120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5239512"/>
            <a:ext cx="345277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pay --license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4458614" y="5239512"/>
            <a:ext cx="166786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settled · USDC</a:t>
            </a:r>
            <a:endParaRPr lang="en-US" sz="850" dirty="0"/>
          </a:p>
        </p:txBody>
      </p:sp>
      <p:sp>
        <p:nvSpPr>
          <p:cNvPr id="21" name="Text 19"/>
          <p:cNvSpPr txBox="1"/>
          <p:nvPr/>
        </p:nvSpPr>
        <p:spPr>
          <a:xfrm>
            <a:off x="685800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$0.50</a:t>
            </a:r>
            <a:endParaRPr lang="en-US" sz="3400" dirty="0"/>
          </a:p>
        </p:txBody>
      </p:sp>
      <p:sp>
        <p:nvSpPr>
          <p:cNvPr id="22" name="Text 20"/>
          <p:cNvSpPr txBox="1"/>
          <p:nvPr/>
        </p:nvSpPr>
        <p:spPr>
          <a:xfrm>
            <a:off x="6858000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music-gen · per call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549640" y="182880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$4.99</a:t>
            </a:r>
            <a:endParaRPr lang="en-US" sz="3400" dirty="0"/>
          </a:p>
        </p:txBody>
      </p:sp>
      <p:sp>
        <p:nvSpPr>
          <p:cNvPr id="24" name="Text 22"/>
          <p:cNvSpPr txBox="1"/>
          <p:nvPr/>
        </p:nvSpPr>
        <p:spPr>
          <a:xfrm>
            <a:off x="8549640" y="2542032"/>
            <a:ext cx="155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video-gen · per call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024128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$0.15</a:t>
            </a:r>
            <a:endParaRPr lang="en-US" sz="3400" dirty="0"/>
          </a:p>
        </p:txBody>
      </p:sp>
      <p:sp>
        <p:nvSpPr>
          <p:cNvPr id="26" name="Text 24"/>
          <p:cNvSpPr txBox="1"/>
          <p:nvPr/>
        </p:nvSpPr>
        <p:spPr>
          <a:xfrm>
            <a:off x="10241280" y="2542032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image-gen · per call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858000" y="3246120"/>
            <a:ext cx="4709160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858000" y="3429000"/>
            <a:ext cx="4709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 work with verifiable provenance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Negotiate terms and licenses programmatically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 transactions and settle payments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assets and track usage</a:t>
            </a:r>
            <a:endParaRPr lang="en-US" sz="1250" dirty="0"/>
          </a:p>
          <a:p>
            <a:pPr marL="177800" indent="-177800">
              <a:lnSpc>
                <a:spcPct val="115000"/>
              </a:lnSpc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Distribute value to contributors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6858000" y="5760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22D3E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app.suedeai.ai/.well-known/x402.json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— ECOSYSTEM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7315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we've shipped.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5577840" cy="3712464"/>
          </a:xfrm>
          <a:prstGeom prst="roundRect">
            <a:avLst>
              <a:gd name="adj" fmla="val 2956"/>
            </a:avLst>
          </a:prstGeom>
          <a:solidFill>
            <a:srgbClr val="0A0B12"/>
          </a:solidFill>
          <a:ln w="9525">
            <a:solidFill>
              <a:srgbClr val="26283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1947672"/>
            <a:ext cx="5029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SUEDE MAP · PLATFORM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914400" y="2286000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14400" y="237744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suedeai.ai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3026664" y="237744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creator ownership home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914400" y="2724912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14400" y="281635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app.suedeai.ai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026664" y="281635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platform · USDC payments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4400" y="3163824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255264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ip.suedeai.ai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3026664" y="3255264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 registry · Base + Avalanche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914400" y="3602736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914400" y="3694176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agents.suedeai.ai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3026664" y="3694176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agent studio · x402 publishing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914400" y="4041648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14400" y="4133088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distro.suedeai.ai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3026664" y="4133088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distribution · 100+ DSPs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914400" y="4480560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14400" y="4572000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seo.suedeai.ai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026664" y="4572000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 and AI operations practice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914400" y="4919472"/>
            <a:ext cx="502920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14400" y="5010912"/>
            <a:ext cx="202082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hub.suedeai.ai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3026664" y="5010912"/>
            <a:ext cx="29169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ecosystem directory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6492240" y="1783080"/>
            <a:ext cx="5074920" cy="3712464"/>
          </a:xfrm>
          <a:prstGeom prst="roundRect">
            <a:avLst>
              <a:gd name="adj" fmla="val 2956"/>
            </a:avLst>
          </a:prstGeom>
          <a:solidFill>
            <a:srgbClr val="0A0B12"/>
          </a:solidFill>
          <a:ln w="9525">
            <a:solidFill>
              <a:srgbClr val="26283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766560" y="1947672"/>
            <a:ext cx="4526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APPS AND PROTOCOL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6766560" y="2286000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766560" y="237744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Music &amp; Video Generator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482328" y="237744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766560" y="2724912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6766560" y="2816352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Guitar Tuner &amp; Studio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9482328" y="281635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6766560" y="3163824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6766560" y="3255264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Voice: Vocal Range Test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9482328" y="3255264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6766560" y="3602736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6766560" y="3694176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Studio Muse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9482328" y="3694176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766560" y="4041648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6766560" y="4133088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Agent Studio · Agentix</a:t>
            </a:r>
            <a:endParaRPr lang="en-US" sz="1100" dirty="0"/>
          </a:p>
        </p:txBody>
      </p:sp>
      <p:sp>
        <p:nvSpPr>
          <p:cNvPr id="45" name="Text 43"/>
          <p:cNvSpPr txBox="1"/>
          <p:nvPr/>
        </p:nvSpPr>
        <p:spPr>
          <a:xfrm>
            <a:off x="9482328" y="4133088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66560" y="4480560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766560" y="4572000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Social · FretPulse</a:t>
            </a:r>
            <a:endParaRPr lang="en-US" sz="1100" dirty="0"/>
          </a:p>
        </p:txBody>
      </p:sp>
      <p:sp>
        <p:nvSpPr>
          <p:cNvPr id="48" name="Text 46"/>
          <p:cNvSpPr txBox="1"/>
          <p:nvPr/>
        </p:nvSpPr>
        <p:spPr>
          <a:xfrm>
            <a:off x="9482328" y="4572000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 Store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6766560" y="4919472"/>
            <a:ext cx="452628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6766560" y="5010912"/>
            <a:ext cx="26243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token · 1B supply</a:t>
            </a:r>
            <a:endParaRPr lang="en-US" sz="1100" dirty="0"/>
          </a:p>
        </p:txBody>
      </p:sp>
      <p:sp>
        <p:nvSpPr>
          <p:cNvPr id="51" name="Text 49"/>
          <p:cNvSpPr txBox="1"/>
          <p:nvPr/>
        </p:nvSpPr>
        <p:spPr>
          <a:xfrm>
            <a:off x="9482328" y="5010912"/>
            <a:ext cx="18105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Solana + Base</a:t>
            </a:r>
            <a:endParaRPr lang="en-US" sz="850" dirty="0"/>
          </a:p>
        </p:txBody>
      </p:sp>
      <p:sp>
        <p:nvSpPr>
          <p:cNvPr id="52" name="Text 50"/>
          <p:cNvSpPr txBox="1"/>
          <p:nvPr/>
        </p:nvSpPr>
        <p:spPr>
          <a:xfrm>
            <a:off x="640080" y="553212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i="1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community and publishing: suede.social and The Suede 100, Suede DNA with 409 rigs from 390 artists, Suede Cosmos, guitarchords.info, The Signal Chain, and 71 public creator skills.</a:t>
            </a:r>
            <a:endParaRPr lang="en-US" sz="11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— TRACTION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7315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Real, on-chain, shipped.</a:t>
            </a:r>
            <a:endParaRPr lang="en-US" sz="30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</a:t>
            </a:r>
            <a:endParaRPr lang="en-US" sz="56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770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x402 paid endpoints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3832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56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2770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contracts on Base mainnet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1264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23</a:t>
            </a:r>
            <a:endParaRPr lang="en-US" sz="5600" dirty="0"/>
          </a:p>
        </p:txBody>
      </p:sp>
      <p:sp>
        <p:nvSpPr>
          <p:cNvPr id="11" name="Text 9"/>
          <p:cNvSpPr txBox="1"/>
          <p:nvPr/>
        </p:nvSpPr>
        <p:spPr>
          <a:xfrm>
            <a:off x="6126480" y="2770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on-chain agent identities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8869680" y="18288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5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5600" dirty="0"/>
          </a:p>
        </p:txBody>
      </p:sp>
      <p:sp>
        <p:nvSpPr>
          <p:cNvPr id="13" name="Text 11"/>
          <p:cNvSpPr txBox="1"/>
          <p:nvPr/>
        </p:nvSpPr>
        <p:spPr>
          <a:xfrm>
            <a:off x="8869680" y="2770632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iOS apps shipped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0080" y="3703320"/>
            <a:ext cx="1091153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886200"/>
            <a:ext cx="1078992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ERC-8004 identity, reputation and validation live on Base mainnet; agents pay per call in USDC.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Producer by Suede Labs: a hireable Virtuals ACP agent for music, video and ACP/x402 consulting.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#1 Overall Music Platform by AI Agents Directory; rated 5.0 from 9 reviews.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Suede Agent Studio and the Suede music/video x402 API listed in the community-curated awesome-x402 repository.</a:t>
            </a:r>
            <a:endParaRPr lang="en-US" sz="1300" dirty="0"/>
          </a:p>
          <a:p>
            <a:pPr marL="177800" indent="-177800">
              <a:lnSpc>
                <a:spcPct val="115000"/>
              </a:lnSpc>
              <a:spcAft>
                <a:spcPts val="700"/>
              </a:spcAft>
              <a:buSzPct val="100000"/>
              <a:buChar char="•"/>
            </a:pPr>
            <a:r>
              <a:rPr lang="en-US" sz="13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contract and transaction is public and verifiable on Base mainnet. Proof without trust.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— MARKET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6012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 a trillion-dollar economy.</a:t>
            </a:r>
            <a:endParaRPr lang="en-US" sz="3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40080" y="1828800"/>
          <a:ext cx="512064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6309360" y="182880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$1.35T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6309360" y="254203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· creator economy by 2033, from $205B in 2024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9098280" y="182880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~$19B</a:t>
            </a:r>
            <a:endParaRPr lang="en-US" sz="3400" dirty="0"/>
          </a:p>
        </p:txBody>
      </p:sp>
      <p:sp>
        <p:nvSpPr>
          <p:cNvPr id="10" name="Text 7"/>
          <p:cNvSpPr txBox="1"/>
          <p:nvPr/>
        </p:nvSpPr>
        <p:spPr>
          <a:xfrm>
            <a:off x="9098280" y="254203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· IP-management and DRM software plus $13.6B/yr in royalty collections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09360" y="356616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$385B</a:t>
            </a:r>
            <a:endParaRPr lang="en-US" sz="3400" dirty="0"/>
          </a:p>
        </p:txBody>
      </p:sp>
      <p:sp>
        <p:nvSpPr>
          <p:cNvPr id="12" name="Text 9"/>
          <p:cNvSpPr txBox="1"/>
          <p:nvPr/>
        </p:nvSpPr>
        <p:spPr>
          <a:xfrm>
            <a:off x="6309360" y="4279392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 · agent-driven commerce GMV by 2030</a:t>
            </a:r>
            <a:endParaRPr lang="en-US" sz="1100" dirty="0"/>
          </a:p>
        </p:txBody>
      </p:sp>
      <p:sp>
        <p:nvSpPr>
          <p:cNvPr id="13" name="Text 10"/>
          <p:cNvSpPr txBox="1"/>
          <p:nvPr/>
        </p:nvSpPr>
        <p:spPr>
          <a:xfrm>
            <a:off x="9098280" y="3566160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34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$80B</a:t>
            </a:r>
            <a:endParaRPr lang="en-US" sz="3400" dirty="0"/>
          </a:p>
        </p:txBody>
      </p:sp>
      <p:sp>
        <p:nvSpPr>
          <p:cNvPr id="14" name="Text 11"/>
          <p:cNvSpPr txBox="1"/>
          <p:nvPr/>
        </p:nvSpPr>
        <p:spPr>
          <a:xfrm>
            <a:off x="9098280" y="4279392"/>
            <a:ext cx="2514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GenAI content creation by 2030</a:t>
            </a:r>
            <a:endParaRPr lang="en-US" sz="1100" dirty="0"/>
          </a:p>
        </p:txBody>
      </p:sp>
      <p:sp>
        <p:nvSpPr>
          <p:cNvPr id="15" name="Text 12"/>
          <p:cNvSpPr txBox="1"/>
          <p:nvPr/>
        </p:nvSpPr>
        <p:spPr>
          <a:xfrm>
            <a:off x="6309360" y="5212080"/>
            <a:ext cx="5303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000" i="1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Grand View Research, Fortune Business Insights, Market.us, CISAC via MBW, Goldman Sachs, Morgan Stanley (2024–2025). Full citations in the investor brief.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85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548640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— BUILT ON, INTEGRATED, PARTNERED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868680"/>
            <a:ext cx="9144000" cy="5105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Standing on serious rails.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640080" y="1874520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3409112" y="1874520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09112" y="1874520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178144" y="1874520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178144" y="1874520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Cloud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8947175" y="1874520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947175" y="1874520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Chainlink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2816352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816352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LayerZero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409112" y="2816352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409112" y="2816352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Virtuals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178144" y="2816352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178144" y="2816352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ChainGPT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8947175" y="2816352"/>
            <a:ext cx="2604440" cy="777240"/>
          </a:xfrm>
          <a:prstGeom prst="roundRect">
            <a:avLst>
              <a:gd name="adj" fmla="val 9412"/>
            </a:avLst>
          </a:prstGeom>
          <a:solidFill>
            <a:srgbClr val="151722"/>
          </a:solidFill>
          <a:ln w="9525">
            <a:solidFill>
              <a:srgbClr val="2E31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947175" y="2816352"/>
            <a:ext cx="260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F5F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AgentCash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40080" y="4023360"/>
            <a:ext cx="1091153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420624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Settlement on Base. Payments via Stripe and x402. Oracles via Chainlink. Cross-chain via LayerZero. Agent commerce via Virtuals. Agent payments via AgentCash. Google Cloud Partner; ecosystem partner ChainGPT.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40080" y="5303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USPTO provisional patent application 63/947,120 · proof of creation and cryptographic media registration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0"/>
            <a:ext cx="8686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SUEDEAI.AI · APP.SUEDEAI.AI · CREATOR OWNERSHIP INFRASTRUCTURE</a:t>
            </a:r>
            <a:endParaRPr lang="en-US" sz="850" dirty="0"/>
          </a:p>
        </p:txBody>
      </p:sp>
      <p:sp>
        <p:nvSpPr>
          <p:cNvPr id="3" name="Text 1"/>
          <p:cNvSpPr txBox="1"/>
          <p:nvPr/>
        </p:nvSpPr>
        <p:spPr>
          <a:xfrm>
            <a:off x="10637215" y="640080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850" dirty="0"/>
          </a:p>
        </p:txBody>
      </p:sp>
      <p:pic>
        <p:nvPicPr>
          <p:cNvPr id="4" name="Image 0" descr="/tmp/claude-0/-home-user--github/fb5f43e6-83cf-528a-bc77-62840775cbad/scratchpad/decks/assets/founder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" y="1280160"/>
            <a:ext cx="3291840" cy="42062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389120" y="128016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— FOUNDER</a:t>
            </a:r>
            <a:endParaRPr lang="en-US" sz="950" dirty="0"/>
          </a:p>
        </p:txBody>
      </p:sp>
      <p:sp>
        <p:nvSpPr>
          <p:cNvPr id="6" name="Text 3"/>
          <p:cNvSpPr txBox="1"/>
          <p:nvPr/>
        </p:nvSpPr>
        <p:spPr>
          <a:xfrm>
            <a:off x="4389120" y="16002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Jason Colapietro</a:t>
            </a:r>
            <a:endParaRPr lang="en-US" sz="3600" dirty="0"/>
          </a:p>
        </p:txBody>
      </p:sp>
      <p:sp>
        <p:nvSpPr>
          <p:cNvPr id="7" name="Text 4"/>
          <p:cNvSpPr txBox="1"/>
          <p:nvPr/>
        </p:nvSpPr>
        <p:spPr>
          <a:xfrm>
            <a:off x="4389120" y="2377440"/>
            <a:ext cx="71323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&amp; CEO, Suede Labs AI. “Johnny Suede.” Two decades chasing guitar tone, then the ownership layer that thinking led to: creation proof, rights metadata, on-chain registration, royalty routing. Author of five books, including Stake Your Claim and Proof as Infrastructure. Solo operator behind the shipped Suede ecosystem.</a:t>
            </a:r>
            <a:endParaRPr lang="en-US" sz="1350" dirty="0"/>
          </a:p>
        </p:txBody>
      </p:sp>
      <p:sp>
        <p:nvSpPr>
          <p:cNvPr id="8" name="Text 5"/>
          <p:cNvSpPr txBox="1"/>
          <p:nvPr/>
        </p:nvSpPr>
        <p:spPr>
          <a:xfrm>
            <a:off x="4389120" y="4160520"/>
            <a:ext cx="7132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5D6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“The signal chain doesn't end at the speaker. It ends when the royalty clears.”</a:t>
            </a:r>
            <a:endParaRPr lang="en-US" sz="2200" dirty="0"/>
          </a:p>
        </p:txBody>
      </p:sp>
      <p:sp>
        <p:nvSpPr>
          <p:cNvPr id="9" name="Text 6"/>
          <p:cNvSpPr txBox="1"/>
          <p:nvPr/>
        </p:nvSpPr>
        <p:spPr>
          <a:xfrm>
            <a:off x="4389120" y="52578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suedeai.ai/founder · x.com/johnnysuede · guitar.solutions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user--github/fb5f43e6-83cf-528a-bc77-62840775cbad/scratchpad/decks/assets/logo-ligh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548640"/>
            <a:ext cx="502920" cy="502920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640080" y="1920240"/>
            <a:ext cx="6035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spc="25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OWN · LICENSE · SETTLE</a:t>
            </a:r>
            <a:endParaRPr lang="en-US" sz="950" dirty="0"/>
          </a:p>
        </p:txBody>
      </p:sp>
      <p:sp>
        <p:nvSpPr>
          <p:cNvPr id="4" name="Text 1"/>
          <p:cNvSpPr txBox="1"/>
          <p:nvPr/>
        </p:nvSpPr>
        <p:spPr>
          <a:xfrm>
            <a:off x="640080" y="2286000"/>
            <a:ext cx="60350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3600" dirty="0">
                <a:solidFill>
                  <a:srgbClr val="F4F5F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ownership layer for the AI media era.</a:t>
            </a:r>
            <a:endParaRPr lang="en-US" sz="36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3675888"/>
            <a:ext cx="60350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BFC2C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Create, prove, launch and earn on one spine. Talk to Suede about the platform, the registry, or the agent rails.</a:t>
            </a:r>
            <a:endParaRPr lang="en-US" sz="1500" dirty="0"/>
          </a:p>
        </p:txBody>
      </p:sp>
      <p:sp>
        <p:nvSpPr>
          <p:cNvPr id="6" name="Shape 3"/>
          <p:cNvSpPr/>
          <p:nvPr/>
        </p:nvSpPr>
        <p:spPr>
          <a:xfrm>
            <a:off x="7071055" y="2011680"/>
            <a:ext cx="4480560" cy="2761488"/>
          </a:xfrm>
          <a:prstGeom prst="roundRect">
            <a:avLst>
              <a:gd name="adj" fmla="val 3974"/>
            </a:avLst>
          </a:prstGeom>
          <a:solidFill>
            <a:srgbClr val="0A0B12"/>
          </a:solidFill>
          <a:ln w="9525">
            <a:solidFill>
              <a:srgbClr val="262838"/>
            </a:solidFill>
            <a:prstDash val="solid"/>
          </a:ln>
          <a:effectLst>
            <a:outerShdw sx="100000" sy="100000" kx="0" ky="0" algn="bl" rotWithShape="0" blurRad="152400" dist="38100" dir="5400000">
              <a:srgbClr val="000000">
                <a:alpha val="35000"/>
              </a:srgbClr>
            </a:outerShdw>
          </a:effectLst>
        </p:spPr>
      </p:sp>
      <p:sp>
        <p:nvSpPr>
          <p:cNvPr id="7" name="Text 4"/>
          <p:cNvSpPr txBox="1"/>
          <p:nvPr/>
        </p:nvSpPr>
        <p:spPr>
          <a:xfrm>
            <a:off x="7345375" y="2176272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spc="250" kern="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DIRECT LINE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7345375" y="2514600"/>
            <a:ext cx="39319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45375" y="2606040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760866" y="2606040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app.suedeai.ai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7345375" y="3044952"/>
            <a:ext cx="39319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345375" y="3136392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Registry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8760866" y="3136392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ip.suedeai.ai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7345375" y="3575304"/>
            <a:ext cx="39319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345375" y="3666744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Investors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8760866" y="3666744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suedeai.org/investors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7345375" y="4105656"/>
            <a:ext cx="3931920" cy="0"/>
          </a:xfrm>
          <a:prstGeom prst="line">
            <a:avLst/>
          </a:prstGeom>
          <a:noFill/>
          <a:ln w="9525">
            <a:solidFill>
              <a:srgbClr val="262838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7345375" y="4197096"/>
            <a:ext cx="1324051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</a:t>
            </a:r>
            <a:endParaRPr lang="en-US" sz="1200" dirty="0"/>
          </a:p>
        </p:txBody>
      </p:sp>
      <p:sp>
        <p:nvSpPr>
          <p:cNvPr id="19" name="Text 16"/>
          <p:cNvSpPr txBox="1"/>
          <p:nvPr/>
        </p:nvSpPr>
        <p:spPr>
          <a:xfrm>
            <a:off x="8760866" y="4197096"/>
            <a:ext cx="2516429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5D69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info@suedeai.ai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640080" y="5989320"/>
            <a:ext cx="10911535" cy="0"/>
          </a:xfrm>
          <a:prstGeom prst="line">
            <a:avLst/>
          </a:prstGeom>
          <a:noFill/>
          <a:ln w="9525">
            <a:solidFill>
              <a:srgbClr val="2E3140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40080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000" spc="200" kern="0" dirty="0">
                <a:solidFill>
                  <a:srgbClr val="FF5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SUEDEAI.AI · APP.SUEDEAI.AI</a:t>
            </a:r>
            <a:endParaRPr lang="en-US" sz="1000" dirty="0"/>
          </a:p>
        </p:txBody>
      </p:sp>
      <p:sp>
        <p:nvSpPr>
          <p:cNvPr id="22" name="Text 19"/>
          <p:cNvSpPr txBox="1"/>
          <p:nvPr/>
        </p:nvSpPr>
        <p:spPr>
          <a:xfrm>
            <a:off x="6065215" y="61264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ct val="125000"/>
              </a:lnSpc>
              <a:buNone/>
            </a:pPr>
            <a:r>
              <a:rPr lang="en-US" sz="950" spc="100" kern="0" dirty="0">
                <a:solidFill>
                  <a:srgbClr val="BFC2C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Suede Labs AI · Jason Colapietro, Founder &amp; CEO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Suede Labs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Suede Labs AI — Creator ownership infrastructure for the AI media era</dc:title>
  <dc:subject>PptxGenJS Presentation</dc:subject>
  <dc:creator>Suede Labs AI</dc:creator>
  <cp:lastModifiedBy>Suede Labs AI</cp:lastModifiedBy>
  <cp:revision>1</cp:revision>
  <dcterms:created xsi:type="dcterms:W3CDTF">2026-09-09T01:41:12Z</dcterms:created>
  <dcterms:modified xsi:type="dcterms:W3CDTF">2026-09-09T01:41:12Z</dcterms:modified>
</cp:coreProperties>
</file>